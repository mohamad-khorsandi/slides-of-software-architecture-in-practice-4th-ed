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9" r:id="rId2"/>
    <p:sldId id="264" r:id="rId3"/>
    <p:sldId id="298" r:id="rId4"/>
    <p:sldId id="299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77" autoAdjust="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نقل قو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0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12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0" r:id="rId3"/>
    <p:sldLayoutId id="2147483651" r:id="rId4"/>
    <p:sldLayoutId id="2147483652" r:id="rId5"/>
    <p:sldLayoutId id="2147483653" r:id="rId6"/>
    <p:sldLayoutId id="2147483655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18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158C2-CA8F-14CF-F729-4A781D0E8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49CD9-8BE3-430C-5FA1-9E499D506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telephone will be used to inform people that a telegram has been sent.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24E7A-D6D9-EFC6-379A-A54B721578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—Alexander Graham Bell</a:t>
            </a:r>
          </a:p>
        </p:txBody>
      </p:sp>
    </p:spTree>
    <p:extLst>
      <p:ext uri="{BB962C8B-B14F-4D97-AF65-F5344CB8AC3E}">
        <p14:creationId xmlns:p14="http://schemas.microsoft.com/office/powerpoint/2010/main" val="303218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E3EFC-A5CC-32E8-6993-537E85A49E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896C3A-BA0F-762B-46B6-3E062561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47EFB-A6BB-D7A0-D70C-000DFAE4C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98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ACA5CC-49A7-CD72-0527-1904007C71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mobile system has the ability to be in movement. This makes dealing with some of its characteristics a different matter from dealing with fixed systems. In this chapter we focus on five of those characteristics: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Energy:</a:t>
            </a:r>
            <a:r>
              <a:rPr lang="en-US" dirty="0"/>
              <a:t> Mobile systems must be concerned with using power efficiently.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Network connectivity:</a:t>
            </a:r>
            <a:r>
              <a:rPr lang="en-US" dirty="0"/>
              <a:t> Mobile systems must connect to other devices. but their mobility makes these connections tricky.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Sensors and actuators:</a:t>
            </a:r>
            <a:r>
              <a:rPr lang="en-US" dirty="0"/>
              <a:t> Mobile systems tend to gain more information from sensors than fixed systems do, and they often use actuators to interact with their environment.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Resources:</a:t>
            </a:r>
            <a:r>
              <a:rPr lang="en-US" dirty="0"/>
              <a:t> Mobile systems tend to be more resource-constrained than fixed systems. Because they must be small and lightweight therefore limited on the resources they can provide.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Life cycle:</a:t>
            </a:r>
            <a:r>
              <a:rPr lang="en-US" dirty="0"/>
              <a:t> Testing mobile systems differs from the testing of other systems. Deploying new versions also introduces some special issues.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C32D4-64FC-5458-ADFE-2A37F923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2D081-7F0B-2568-EB83-688CB1ADF6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2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C10618-A86C-A84B-62CF-7722CB3F8F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this section, we focus on the architectural concerns most relevant to managing the energy of mobile systems.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Monitoring the Power Source</a:t>
            </a:r>
          </a:p>
          <a:p>
            <a:pPr lvl="1"/>
            <a:r>
              <a:rPr lang="en-US" dirty="0"/>
              <a:t>We have introduced a category of tactics called </a:t>
            </a:r>
            <a:r>
              <a:rPr lang="en-US" dirty="0">
                <a:solidFill>
                  <a:schemeClr val="accent1"/>
                </a:solidFill>
              </a:rPr>
              <a:t>resource monitoring </a:t>
            </a:r>
            <a:r>
              <a:rPr lang="en-US" dirty="0"/>
              <a:t>for monitoring the usage of computational resources.</a:t>
            </a:r>
          </a:p>
          <a:p>
            <a:pPr lvl="1"/>
            <a:r>
              <a:rPr lang="en-US" dirty="0"/>
              <a:t>In mobile systems, we need to monitor the energy source, so that we can initiate appropriate behavior when the energy available becomes low.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smart battery </a:t>
            </a:r>
            <a:r>
              <a:rPr lang="en-US" dirty="0"/>
              <a:t>is a rechargeable battery pack with a built-in battery management system (</a:t>
            </a:r>
            <a:r>
              <a:rPr lang="en-US" dirty="0">
                <a:solidFill>
                  <a:schemeClr val="accent1"/>
                </a:solidFill>
              </a:rPr>
              <a:t>BMS</a:t>
            </a:r>
            <a:r>
              <a:rPr lang="en-US" dirty="0"/>
              <a:t>). The BMS can be queried to get the current state of the battery.</a:t>
            </a:r>
          </a:p>
          <a:p>
            <a:pPr lvl="1"/>
            <a:r>
              <a:rPr lang="en-US" dirty="0"/>
              <a:t>Battery-powered mobile systems include a component, often in the kernel of the operating system, that knows how to interact with the BMS and can return the current battery capacity on request.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FFE404-ED5E-D92E-4867-97758F5D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18.1 Energy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6BA21-A1C4-E3E8-3C76-5F5567A86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0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10A634-A829-E29A-F9E2-0BC8381881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Throttling Energy Usage</a:t>
            </a:r>
          </a:p>
          <a:p>
            <a:pPr lvl="1"/>
            <a:r>
              <a:rPr lang="en-US" dirty="0"/>
              <a:t>Energy usage can be reduced by either terminating or degrading portions of the system that consume energy; this is the throttle usage tactic described in chapter 6.</a:t>
            </a:r>
          </a:p>
          <a:p>
            <a:pPr lvl="1"/>
            <a:r>
              <a:rPr lang="en-US" dirty="0"/>
              <a:t>A common example is reducing the brightness or the refresh rate of the display on a smartphone.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Tolerating a Loss of Power</a:t>
            </a:r>
          </a:p>
          <a:p>
            <a:pPr lvl="1"/>
            <a:r>
              <a:rPr lang="en-US" dirty="0"/>
              <a:t>Mobile systems should gracefully tolerate power failures and restarts.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/>
              <a:t>Example requirements for these systems:</a:t>
            </a:r>
          </a:p>
          <a:p>
            <a:pPr lvl="2"/>
            <a:r>
              <a:rPr lang="en-US" dirty="0"/>
              <a:t>The system’s computer does not suffer permanent damage if power is cut at any time.</a:t>
            </a:r>
          </a:p>
          <a:p>
            <a:pPr lvl="2"/>
            <a:r>
              <a:rPr lang="en-US" dirty="0"/>
              <a:t>The system’s computer (re)starts the OS robustly whenever sufficient power is provided.</a:t>
            </a:r>
          </a:p>
          <a:p>
            <a:pPr lvl="2"/>
            <a:r>
              <a:rPr lang="en-US" dirty="0"/>
              <a:t>The runtime environment can be killed at any moment without affecting the integrity of the binaries, configurations, and operational data in permanent storage.</a:t>
            </a:r>
          </a:p>
          <a:p>
            <a:pPr lvl="2"/>
            <a:r>
              <a:rPr lang="en-US" dirty="0"/>
              <a:t>Applications need a strategy to deal with data that arrives while the application is inoperative.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040578-D203-08EC-D8D4-02F92FCA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18.1 Energy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9E887-B411-19B4-04D5-AC16A1D91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41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7B719D-34AF-259E-4B45-851CB29D25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Wireless networks are categorized based on the distance over which they operate.</a:t>
            </a:r>
          </a:p>
          <a:p>
            <a:pPr lvl="1"/>
            <a:r>
              <a:rPr lang="en-US" b="1" i="1" dirty="0">
                <a:solidFill>
                  <a:schemeClr val="tx1"/>
                </a:solidFill>
              </a:rPr>
              <a:t>Within 4 centimeters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Near Field Communication 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NFC</a:t>
            </a:r>
            <a:r>
              <a:rPr lang="en-US" dirty="0"/>
              <a:t>).</a:t>
            </a:r>
          </a:p>
          <a:p>
            <a:pPr lvl="1"/>
            <a:r>
              <a:rPr lang="en-US" b="1" i="1" dirty="0"/>
              <a:t>Within 10 meters</a:t>
            </a:r>
            <a:r>
              <a:rPr lang="en-US" i="1" dirty="0"/>
              <a:t>:</a:t>
            </a:r>
            <a:r>
              <a:rPr lang="en-US" dirty="0"/>
              <a:t> The IEEE 802.15 family of standards covers this distance (Such as </a:t>
            </a:r>
            <a:r>
              <a:rPr lang="en-US" dirty="0">
                <a:solidFill>
                  <a:schemeClr val="accent1"/>
                </a:solidFill>
              </a:rPr>
              <a:t>Bluetooth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dirty="0"/>
          </a:p>
          <a:p>
            <a:pPr lvl="1"/>
            <a:r>
              <a:rPr lang="en-US" b="1" i="1" dirty="0"/>
              <a:t>Within 100 meters</a:t>
            </a:r>
            <a:r>
              <a:rPr lang="en-US" i="1" dirty="0"/>
              <a:t>:</a:t>
            </a:r>
            <a:r>
              <a:rPr lang="en-US" dirty="0"/>
              <a:t> The IEEE 802.11 family of standards (</a:t>
            </a:r>
            <a:r>
              <a:rPr lang="en-US" dirty="0">
                <a:solidFill>
                  <a:schemeClr val="accent1"/>
                </a:solidFill>
              </a:rPr>
              <a:t>Wi-Fi</a:t>
            </a:r>
            <a:r>
              <a:rPr lang="en-US" dirty="0"/>
              <a:t>) is used within this distance.</a:t>
            </a:r>
          </a:p>
          <a:p>
            <a:pPr lvl="1"/>
            <a:r>
              <a:rPr lang="en-US" b="1" i="1" dirty="0"/>
              <a:t>Within several kilometers</a:t>
            </a:r>
            <a:r>
              <a:rPr lang="en-US" b="1" dirty="0"/>
              <a:t>:</a:t>
            </a:r>
            <a:r>
              <a:rPr lang="en-US" dirty="0"/>
              <a:t> The IEEE 802.16 standards (</a:t>
            </a:r>
            <a:r>
              <a:rPr lang="en-US" dirty="0">
                <a:solidFill>
                  <a:schemeClr val="accent1"/>
                </a:solidFill>
              </a:rPr>
              <a:t>WiMAX</a:t>
            </a:r>
            <a:r>
              <a:rPr lang="en-US" dirty="0"/>
              <a:t>) cover this distance. </a:t>
            </a:r>
          </a:p>
          <a:p>
            <a:pPr lvl="1"/>
            <a:r>
              <a:rPr lang="en-US" b="1" i="1" dirty="0"/>
              <a:t>More than several kilometers:</a:t>
            </a:r>
            <a:r>
              <a:rPr lang="en-US" dirty="0"/>
              <a:t> This is achieved by </a:t>
            </a:r>
            <a:r>
              <a:rPr lang="en-US" dirty="0">
                <a:solidFill>
                  <a:schemeClr val="accent1"/>
                </a:solidFill>
              </a:rPr>
              <a:t>cellular</a:t>
            </a:r>
            <a:r>
              <a:rPr lang="en-US" dirty="0"/>
              <a:t> or </a:t>
            </a:r>
            <a:r>
              <a:rPr lang="en-US" dirty="0">
                <a:solidFill>
                  <a:schemeClr val="accent1"/>
                </a:solidFill>
              </a:rPr>
              <a:t>satellite</a:t>
            </a:r>
            <a:r>
              <a:rPr lang="en-US" dirty="0"/>
              <a:t> communication.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Number of communication interfaces to support</a:t>
            </a:r>
          </a:p>
          <a:p>
            <a:pPr lvl="1"/>
            <a:r>
              <a:rPr lang="en-US" dirty="0"/>
              <a:t>There are many ways a device can connect to networks (Wi-Fi, Bluetooth, 5G, etc.).</a:t>
            </a:r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Be selective—only use what’s really needed. Too many interfaces increase power usage, heat, and take up space.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A5F972-A66F-B928-F0EF-DB379107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18.2 Network Connectivity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9CBA9-E1E9-CA84-E428-3158D9128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523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2E43C-2F34-96BE-E55C-7DAD864FF4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Movement from One Protocol to Another</a:t>
            </a:r>
          </a:p>
          <a:p>
            <a:pPr lvl="1"/>
            <a:r>
              <a:rPr lang="en-US" dirty="0"/>
              <a:t>Sometimes, multiple network options are available at once.</a:t>
            </a:r>
            <a:endParaRPr lang="en-US" b="1" dirty="0"/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The system should pick the best option automatically based on factors like speed, cost or battery life.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Modifiability</a:t>
            </a:r>
          </a:p>
          <a:p>
            <a:pPr lvl="1"/>
            <a:r>
              <a:rPr lang="en-US" dirty="0"/>
              <a:t>New communication technologies will emerge over time.</a:t>
            </a:r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Make it easy to add or replace parts of the system later so it can support new or updated network protocols.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Bandwidth</a:t>
            </a:r>
          </a:p>
          <a:p>
            <a:pPr lvl="1"/>
            <a:r>
              <a:rPr lang="en-US" dirty="0"/>
              <a:t>Different types of data (e.g., video vs. text) need different speeds, volumes, and delays.</a:t>
            </a:r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Understand what kind of data will be sent and choose protocols that match the performance needs (e.g., low latency for video calls).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5B65FC-58AB-B33C-7B2A-48EF4658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18.2 Network Connectivity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4389D-6173-4736-5157-9FF6F5281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17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29733-1634-E44B-B3F7-16B9E97981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Intermittent/Limited/No Connectivity</a:t>
            </a:r>
          </a:p>
          <a:p>
            <a:pPr lvl="1"/>
            <a:r>
              <a:rPr lang="en-US" dirty="0"/>
              <a:t>Sometimes, a device will temporarily lose its network connection.</a:t>
            </a:r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Design the system so it can handle network loss gracefully—save data, retry later, or switch to offline mode without breaking or losing work.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Security</a:t>
            </a:r>
          </a:p>
          <a:p>
            <a:pPr lvl="1"/>
            <a:r>
              <a:rPr lang="en-US" dirty="0"/>
              <a:t>Mobile communications are easy targets for attacks like data theft or fake networks.</a:t>
            </a:r>
          </a:p>
          <a:p>
            <a:pPr lvl="1"/>
            <a:r>
              <a:rPr lang="en-US" b="1" dirty="0"/>
              <a:t>Architect’s job:</a:t>
            </a:r>
            <a:r>
              <a:rPr lang="en-US" dirty="0"/>
              <a:t> Protect communication with strong security measures (encryption, authentication, etc.) and be ready to respond to attacks.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F0A9AB-AD14-E619-00B8-FAF6DB19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18.2 Network Connectivity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EE25A-8C70-5FE8-6422-E5CCFAF52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7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8CE935-FB94-3FCE-FCA4-4760CC158A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sensor</a:t>
            </a:r>
            <a:r>
              <a:rPr lang="en-US" dirty="0"/>
              <a:t> is a device that detects the physical characteristics of its environment and translates those characteristics into an electronic </a:t>
            </a:r>
            <a:r>
              <a:rPr lang="en-US" dirty="0">
                <a:solidFill>
                  <a:schemeClr val="accent1"/>
                </a:solidFill>
              </a:rPr>
              <a:t>representation</a:t>
            </a:r>
            <a:r>
              <a:rPr lang="en-US" dirty="0"/>
              <a:t>.</a:t>
            </a:r>
          </a:p>
          <a:p>
            <a:r>
              <a:rPr lang="en-US" dirty="0"/>
              <a:t>An architect has several concerns with respect to sensors: </a:t>
            </a:r>
          </a:p>
          <a:p>
            <a:pPr lvl="1"/>
            <a:r>
              <a:rPr lang="en-US" dirty="0"/>
              <a:t>How to create an accurate representation of the environment based on the sensor inputs.</a:t>
            </a:r>
          </a:p>
          <a:p>
            <a:pPr lvl="1"/>
            <a:r>
              <a:rPr lang="en-US" dirty="0"/>
              <a:t>How the system should respond to that representation of the environment.</a:t>
            </a:r>
          </a:p>
          <a:p>
            <a:pPr lvl="1"/>
            <a:r>
              <a:rPr lang="en-US" dirty="0"/>
              <a:t>Security and privacy of the sensor data and actuator commands.</a:t>
            </a:r>
          </a:p>
          <a:p>
            <a:pPr lvl="1"/>
            <a:r>
              <a:rPr lang="en-US" dirty="0"/>
              <a:t>Degraded operation. If sensors fail or become unreadable, the system should enter a degraded mode. </a:t>
            </a:r>
          </a:p>
          <a:p>
            <a:pPr lvl="2"/>
            <a:r>
              <a:rPr lang="en-US" dirty="0"/>
              <a:t>For example, if GPS readings are not available in tunnels, the system can use dead reckoning techniques to estimate location.</a:t>
            </a:r>
          </a:p>
          <a:p>
            <a:r>
              <a:rPr lang="en-US" dirty="0"/>
              <a:t>Here we will focus on only the first concern.</a:t>
            </a:r>
          </a:p>
          <a:p>
            <a:pPr lvl="1"/>
            <a:r>
              <a:rPr lang="en-US" dirty="0"/>
              <a:t>This is performed using the</a:t>
            </a:r>
            <a:r>
              <a:rPr lang="en-US" dirty="0">
                <a:solidFill>
                  <a:schemeClr val="accent1"/>
                </a:solidFill>
              </a:rPr>
              <a:t> sensor stack</a:t>
            </a:r>
            <a:r>
              <a:rPr lang="en-US" dirty="0"/>
              <a:t>—a confederation of devices and software drivers that help turn raw data into interpreted information about the environment.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14DD60-EC70-8BFA-7447-75E2F4A2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18.3 Sensors and Actuators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48AD6-C9CE-E594-20EC-002B5776D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06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34000-35A5-37B3-A1C6-4CD9DF196D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of the functions that must be achieved in the stack: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Reading raw data</a:t>
            </a:r>
            <a:endParaRPr lang="en-US" dirty="0"/>
          </a:p>
          <a:p>
            <a:pPr lvl="2"/>
            <a:r>
              <a:rPr lang="en-US" dirty="0"/>
              <a:t>The lowest level of the stack is a software driver to read the raw data.</a:t>
            </a:r>
          </a:p>
          <a:p>
            <a:pPr lvl="2"/>
            <a:r>
              <a:rPr lang="en-US" dirty="0"/>
              <a:t>The period frequency is a parameter that will influence both the processor load and the accuracy of the created representation.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Smoothing data</a:t>
            </a:r>
          </a:p>
          <a:p>
            <a:pPr lvl="2"/>
            <a:r>
              <a:rPr lang="en-US" dirty="0"/>
              <a:t>Raw data usually has a great deal of noise or variation.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2"/>
            <a:r>
              <a:rPr lang="en-US" dirty="0"/>
              <a:t>Smoothing techniques take multiple readings over time to create a more reliable result.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Converting Data</a:t>
            </a:r>
          </a:p>
          <a:p>
            <a:pPr lvl="2"/>
            <a:r>
              <a:rPr lang="en-US" dirty="0"/>
              <a:t>Different sensors might measure the same thing but report it in different formats.</a:t>
            </a:r>
          </a:p>
          <a:p>
            <a:pPr lvl="2"/>
            <a:r>
              <a:rPr lang="en-US" dirty="0"/>
              <a:t>The system must standardize these readings.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Sensor Fusion</a:t>
            </a:r>
          </a:p>
          <a:p>
            <a:pPr lvl="2"/>
            <a:r>
              <a:rPr lang="en-US" dirty="0"/>
              <a:t>No single sensor gives the full picture. </a:t>
            </a:r>
          </a:p>
          <a:p>
            <a:pPr lvl="2"/>
            <a:r>
              <a:rPr lang="en-US" dirty="0"/>
              <a:t>Sensor fusion means combining data from multiple different sensors to get a better understanding.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11DF01-69C9-0AB5-E6C1-BAFC5D21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18.3 Sensors and Actuators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86158-9B89-7BD9-A038-87689619D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48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C2AEC-BA4A-01B0-D6BE-C11C969DA5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 architect must make a number of important decisions surrounding resources and their usage: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Assigning tasks to electronic control units </a:t>
            </a:r>
            <a:r>
              <a:rPr lang="en-US" dirty="0"/>
              <a:t>(ECUs)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/>
              <a:t>Larger mobile systems (like cars or planes) have multiple ECUs (small computers), and the architect must decide which software tasks go to which ECU.</a:t>
            </a:r>
          </a:p>
          <a:p>
            <a:pPr lvl="1"/>
            <a:r>
              <a:rPr lang="en-US" b="1" dirty="0"/>
              <a:t>Fit of the ECU to the function: </a:t>
            </a:r>
            <a:r>
              <a:rPr lang="en-US" dirty="0"/>
              <a:t>Put functions on ECUs powerful enough to handle them.</a:t>
            </a:r>
          </a:p>
          <a:p>
            <a:pPr lvl="1"/>
            <a:r>
              <a:rPr lang="en-US" b="1" dirty="0"/>
              <a:t>Criticality: </a:t>
            </a:r>
            <a:r>
              <a:rPr lang="en-US" dirty="0"/>
              <a:t>More powerful ECUs may be reserved for critical functions.</a:t>
            </a:r>
          </a:p>
          <a:p>
            <a:pPr lvl="1"/>
            <a:r>
              <a:rPr lang="en-US" b="1" dirty="0"/>
              <a:t>Location in the vehicle: </a:t>
            </a:r>
            <a:r>
              <a:rPr lang="en-US" dirty="0"/>
              <a:t>Sometimes, location matters—e.g., First-class passengers may have better Wi-Fi connectivity than second-class passengers.</a:t>
            </a:r>
          </a:p>
          <a:p>
            <a:pPr lvl="1"/>
            <a:r>
              <a:rPr lang="en-US" b="1" dirty="0"/>
              <a:t>Connectivity: </a:t>
            </a:r>
            <a:r>
              <a:rPr lang="en-US" dirty="0"/>
              <a:t>If a function is split across ECUs, they must be able to communicate easily over the internal network.</a:t>
            </a:r>
          </a:p>
          <a:p>
            <a:pPr lvl="1"/>
            <a:r>
              <a:rPr lang="en-US" b="1" dirty="0"/>
              <a:t>Locality of Communication: </a:t>
            </a:r>
            <a:r>
              <a:rPr lang="en-US" dirty="0"/>
              <a:t>Functions that talk to each other a lot should be on the same ECU to reduce communication delays and traffic.</a:t>
            </a:r>
          </a:p>
          <a:p>
            <a:pPr lvl="1"/>
            <a:r>
              <a:rPr lang="en-US" b="1" dirty="0"/>
              <a:t>Cost:</a:t>
            </a:r>
            <a:r>
              <a:rPr lang="en-US" dirty="0"/>
              <a:t> Typically, a manufacturer wants to minimize the number of ECUs deployed.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1556-B073-9361-6161-AF69F936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18.4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AFF80-04B8-FB36-4289-BD2F7670C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0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AFEEE1-BC1E-B2E5-247B-0CAADA1B3A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Offloading functionality to the cloud</a:t>
            </a:r>
          </a:p>
          <a:p>
            <a:pPr lvl="1"/>
            <a:r>
              <a:rPr lang="en-US" dirty="0"/>
              <a:t>Some tasks (like route calculation or image recognition) can be handled partly on the device and partly in the cloud, where there's more power and storage.</a:t>
            </a:r>
          </a:p>
          <a:p>
            <a:pPr lvl="1"/>
            <a:r>
              <a:rPr lang="en-US" dirty="0"/>
              <a:t>The architect must determine:</a:t>
            </a:r>
          </a:p>
          <a:p>
            <a:pPr lvl="2"/>
            <a:r>
              <a:rPr lang="en-US" dirty="0"/>
              <a:t>Decide what stays local and what goes to the cloud.</a:t>
            </a:r>
          </a:p>
          <a:p>
            <a:pPr lvl="2"/>
            <a:r>
              <a:rPr lang="en-US" dirty="0"/>
              <a:t>Consider device power, network reliability, latency, local storage, and privacy.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Shutting down functions depending on the mode of operations</a:t>
            </a:r>
          </a:p>
          <a:p>
            <a:pPr lvl="1"/>
            <a:r>
              <a:rPr lang="en-US" dirty="0"/>
              <a:t>When certain features aren’t needed; they should be turned off or scaled down to save resources.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Strategy for displaying information</a:t>
            </a:r>
          </a:p>
          <a:p>
            <a:pPr lvl="1"/>
            <a:r>
              <a:rPr lang="en-US" dirty="0"/>
              <a:t>This issue is tied to available display resolution. </a:t>
            </a:r>
          </a:p>
          <a:p>
            <a:pPr lvl="1"/>
            <a:r>
              <a:rPr lang="en-US" dirty="0"/>
              <a:t>Low resolution (e.g., 320×320): Requires minimizing</a:t>
            </a:r>
            <a:r>
              <a:rPr lang="en-US" b="1" dirty="0"/>
              <a:t> </a:t>
            </a:r>
            <a:r>
              <a:rPr lang="en-US" dirty="0"/>
              <a:t>the information on the display.</a:t>
            </a:r>
          </a:p>
          <a:p>
            <a:pPr lvl="1"/>
            <a:r>
              <a:rPr lang="en-US" dirty="0"/>
              <a:t>High resolution (e.g., 1280×720): Can show richer, more detailed displays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3EE9A7-7A27-6BF5-A031-2DDCC4C5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18.4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87DF-480C-3B03-DD9D-8552CF9DD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2690B3-611D-0F70-0F9B-E0FFB08CA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149" y="1028082"/>
            <a:ext cx="11058526" cy="5676247"/>
          </a:xfrm>
        </p:spPr>
        <p:txBody>
          <a:bodyPr/>
          <a:lstStyle/>
          <a:p>
            <a:r>
              <a:rPr lang="en-US" dirty="0"/>
              <a:t>Mobile systems (like smartphones, cars, drones, etc.) have special or unusual traits in their development and maintenance processes.</a:t>
            </a:r>
          </a:p>
          <a:p>
            <a:pPr lvl="1"/>
            <a:r>
              <a:rPr lang="en-US" dirty="0"/>
              <a:t>Architects must adapt their decisions accordingly.</a:t>
            </a:r>
            <a:endParaRPr lang="fa-IR" dirty="0"/>
          </a:p>
          <a:p>
            <a:r>
              <a:rPr lang="en-US" dirty="0"/>
              <a:t>The architect must be concerned with the </a:t>
            </a:r>
          </a:p>
          <a:p>
            <a:pPr lvl="1"/>
            <a:r>
              <a:rPr lang="en-US" dirty="0"/>
              <a:t>hardware choices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deploying updates</a:t>
            </a:r>
          </a:p>
          <a:p>
            <a:pPr lvl="1"/>
            <a:r>
              <a:rPr lang="en-US" dirty="0"/>
              <a:t>logging</a:t>
            </a:r>
          </a:p>
          <a:p>
            <a:pPr lvl="1" indent="0"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541944-9579-1EE5-AF18-E0627D0A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18.5 Life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181D7-BB9D-3226-BD24-EC3FDB707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615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04E3D0-3146-2477-D843-D8F306D9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977" y="1015164"/>
            <a:ext cx="11058526" cy="5676247"/>
          </a:xfrm>
        </p:spPr>
        <p:txBody>
          <a:bodyPr/>
          <a:lstStyle/>
          <a:p>
            <a:r>
              <a:rPr lang="en-US" dirty="0"/>
              <a:t>In mobile systems, hardware is often selected before software design begins, which means the software must adapt to hardware constraints.</a:t>
            </a:r>
          </a:p>
          <a:p>
            <a:r>
              <a:rPr lang="en-US" dirty="0"/>
              <a:t>Hardware choices are usually made by management, sales teams, or regulatory and their goal is mostly to minimize risk (e.g., cost, legal compliance), not to optimize software quality.</a:t>
            </a:r>
          </a:p>
          <a:p>
            <a:r>
              <a:rPr lang="en-US" b="1" dirty="0"/>
              <a:t>Advice to architects:</a:t>
            </a:r>
          </a:p>
          <a:p>
            <a:pPr lvl="1"/>
            <a:r>
              <a:rPr lang="en-US" dirty="0"/>
              <a:t>Instead of waiting for these decisions to be handed down, the software architect should participate early in discussions to explain tradeoffs and help guide better choices.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F84422-56DA-ED5C-CF3F-E3D61FD1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</p:spPr>
        <p:txBody>
          <a:bodyPr/>
          <a:lstStyle/>
          <a:p>
            <a:r>
              <a:rPr lang="en-US" dirty="0"/>
              <a:t>Hardware 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A0DA-7DC9-3BC7-D734-53ED0DFF0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149" y="153671"/>
            <a:ext cx="670079" cy="641281"/>
          </a:xfrm>
        </p:spPr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964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C8C5B-BDAA-35ED-4CE0-1AE2F191DC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Mobile devices present some unique considerations for testing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Test display layouts</a:t>
            </a:r>
          </a:p>
          <a:p>
            <a:pPr lvl="2"/>
            <a:r>
              <a:rPr lang="en-US" dirty="0"/>
              <a:t>Mobile devices come in many different screen sizes and shapes, so it's important to test how the user interface looks and behaves across all of them.</a:t>
            </a:r>
          </a:p>
          <a:p>
            <a:pPr lvl="2"/>
            <a:r>
              <a:rPr lang="en-US" dirty="0"/>
              <a:t>Automatic layout tools (like HTML/CSS rendering) can fail on very small or unusual screens.</a:t>
            </a:r>
          </a:p>
          <a:p>
            <a:pPr lvl="2"/>
            <a:r>
              <a:rPr lang="en-US" dirty="0"/>
              <a:t>These problems can be hard to detect unless very thorough and device-specific testing is done.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Test operational edge cases</a:t>
            </a:r>
          </a:p>
          <a:p>
            <a:pPr lvl="2"/>
            <a:r>
              <a:rPr lang="en-US" dirty="0"/>
              <a:t>If the device runs out of battery or suddenly shuts down, the app should Not lose the user’s work or state. And be able to recover gracefully.</a:t>
            </a:r>
          </a:p>
          <a:p>
            <a:pPr lvl="2"/>
            <a:r>
              <a:rPr lang="en-US" dirty="0"/>
              <a:t>When the user interface does not react correctly, re-creating the sequence of events that caused the problem is difficult</a:t>
            </a:r>
          </a:p>
          <a:p>
            <a:pPr lvl="4"/>
            <a:r>
              <a:rPr lang="en-US" dirty="0"/>
              <a:t>the problem may depend on the timing, or on a specific set of operations.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Test resource usage</a:t>
            </a:r>
          </a:p>
          <a:p>
            <a:pPr lvl="2"/>
            <a:r>
              <a:rPr lang="en-US" dirty="0"/>
              <a:t>Test how the system uses resources like battery, memory, or CPU.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46E1F5-C56E-62BA-BA24-56FCF2DD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1416-72A6-24DC-7640-87BA7F167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01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5E695E-DB7E-5C42-B46B-67C093C2CB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Test for network transitions</a:t>
            </a:r>
          </a:p>
          <a:p>
            <a:pPr lvl="2"/>
            <a:r>
              <a:rPr lang="en-US" dirty="0"/>
              <a:t>The system must handle changing from one network to another (like Wi-Fi to 4G to another Wi-Fi) without disrupting the user experience.</a:t>
            </a:r>
          </a:p>
          <a:p>
            <a:r>
              <a:rPr lang="en-US" dirty="0"/>
              <a:t>Suppose we are testing a car’s lane keep assist function, where the vehicle stays in the lane defined by markings without driver input. Testing of this system may address the following levels: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Software component: </a:t>
            </a:r>
            <a:r>
              <a:rPr lang="en-US" dirty="0"/>
              <a:t>Testing just the individual piece of software (e.g. the lane detection algorithm)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Function: </a:t>
            </a:r>
            <a:r>
              <a:rPr lang="en-US" dirty="0"/>
              <a:t>Testing the complete lane keep assist function (which involves multiple software components like mapping, camera inputs, etc.)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Device: </a:t>
            </a:r>
            <a:r>
              <a:rPr lang="en-US" dirty="0"/>
              <a:t>Deploying the lane keep assist software onto the actual ECU hardware it will run on.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System: </a:t>
            </a:r>
            <a:r>
              <a:rPr lang="en-US" dirty="0"/>
              <a:t>Testing the fully integrated car system.</a:t>
            </a:r>
          </a:p>
          <a:p>
            <a:r>
              <a:rPr lang="en-US" dirty="0">
                <a:solidFill>
                  <a:schemeClr val="accent1"/>
                </a:solidFill>
              </a:rPr>
              <a:t>Test traceability</a:t>
            </a:r>
            <a:r>
              <a:rPr lang="en-US" dirty="0"/>
              <a:t>: If an issue is found in step 4, it needs to be reproducible and traceable through all test setups.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90AA82-B48B-3AE2-ED69-10889B30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34F4C-2260-77B1-3DA7-9EFE19BF1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650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54165-E559-8060-B894-0971723837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46740C-EACF-AF71-37AB-B4B32BF4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65DAD-BBFE-5FF7-105F-7014FC846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06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E60EB-F59B-9689-3EDE-E38FA43467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B62852-86A9-86DC-CCBE-CF96926B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306FD-9C0A-07F8-EA6C-5A51671F5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15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BDAD25-44F3-FE7A-A647-59F99A73B8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6B58-4FA5-D47A-1235-58B18707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28F95-DBED-D507-CE51-B4EDA7505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23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2002</TotalTime>
  <Words>1903</Words>
  <Application>Microsoft Office PowerPoint</Application>
  <PresentationFormat>Widescreen</PresentationFormat>
  <Paragraphs>159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 </vt:lpstr>
      <vt:lpstr>Introduction</vt:lpstr>
      <vt:lpstr>18.1 Energy</vt:lpstr>
      <vt:lpstr>18.1 Energy</vt:lpstr>
      <vt:lpstr>18.2 Network Connectivity</vt:lpstr>
      <vt:lpstr>18.2 Network Connectivity</vt:lpstr>
      <vt:lpstr>18.2 Network Connectivity</vt:lpstr>
      <vt:lpstr>18.3 Sensors and Actuators</vt:lpstr>
      <vt:lpstr>18.3 Sensors and Actuators</vt:lpstr>
      <vt:lpstr>18.4 Resources</vt:lpstr>
      <vt:lpstr>18.4 Resources</vt:lpstr>
      <vt:lpstr>18.5 Life Cycle</vt:lpstr>
      <vt:lpstr>Hardware First</vt:lpstr>
      <vt:lpstr>Testing</vt:lpstr>
      <vt:lpstr>Testing</vt:lpstr>
      <vt:lpstr>Deploying Updates</vt:lpstr>
      <vt:lpstr>Logging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37</cp:revision>
  <dcterms:created xsi:type="dcterms:W3CDTF">2025-05-02T12:16:21Z</dcterms:created>
  <dcterms:modified xsi:type="dcterms:W3CDTF">2025-07-20T08:41:04Z</dcterms:modified>
</cp:coreProperties>
</file>