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handoutMasterIdLst>
    <p:handoutMasterId r:id="rId24"/>
  </p:handoutMasterIdLst>
  <p:sldIdLst>
    <p:sldId id="259" r:id="rId2"/>
    <p:sldId id="264" r:id="rId3"/>
    <p:sldId id="268" r:id="rId4"/>
    <p:sldId id="266" r:id="rId5"/>
    <p:sldId id="269" r:id="rId6"/>
    <p:sldId id="271" r:id="rId7"/>
    <p:sldId id="272" r:id="rId8"/>
    <p:sldId id="275" r:id="rId9"/>
    <p:sldId id="276" r:id="rId10"/>
    <p:sldId id="277" r:id="rId11"/>
    <p:sldId id="273" r:id="rId12"/>
    <p:sldId id="278" r:id="rId13"/>
    <p:sldId id="279" r:id="rId14"/>
    <p:sldId id="282" r:id="rId15"/>
    <p:sldId id="280" r:id="rId16"/>
    <p:sldId id="283" r:id="rId17"/>
    <p:sldId id="284" r:id="rId18"/>
    <p:sldId id="285" r:id="rId19"/>
    <p:sldId id="286" r:id="rId20"/>
    <p:sldId id="287" r:id="rId21"/>
    <p:sldId id="288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644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7732" autoAdjust="0"/>
    <p:restoredTop sz="94677" autoAdjust="0"/>
  </p:normalViewPr>
  <p:slideViewPr>
    <p:cSldViewPr snapToGrid="0">
      <p:cViewPr varScale="1">
        <p:scale>
          <a:sx n="50" d="100"/>
          <a:sy n="50" d="100"/>
        </p:scale>
        <p:origin x="48" y="81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5" d="100"/>
          <a:sy n="65" d="100"/>
        </p:scale>
        <p:origin x="3154" y="4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87429BB-B4AE-1FD4-40CA-11DEC06DF33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736E014-1DD4-A911-0818-2801CAFD99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928E3B-7122-43E6-B3BB-09448C56C96C}" type="datetimeFigureOut">
              <a:rPr lang="en-US" smtClean="0"/>
              <a:t>25/07/16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507225-126A-9CD2-B38B-89A64803DAA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9A47BA-80EE-701F-EBD0-8E5B9C8D041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BF22B76-F21B-401A-98B3-B52E9FD889B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815208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98C9CAF-43DF-44BF-8016-DC193E4E594B}" type="datetimeFigureOut">
              <a:rPr lang="en-US" smtClean="0"/>
              <a:t>25/07/16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7C232D7-2694-4BD6-985B-15C23CEC77D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894407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عنوان اصل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1D6440A-0326-4286-686D-DD69C6C2D0A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509" y="886414"/>
            <a:ext cx="3884007" cy="5085173"/>
          </a:xfrm>
          <a:prstGeom prst="rect">
            <a:avLst/>
          </a:prstGeom>
        </p:spPr>
      </p:pic>
      <p:sp>
        <p:nvSpPr>
          <p:cNvPr id="3" name="TextBox 3">
            <a:extLst>
              <a:ext uri="{FF2B5EF4-FFF2-40B4-BE49-F238E27FC236}">
                <a16:creationId xmlns:a16="http://schemas.microsoft.com/office/drawing/2014/main" id="{CA2AF927-30AA-7708-FA45-DC09B6C7A633}"/>
              </a:ext>
            </a:extLst>
          </p:cNvPr>
          <p:cNvSpPr txBox="1"/>
          <p:nvPr userDrawn="1"/>
        </p:nvSpPr>
        <p:spPr>
          <a:xfrm>
            <a:off x="4889288" y="1701625"/>
            <a:ext cx="6649203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4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Architecture in Practice</a:t>
            </a:r>
          </a:p>
          <a:p>
            <a:pPr algn="ctr"/>
            <a:endParaRPr lang="en-US" sz="4400" dirty="0"/>
          </a:p>
        </p:txBody>
      </p:sp>
      <p:sp>
        <p:nvSpPr>
          <p:cNvPr id="7" name="TextBox 4">
            <a:extLst>
              <a:ext uri="{FF2B5EF4-FFF2-40B4-BE49-F238E27FC236}">
                <a16:creationId xmlns:a16="http://schemas.microsoft.com/office/drawing/2014/main" id="{0A107B7A-E65E-6134-1507-F92CE52BA14D}"/>
              </a:ext>
            </a:extLst>
          </p:cNvPr>
          <p:cNvSpPr txBox="1"/>
          <p:nvPr userDrawn="1"/>
        </p:nvSpPr>
        <p:spPr>
          <a:xfrm>
            <a:off x="5241066" y="886414"/>
            <a:ext cx="594565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8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University Of Isfahan</a:t>
            </a:r>
          </a:p>
          <a:p>
            <a:pPr algn="ctr"/>
            <a:endParaRPr lang="en-US" sz="2800" dirty="0"/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81D675CA-92B6-F987-200D-6735AB7A67AE}"/>
              </a:ext>
            </a:extLst>
          </p:cNvPr>
          <p:cNvSpPr txBox="1"/>
          <p:nvPr userDrawn="1"/>
        </p:nvSpPr>
        <p:spPr>
          <a:xfrm>
            <a:off x="5174480" y="5432903"/>
            <a:ext cx="60788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Dr. </a:t>
            </a:r>
            <a:r>
              <a:rPr lang="en-US" sz="20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Mohammadreza</a:t>
            </a:r>
            <a:r>
              <a:rPr lang="en-US" sz="18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 Sharbaf</a:t>
            </a:r>
          </a:p>
        </p:txBody>
      </p:sp>
    </p:spTree>
    <p:extLst>
      <p:ext uri="{BB962C8B-B14F-4D97-AF65-F5344CB8AC3E}">
        <p14:creationId xmlns:p14="http://schemas.microsoft.com/office/powerpoint/2010/main" val="17582666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معرفی کتاب مرج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96C45E3-84FC-009E-B990-CC3128943DCF}"/>
              </a:ext>
            </a:extLst>
          </p:cNvPr>
          <p:cNvSpPr txBox="1"/>
          <p:nvPr userDrawn="1"/>
        </p:nvSpPr>
        <p:spPr>
          <a:xfrm>
            <a:off x="2790613" y="2167116"/>
            <a:ext cx="661077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Architecture in Practice</a:t>
            </a:r>
          </a:p>
          <a:p>
            <a:pPr algn="ctr"/>
            <a:endParaRPr lang="en-US" sz="32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AEE8E89-6157-D30C-AE9A-DE90DF72A3D5}"/>
              </a:ext>
            </a:extLst>
          </p:cNvPr>
          <p:cNvSpPr txBox="1"/>
          <p:nvPr userDrawn="1"/>
        </p:nvSpPr>
        <p:spPr>
          <a:xfrm>
            <a:off x="4996883" y="3059668"/>
            <a:ext cx="22930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b="1" i="0" dirty="0">
                <a:solidFill>
                  <a:schemeClr val="bg2">
                    <a:lumMod val="50000"/>
                  </a:schemeClr>
                </a:solidFill>
                <a:latin typeface="+mj-lt"/>
              </a:rPr>
              <a:t>4th edition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F1C09B0-F458-52CF-2E89-C839C21696FD}"/>
              </a:ext>
            </a:extLst>
          </p:cNvPr>
          <p:cNvSpPr txBox="1"/>
          <p:nvPr userDrawn="1"/>
        </p:nvSpPr>
        <p:spPr>
          <a:xfrm>
            <a:off x="3929577" y="5154362"/>
            <a:ext cx="44276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Len Bass, Paul Clements, Rick Kazman</a:t>
            </a:r>
          </a:p>
          <a:p>
            <a:pPr marL="0" indent="0" algn="l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9466936-600E-E015-B971-BE7279402C11}"/>
              </a:ext>
            </a:extLst>
          </p:cNvPr>
          <p:cNvSpPr txBox="1"/>
          <p:nvPr userDrawn="1"/>
        </p:nvSpPr>
        <p:spPr>
          <a:xfrm>
            <a:off x="2714412" y="1782292"/>
            <a:ext cx="6858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i="1" dirty="0">
                <a:solidFill>
                  <a:schemeClr val="bg2">
                    <a:lumMod val="75000"/>
                  </a:schemeClr>
                </a:solidFill>
                <a:latin typeface="+mj-lt"/>
              </a:rPr>
              <a:t>Text Book:</a:t>
            </a:r>
          </a:p>
        </p:txBody>
      </p:sp>
    </p:spTree>
    <p:extLst>
      <p:ext uri="{BB962C8B-B14F-4D97-AF65-F5344CB8AC3E}">
        <p14:creationId xmlns:p14="http://schemas.microsoft.com/office/powerpoint/2010/main" val="32638651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D763EB-F58C-2FDA-883E-D34AC3F89BD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9BD9CD7-C12F-5578-3913-F6206D50C27B}"/>
              </a:ext>
            </a:extLst>
          </p:cNvPr>
          <p:cNvSpPr txBox="1"/>
          <p:nvPr userDrawn="1"/>
        </p:nvSpPr>
        <p:spPr>
          <a:xfrm>
            <a:off x="1859302" y="1303253"/>
            <a:ext cx="1168061" cy="110799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sz="6600" b="1" dirty="0">
                <a:latin typeface="+mj-lt"/>
              </a:rPr>
              <a:t>“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2C21CC-5ED0-E64B-EAB7-020E97E35EDD}"/>
              </a:ext>
            </a:extLst>
          </p:cNvPr>
          <p:cNvSpPr txBox="1"/>
          <p:nvPr userDrawn="1"/>
        </p:nvSpPr>
        <p:spPr>
          <a:xfrm>
            <a:off x="9205913" y="3698406"/>
            <a:ext cx="1168061" cy="110799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sz="6600" b="1" dirty="0">
                <a:latin typeface="+mj-lt"/>
              </a:rPr>
              <a:t>”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CC271C3-2751-4DDA-C95D-61E65E2C407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027363" y="1627188"/>
            <a:ext cx="6178550" cy="2625216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b="1" i="1">
                <a:solidFill>
                  <a:schemeClr val="bg2">
                    <a:lumMod val="25000"/>
                  </a:schemeClr>
                </a:solidFill>
                <a:latin typeface="+mj-lt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0F6E1FB4-261B-CA90-BDD6-924DC256638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027364" y="5229225"/>
            <a:ext cx="6178550" cy="7112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600">
                <a:solidFill>
                  <a:schemeClr val="bg2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03544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توضیحا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745AABA7-8654-6E03-E01A-130CB74BE741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88977" y="1015164"/>
            <a:ext cx="11058526" cy="5676247"/>
          </a:xfrm>
          <a:prstGeom prst="rect">
            <a:avLst/>
          </a:prstGeom>
        </p:spPr>
        <p:txBody>
          <a:bodyPr/>
          <a:lstStyle>
            <a:lvl1pPr marL="114300" indent="-342900">
              <a:lnSpc>
                <a:spcPct val="100000"/>
              </a:lnSpc>
              <a:spcBef>
                <a:spcPts val="2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11480" indent="228600">
              <a:lnSpc>
                <a:spcPct val="100000"/>
              </a:lnSpc>
              <a:spcBef>
                <a:spcPts val="1000"/>
              </a:spcBef>
              <a:buClr>
                <a:schemeClr val="tx1"/>
              </a:buClr>
              <a:buFont typeface="Wingdings" panose="05000000000000000000" pitchFamily="2" charset="2"/>
              <a:buChar char="§"/>
              <a:defRPr sz="20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1005840" indent="-228600">
              <a:spcBef>
                <a:spcPts val="600"/>
              </a:spcBef>
              <a:buClr>
                <a:schemeClr val="tx1"/>
              </a:buClr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-228600">
              <a:spcBef>
                <a:spcPts val="200"/>
              </a:spcBef>
              <a:buSzPct val="100000"/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645920">
              <a:spcBef>
                <a:spcPts val="200"/>
              </a:spcBef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  <a:lvl6pPr marL="2286000" indent="0">
              <a:buNone/>
              <a:defRPr/>
            </a:lvl6pPr>
          </a:lstStyle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Click to edit Master text styles Click to edit Master text styles Click to edit Master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0"/>
            <a:r>
              <a:rPr lang="en-US" dirty="0" err="1"/>
              <a:t>Asdfasdfasdfasdff</a:t>
            </a:r>
            <a:endParaRPr lang="en-US" dirty="0"/>
          </a:p>
          <a:p>
            <a:pPr marL="411480" marR="0" lvl="1" indent="22860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n-US" dirty="0"/>
              <a:t>Second level</a:t>
            </a:r>
          </a:p>
          <a:p>
            <a:pPr marL="1005840" marR="0" lvl="2" indent="-22860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Times New Roman" panose="02020603050405020304" pitchFamily="18" charset="0"/>
              <a:buChar char="‣"/>
              <a:tabLst/>
              <a:defRPr/>
            </a:pPr>
            <a:r>
              <a:rPr lang="en-US" dirty="0"/>
              <a:t>Third level</a:t>
            </a:r>
          </a:p>
          <a:p>
            <a:pPr marL="1645920" marR="0" lvl="4" indent="-22860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Tx/>
              <a:buSzPct val="100000"/>
              <a:buFont typeface="Times New Roman" panose="02020603050405020304" pitchFamily="18" charset="0"/>
              <a:buChar char="‣"/>
              <a:tabLst/>
              <a:defRPr/>
            </a:pPr>
            <a:endParaRPr lang="en-US" dirty="0"/>
          </a:p>
          <a:p>
            <a:pPr lvl="4"/>
            <a:endParaRPr lang="en-US" dirty="0"/>
          </a:p>
          <a:p>
            <a:pPr lvl="0"/>
            <a:endParaRPr lang="en-US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6EA75A14-EC44-C947-19E0-5B86DE32AE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29150B68-8BC2-8C77-3FFC-2A2ADED5585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7715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عنوان بخش‌ها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4D3C09-A831-571A-01CB-A6534B0A75DE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8200" y="3630968"/>
            <a:ext cx="10515600" cy="257452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3600" b="1" spc="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Section Name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AB62D3E-5146-2D84-53F5-BB186CCBF35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38200" y="2492375"/>
            <a:ext cx="10515600" cy="93662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SECTION #</a:t>
            </a:r>
          </a:p>
        </p:txBody>
      </p:sp>
    </p:spTree>
    <p:extLst>
      <p:ext uri="{BB962C8B-B14F-4D97-AF65-F5344CB8AC3E}">
        <p14:creationId xmlns:p14="http://schemas.microsoft.com/office/powerpoint/2010/main" val="8259179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عکس و توضیحا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8581ADF6-1F4F-CE66-F068-D1A26D9E8A64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809426" y="1031785"/>
            <a:ext cx="5826425" cy="315274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4D2E4CAB-BEBB-3707-3FA1-D084FAEA841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56149" y="1031785"/>
            <a:ext cx="5081171" cy="3159650"/>
          </a:xfrm>
          <a:prstGeom prst="rect">
            <a:avLst/>
          </a:prstGeom>
        </p:spPr>
        <p:txBody>
          <a:bodyPr/>
          <a:lstStyle>
            <a:lvl1pPr marL="0" indent="228600">
              <a:lnSpc>
                <a:spcPct val="100000"/>
              </a:lnSpc>
              <a:spcBef>
                <a:spcPts val="2000"/>
              </a:spcBef>
              <a:buClr>
                <a:schemeClr val="tx1"/>
              </a:buClr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11480" indent="228600">
              <a:lnSpc>
                <a:spcPct val="100000"/>
              </a:lnSpc>
              <a:spcBef>
                <a:spcPts val="1000"/>
              </a:spcBef>
              <a:buClr>
                <a:schemeClr val="tx1"/>
              </a:buClr>
              <a:buFont typeface="Wingdings" panose="05000000000000000000" pitchFamily="2" charset="2"/>
              <a:buChar char="§"/>
              <a:defRPr sz="20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1005840" indent="-228600">
              <a:spcBef>
                <a:spcPts val="600"/>
              </a:spcBef>
              <a:buClr>
                <a:schemeClr val="tx1"/>
              </a:buClr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-228600">
              <a:spcBef>
                <a:spcPts val="200"/>
              </a:spcBef>
              <a:buClr>
                <a:schemeClr val="tx1"/>
              </a:buClr>
              <a:buSzPct val="100000"/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645920">
              <a:spcBef>
                <a:spcPts val="200"/>
              </a:spcBef>
              <a:buClr>
                <a:schemeClr val="tx1"/>
              </a:buClr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Click to edit Master text styles Click to edit Master text styles Click to edit Master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0"/>
            <a:endParaRPr lang="en-US" dirty="0"/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D33701F9-BC79-B1F2-F33F-566DE40E9585}"/>
              </a:ext>
            </a:extLst>
          </p:cNvPr>
          <p:cNvSpPr>
            <a:spLocks noGrp="1"/>
          </p:cNvSpPr>
          <p:nvPr>
            <p:ph sz="half" idx="12"/>
          </p:nvPr>
        </p:nvSpPr>
        <p:spPr>
          <a:xfrm>
            <a:off x="556148" y="4349324"/>
            <a:ext cx="11079703" cy="2355005"/>
          </a:xfrm>
          <a:prstGeom prst="rect">
            <a:avLst/>
          </a:prstGeom>
        </p:spPr>
        <p:txBody>
          <a:bodyPr/>
          <a:lstStyle>
            <a:lvl1pPr marL="0" indent="228600">
              <a:lnSpc>
                <a:spcPct val="100000"/>
              </a:lnSpc>
              <a:spcBef>
                <a:spcPts val="2000"/>
              </a:spcBef>
              <a:buClr>
                <a:schemeClr val="tx1"/>
              </a:buClr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11480" indent="228600">
              <a:lnSpc>
                <a:spcPct val="100000"/>
              </a:lnSpc>
              <a:spcBef>
                <a:spcPts val="1000"/>
              </a:spcBef>
              <a:buClr>
                <a:schemeClr val="tx1"/>
              </a:buClr>
              <a:buFont typeface="Wingdings" panose="05000000000000000000" pitchFamily="2" charset="2"/>
              <a:buChar char="§"/>
              <a:defRPr sz="20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1005840" indent="-228600">
              <a:spcBef>
                <a:spcPts val="600"/>
              </a:spcBef>
              <a:buClr>
                <a:schemeClr val="tx1"/>
              </a:buClr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-228600">
              <a:spcBef>
                <a:spcPts val="200"/>
              </a:spcBef>
              <a:buSzPct val="100000"/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645920">
              <a:spcBef>
                <a:spcPts val="200"/>
              </a:spcBef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0"/>
            <a:endParaRPr lang="en-US" dirty="0"/>
          </a:p>
        </p:txBody>
      </p:sp>
      <p:sp>
        <p:nvSpPr>
          <p:cNvPr id="25" name="Title 24">
            <a:extLst>
              <a:ext uri="{FF2B5EF4-FFF2-40B4-BE49-F238E27FC236}">
                <a16:creationId xmlns:a16="http://schemas.microsoft.com/office/drawing/2014/main" id="{A1248D6A-2F31-7DAE-E178-90148578B0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6" name="Slide Number Placeholder 25">
            <a:extLst>
              <a:ext uri="{FF2B5EF4-FFF2-40B4-BE49-F238E27FC236}">
                <a16:creationId xmlns:a16="http://schemas.microsoft.com/office/drawing/2014/main" id="{C84E279C-06EF-FA3D-FB33-057EDCA7E79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67410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عک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B4413EB-9324-9312-01D4-01212668D4CA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650709" y="518312"/>
            <a:ext cx="8890581" cy="5000952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7DC52E4-EE13-112F-7A75-20D1103E8E3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5625" y="5683250"/>
            <a:ext cx="11036300" cy="87891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000" i="1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caption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4AA41ADF-5ADB-4478-F3AE-A908B05F64EF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64450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0350306-1A92-387D-FEA6-25A51B678C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6149" y="153671"/>
            <a:ext cx="670079" cy="6412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Title Placeholder 11">
            <a:extLst>
              <a:ext uri="{FF2B5EF4-FFF2-40B4-BE49-F238E27FC236}">
                <a16:creationId xmlns:a16="http://schemas.microsoft.com/office/drawing/2014/main" id="{A8C8BAA5-76D7-C8B1-7A71-D70A776A65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8889" y="153671"/>
            <a:ext cx="10436810" cy="64128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1.1 Definition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9A18509-0EE4-08D3-489F-C7109F42C063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5546" y="166588"/>
            <a:ext cx="640305" cy="640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48296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4" r:id="rId2"/>
    <p:sldLayoutId id="2147483655" r:id="rId3"/>
    <p:sldLayoutId id="2147483650" r:id="rId4"/>
    <p:sldLayoutId id="2147483651" r:id="rId5"/>
    <p:sldLayoutId id="2147483652" r:id="rId6"/>
    <p:sldLayoutId id="2147483653" r:id="rId7"/>
  </p:sldLayoutIdLst>
  <p:hf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b="0" kern="1200">
          <a:solidFill>
            <a:schemeClr val="tx1"/>
          </a:solidFill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644494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1FC77B4-BC48-76BC-D426-F894A03FAA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Managing Architecture Debt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A69401E-3D2B-47A5-6D3F-CCE137706A3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CHAPTER 23</a:t>
            </a:r>
          </a:p>
        </p:txBody>
      </p:sp>
    </p:spTree>
    <p:extLst>
      <p:ext uri="{BB962C8B-B14F-4D97-AF65-F5344CB8AC3E}">
        <p14:creationId xmlns:p14="http://schemas.microsoft.com/office/powerpoint/2010/main" val="7026365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508ED7A-E858-9048-A2EE-70B0CAEFB21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09505E-138C-BEFA-F1DA-E22DF7575B8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sz="3200" b="0" dirty="0"/>
              <a:t>Some debts are fun when you are acquiring them, but none are fun when you set about retiring them.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B87A4A-CF6B-713C-5025-563FAA77732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—Ogden Nash</a:t>
            </a:r>
          </a:p>
        </p:txBody>
      </p:sp>
    </p:spTree>
    <p:extLst>
      <p:ext uri="{BB962C8B-B14F-4D97-AF65-F5344CB8AC3E}">
        <p14:creationId xmlns:p14="http://schemas.microsoft.com/office/powerpoint/2010/main" val="1562113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2482658-2BE8-68DC-2E49-3E16AB1B08D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EA50FF4-3542-AD6D-6F54-5EF273AB4B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Chapter Outline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7B9C1B-F8C3-F07B-728F-B0949F0314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58266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E3ED8DE-7D44-DB8F-3ABF-1C40B58B267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What Is Architecture Debt?</a:t>
            </a:r>
          </a:p>
          <a:p>
            <a:pPr lvl="1"/>
            <a:r>
              <a:rPr lang="en-US" dirty="0"/>
              <a:t>Designs become harder to maintain and evolve over time; we call this entropy </a:t>
            </a:r>
            <a:r>
              <a:rPr lang="en-US" dirty="0">
                <a:solidFill>
                  <a:schemeClr val="accent1"/>
                </a:solidFill>
              </a:rPr>
              <a:t>architecture debt</a:t>
            </a:r>
            <a:r>
              <a:rPr lang="en-US" dirty="0"/>
              <a:t>, a costly form of </a:t>
            </a:r>
            <a:r>
              <a:rPr lang="en-US" dirty="0">
                <a:solidFill>
                  <a:schemeClr val="accent1"/>
                </a:solidFill>
              </a:rPr>
              <a:t>technical debt</a:t>
            </a:r>
            <a:r>
              <a:rPr lang="en-US" dirty="0"/>
              <a:t>.</a:t>
            </a:r>
          </a:p>
          <a:p>
            <a:r>
              <a:rPr lang="en-US" dirty="0"/>
              <a:t>Why It’s Hard to Manage?</a:t>
            </a:r>
          </a:p>
          <a:p>
            <a:pPr lvl="1"/>
            <a:r>
              <a:rPr lang="en-US" dirty="0"/>
              <a:t>Architecture debt is more difficult to detect and eradicate than </a:t>
            </a:r>
            <a:r>
              <a:rPr lang="en-US" dirty="0">
                <a:solidFill>
                  <a:schemeClr val="accent1"/>
                </a:solidFill>
              </a:rPr>
              <a:t>code debt </a:t>
            </a:r>
            <a:r>
              <a:rPr lang="en-US" dirty="0"/>
              <a:t>because it involves non-local concerns.</a:t>
            </a:r>
          </a:p>
          <a:p>
            <a:pPr lvl="1"/>
            <a:r>
              <a:rPr lang="en-US" dirty="0"/>
              <a:t>Tools for discovering code debt—code inspections, code quality checkers, and so forth—typically do not work well for detecting architecture debt.</a:t>
            </a:r>
          </a:p>
          <a:p>
            <a:r>
              <a:rPr lang="en-US" dirty="0"/>
              <a:t>Not all debt is bad; sometimes principles (like low coupling or high cohesion) are sacrificed for worthy trade-offs, such as improving runtime performance or time to market.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F5EFD45-62C0-98DC-87BD-9CE9F70E98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7C8EE7-DF53-7020-F173-D19F79D757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40149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70339D9-2FBC-465A-80AF-27C56DEE882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This chapter introduces a process to analyze existing systems for architecture debt.</a:t>
            </a:r>
          </a:p>
          <a:p>
            <a:r>
              <a:rPr lang="en-US" dirty="0"/>
              <a:t>Paying Down Debt: The Business Case</a:t>
            </a:r>
          </a:p>
          <a:p>
            <a:pPr lvl="1"/>
            <a:r>
              <a:rPr lang="en-US" dirty="0"/>
              <a:t>Once identified, architecture debt should be removed through refactoring.</a:t>
            </a:r>
          </a:p>
          <a:p>
            <a:r>
              <a:rPr lang="en-US" dirty="0">
                <a:solidFill>
                  <a:schemeClr val="accent1"/>
                </a:solidFill>
              </a:rPr>
              <a:t>Quantitative evidence of payoff </a:t>
            </a:r>
            <a:r>
              <a:rPr lang="en-US" dirty="0"/>
              <a:t>is needed to persuade stakeholders. </a:t>
            </a:r>
          </a:p>
          <a:p>
            <a:pPr lvl="1"/>
            <a:r>
              <a:rPr lang="en-US" dirty="0"/>
              <a:t>framed in terms of </a:t>
            </a:r>
            <a:r>
              <a:rPr lang="en-US" dirty="0">
                <a:solidFill>
                  <a:schemeClr val="accent1"/>
                </a:solidFill>
              </a:rPr>
              <a:t>ROI</a:t>
            </a:r>
            <a:r>
              <a:rPr lang="en-US" dirty="0"/>
              <a:t> (Return on Investment) and increased productivity.</a:t>
            </a:r>
          </a:p>
          <a:p>
            <a:pPr lvl="1"/>
            <a:r>
              <a:rPr lang="en-US" dirty="0"/>
              <a:t>not just “three months of refactoring with no new functionality”.</a:t>
            </a:r>
          </a:p>
          <a:p>
            <a:r>
              <a:rPr lang="en-US" dirty="0"/>
              <a:t>The process that we advocate requires three types of information: 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Source code</a:t>
            </a:r>
            <a:r>
              <a:rPr lang="en-US" dirty="0"/>
              <a:t> to determine structural dependencies.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Revision history </a:t>
            </a:r>
            <a:r>
              <a:rPr lang="en-US" dirty="0"/>
              <a:t>to determine co-evolution of code units. (using VCS)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Issue information </a:t>
            </a:r>
            <a:r>
              <a:rPr lang="en-US" dirty="0"/>
              <a:t>to determine the reasons for changes.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4BEB7A8-9DC9-A204-57A1-7A60F2A37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F5FAE7-F061-0EF3-4CC8-5BD2BD4CB14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4740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39D1337-5E41-27C6-930F-28B521FC1D1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In our process for managing architecture debt, we focus on the files in which source code is stored.</a:t>
            </a:r>
          </a:p>
          <a:p>
            <a:r>
              <a:rPr lang="en-US" dirty="0"/>
              <a:t>Architecturally connected files are identified by: 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static dependencies</a:t>
            </a:r>
            <a:r>
              <a:rPr lang="en-US" dirty="0"/>
              <a:t>—extracted via a static code analysis tool.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evolutionary dependencies</a:t>
            </a:r>
            <a:r>
              <a:rPr lang="en-US" dirty="0"/>
              <a:t>—extracted from revision history when files co‑change.</a:t>
            </a:r>
          </a:p>
          <a:p>
            <a:pPr lvl="2"/>
            <a:r>
              <a:rPr lang="en-US" dirty="0"/>
              <a:t>For example, using git to analyze which files change together.</a:t>
            </a:r>
          </a:p>
          <a:p>
            <a:r>
              <a:rPr lang="en-US" dirty="0"/>
              <a:t>Representing Dependencies with a DSM</a:t>
            </a:r>
          </a:p>
          <a:p>
            <a:pPr lvl="1"/>
            <a:r>
              <a:rPr lang="en-US" dirty="0"/>
              <a:t>A design structure matrix (</a:t>
            </a:r>
            <a:r>
              <a:rPr lang="en-US" dirty="0">
                <a:solidFill>
                  <a:schemeClr val="accent1"/>
                </a:solidFill>
              </a:rPr>
              <a:t>DSM</a:t>
            </a:r>
            <a:r>
              <a:rPr lang="en-US" dirty="0">
                <a:solidFill>
                  <a:schemeClr val="tx1"/>
                </a:solidFill>
              </a:rPr>
              <a:t>) </a:t>
            </a:r>
            <a:r>
              <a:rPr lang="en-US" dirty="0"/>
              <a:t>is an </a:t>
            </a:r>
            <a:r>
              <a:rPr lang="en-US" dirty="0">
                <a:solidFill>
                  <a:schemeClr val="tx1"/>
                </a:solidFill>
              </a:rPr>
              <a:t>adjacency matrix </a:t>
            </a:r>
            <a:r>
              <a:rPr lang="en-US" dirty="0"/>
              <a:t>where both rows and columns list files in the same order, and cells are annotated to show dependency types.</a:t>
            </a:r>
          </a:p>
          <a:p>
            <a:pPr lvl="1"/>
            <a:r>
              <a:rPr lang="en-US" dirty="0"/>
              <a:t>Cells show </a:t>
            </a:r>
            <a:r>
              <a:rPr lang="en-US" dirty="0">
                <a:solidFill>
                  <a:schemeClr val="accent1"/>
                </a:solidFill>
              </a:rPr>
              <a:t>structural relations </a:t>
            </a:r>
            <a:r>
              <a:rPr lang="en-US" dirty="0"/>
              <a:t>(inheritance, calls) or </a:t>
            </a:r>
            <a:r>
              <a:rPr lang="en-US" dirty="0">
                <a:solidFill>
                  <a:schemeClr val="accent1"/>
                </a:solidFill>
              </a:rPr>
              <a:t>evolutionary relations </a:t>
            </a:r>
            <a:r>
              <a:rPr lang="en-US" dirty="0"/>
              <a:t>(co‑changes in history).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12E5D9C-C92E-4544-DC0B-FE6069BB55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23.1 Determining Architecture Debt Problems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D45FE0-451D-6242-BFF4-52CF7DB894E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39180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587242CB-97F2-272A-61DD-8813320EE42C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485" r="-2485"/>
          <a:stretch/>
        </p:blipFill>
        <p:spPr>
          <a:xfrm>
            <a:off x="1298154" y="527276"/>
            <a:ext cx="9595692" cy="5397577"/>
          </a:xfr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D00B7B-3AD0-3416-61ED-C773D17D891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92873" y="6088677"/>
            <a:ext cx="11036300" cy="484094"/>
          </a:xfrm>
        </p:spPr>
        <p:txBody>
          <a:bodyPr/>
          <a:lstStyle/>
          <a:p>
            <a:r>
              <a:rPr lang="en-US" sz="1800" dirty="0"/>
              <a:t>A DSM of Apache Camel showing structural dependencies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D4439F-CBD4-7021-721D-89917566A2BE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52711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5CD9095-3B82-289D-E27F-9DAC7FF55EE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Previous page figure is DSM of </a:t>
            </a:r>
            <a:r>
              <a:rPr lang="en-US" sz="2400" dirty="0">
                <a:solidFill>
                  <a:schemeClr val="accent1"/>
                </a:solidFill>
              </a:rPr>
              <a:t>structural dependencies</a:t>
            </a:r>
            <a:r>
              <a:rPr lang="en-US" dirty="0"/>
              <a:t> for 11 Camel files.</a:t>
            </a:r>
          </a:p>
          <a:p>
            <a:pPr lvl="1"/>
            <a:r>
              <a:rPr lang="en-US" dirty="0"/>
              <a:t>Camel is an open-source java framework.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Dependency</a:t>
            </a:r>
            <a:r>
              <a:rPr lang="en-US" dirty="0"/>
              <a:t>, </a:t>
            </a:r>
            <a:r>
              <a:rPr lang="en-US" dirty="0">
                <a:solidFill>
                  <a:schemeClr val="accent1"/>
                </a:solidFill>
              </a:rPr>
              <a:t>implementation</a:t>
            </a:r>
            <a:r>
              <a:rPr lang="en-US" dirty="0"/>
              <a:t>, and </a:t>
            </a:r>
            <a:r>
              <a:rPr lang="en-US" dirty="0">
                <a:solidFill>
                  <a:schemeClr val="accent1"/>
                </a:solidFill>
              </a:rPr>
              <a:t>extension</a:t>
            </a:r>
            <a:r>
              <a:rPr lang="en-US" dirty="0"/>
              <a:t>, indicated by the labels “dp,” “</a:t>
            </a:r>
            <a:r>
              <a:rPr lang="en-US" dirty="0" err="1"/>
              <a:t>im</a:t>
            </a:r>
            <a:r>
              <a:rPr lang="en-US" dirty="0"/>
              <a:t>,” and “ex”.</a:t>
            </a:r>
          </a:p>
          <a:p>
            <a:pPr lvl="1"/>
            <a:r>
              <a:rPr lang="en-US" dirty="0"/>
              <a:t>For example, The file on row 9 of this Figure (MethodCallExpression.java) depends on and extends the file on column 1 (ExpressionDefinition.java).</a:t>
            </a:r>
          </a:p>
          <a:p>
            <a:pPr lvl="1"/>
            <a:r>
              <a:rPr lang="en-US" dirty="0"/>
              <a:t>These static dependencies are extracted by </a:t>
            </a:r>
            <a:r>
              <a:rPr lang="en-US" dirty="0">
                <a:solidFill>
                  <a:schemeClr val="accent1"/>
                </a:solidFill>
              </a:rPr>
              <a:t>reverse-engineering</a:t>
            </a:r>
            <a:r>
              <a:rPr lang="en-US" dirty="0"/>
              <a:t> the source code.</a:t>
            </a:r>
          </a:p>
          <a:p>
            <a:r>
              <a:rPr lang="en-US" dirty="0"/>
              <a:t>Interpreting a DSM</a:t>
            </a:r>
          </a:p>
          <a:p>
            <a:pPr lvl="1"/>
            <a:r>
              <a:rPr lang="en-US" dirty="0"/>
              <a:t>A </a:t>
            </a:r>
            <a:r>
              <a:rPr lang="en-US" dirty="0">
                <a:solidFill>
                  <a:schemeClr val="accent1"/>
                </a:solidFill>
              </a:rPr>
              <a:t>sparse</a:t>
            </a:r>
            <a:r>
              <a:rPr lang="en-US" dirty="0"/>
              <a:t>, </a:t>
            </a:r>
            <a:r>
              <a:rPr lang="en-US" dirty="0">
                <a:solidFill>
                  <a:schemeClr val="accent1"/>
                </a:solidFill>
              </a:rPr>
              <a:t>lower‑diagonal </a:t>
            </a:r>
            <a:r>
              <a:rPr lang="en-US" dirty="0"/>
              <a:t>DSM indicates low coupling and no cyclic dependencies</a:t>
            </a:r>
          </a:p>
          <a:p>
            <a:pPr lvl="1"/>
            <a:r>
              <a:rPr lang="en-US" dirty="0"/>
              <a:t>A </a:t>
            </a:r>
            <a:r>
              <a:rPr lang="en-US" dirty="0">
                <a:solidFill>
                  <a:schemeClr val="accent1"/>
                </a:solidFill>
              </a:rPr>
              <a:t>dense</a:t>
            </a:r>
            <a:r>
              <a:rPr lang="en-US" dirty="0"/>
              <a:t> or </a:t>
            </a:r>
            <a:r>
              <a:rPr lang="en-US" dirty="0">
                <a:solidFill>
                  <a:schemeClr val="accent1"/>
                </a:solidFill>
              </a:rPr>
              <a:t>above‑diagonal </a:t>
            </a:r>
            <a:r>
              <a:rPr lang="en-US" dirty="0"/>
              <a:t>DSM signals problematic coupling</a:t>
            </a:r>
          </a:p>
          <a:p>
            <a:r>
              <a:rPr lang="en-US" dirty="0"/>
              <a:t>Example DSM is sparse. these files aren’t heavily structurally coupled, suggesting low architecture debt.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22E39B9-2612-0F5B-C25D-BDD9B95343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</a:t>
            </a:r>
            <a:r>
              <a:rPr lang="en-US" sz="3600" dirty="0"/>
              <a:t>tructural </a:t>
            </a:r>
            <a:r>
              <a:rPr lang="en-US" dirty="0"/>
              <a:t>D</a:t>
            </a:r>
            <a:r>
              <a:rPr lang="en-US" sz="3600" dirty="0"/>
              <a:t>ependencies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EDE5F6-51A4-C46E-D988-DD8A60C0AD0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27727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6137F0A8-D943-EC04-AFCC-B326849D3CE6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3813" b="-3813"/>
          <a:stretch/>
        </p:blipFill>
        <p:spPr>
          <a:xfrm>
            <a:off x="1153992" y="518311"/>
            <a:ext cx="9884016" cy="5559759"/>
          </a:xfr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A9D04B-7149-49C1-4FE5-43E549C3F0C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55625" y="6078070"/>
            <a:ext cx="11036300" cy="484095"/>
          </a:xfrm>
        </p:spPr>
        <p:txBody>
          <a:bodyPr/>
          <a:lstStyle/>
          <a:p>
            <a:r>
              <a:rPr lang="en-US" sz="2000" dirty="0"/>
              <a:t>A DSM of Apache Camel showing </a:t>
            </a:r>
            <a:r>
              <a:rPr lang="en-US" dirty="0"/>
              <a:t>evolutionary dependencies</a:t>
            </a:r>
            <a:endParaRPr lang="en-US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9F64CE-C24C-1954-54C3-1B92B10C89BE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00662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8CAF1B3-B5C7-DC42-083D-411299DEFBF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Previous figure shows a dense DSM with many </a:t>
            </a:r>
            <a:r>
              <a:rPr lang="en-US" dirty="0">
                <a:solidFill>
                  <a:schemeClr val="accent1"/>
                </a:solidFill>
              </a:rPr>
              <a:t>above‑diagonal</a:t>
            </a:r>
            <a:r>
              <a:rPr lang="en-US" dirty="0"/>
              <a:t> entries, revealing strong </a:t>
            </a:r>
            <a:r>
              <a:rPr lang="en-US" dirty="0">
                <a:solidFill>
                  <a:schemeClr val="accent1"/>
                </a:solidFill>
              </a:rPr>
              <a:t>evolutionary coupling</a:t>
            </a:r>
            <a:r>
              <a:rPr lang="en-US" dirty="0"/>
              <a:t> and high debt.</a:t>
            </a:r>
          </a:p>
          <a:p>
            <a:pPr lvl="1"/>
            <a:r>
              <a:rPr lang="en-US" dirty="0"/>
              <a:t>For example, XMLTokenizerExpression.java depends on ExpressionDefinition.java and they co‑changed three times (marked ‘</a:t>
            </a:r>
            <a:r>
              <a:rPr lang="en-US" dirty="0" err="1"/>
              <a:t>dp</a:t>
            </a:r>
            <a:r>
              <a:rPr lang="en-US" dirty="0"/>
              <a:t>, 3’).</a:t>
            </a:r>
          </a:p>
          <a:p>
            <a:r>
              <a:rPr lang="en-US" dirty="0"/>
              <a:t>Architects report that dense evolutionary coupling leads to costly, complex changes and unpredictable delivery of features and bug fixes.</a:t>
            </a:r>
          </a:p>
          <a:p>
            <a:r>
              <a:rPr lang="en-US" dirty="0"/>
              <a:t>We can automatically quantify debt by identifying ‘hotspots’—areas of the architecture with concentrated design flaws.</a:t>
            </a:r>
          </a:p>
          <a:p>
            <a:r>
              <a:rPr lang="en-US" dirty="0">
                <a:solidFill>
                  <a:schemeClr val="accent1"/>
                </a:solidFill>
              </a:rPr>
              <a:t>Hotspots</a:t>
            </a:r>
            <a:r>
              <a:rPr lang="en-US" dirty="0"/>
              <a:t> are modules that exhibit both high coupling and high maintenance cost, guiding targeted refactoring.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93B8ED6-7B2B-B572-BE8F-646CE190CD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Evolutionary Dependencies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C09A58-D620-790B-EF99-782803CABA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77748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03E4C62-B20B-6E57-483C-91EECB3C0A0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If bug rates are rising and feature velocity is slowing, you need to pinpoint the specific files and flawed relationships causing architecture debt.</a:t>
            </a:r>
          </a:p>
          <a:p>
            <a:r>
              <a:rPr lang="en-US" dirty="0"/>
              <a:t>Architecture debt root causes are often distributed across multiple files and their interrelationships, making them hard to observe without automation.</a:t>
            </a:r>
          </a:p>
          <a:p>
            <a:r>
              <a:rPr lang="en-US" dirty="0"/>
              <a:t>Hotspots are sets of elements that make outsized contributions to maintenance costs due to high coupling and low cohesion.</a:t>
            </a:r>
          </a:p>
          <a:p>
            <a:r>
              <a:rPr lang="en-US" dirty="0"/>
              <a:t>We detect hotspots by identifying six common anti-patterns: </a:t>
            </a:r>
            <a:r>
              <a:rPr lang="en-US" dirty="0">
                <a:solidFill>
                  <a:schemeClr val="accent1"/>
                </a:solidFill>
              </a:rPr>
              <a:t>unstable interface</a:t>
            </a:r>
            <a:r>
              <a:rPr lang="en-US" dirty="0"/>
              <a:t>, </a:t>
            </a:r>
            <a:r>
              <a:rPr lang="en-US" dirty="0">
                <a:solidFill>
                  <a:schemeClr val="accent1"/>
                </a:solidFill>
              </a:rPr>
              <a:t>modularity violation</a:t>
            </a:r>
            <a:r>
              <a:rPr lang="en-US" dirty="0"/>
              <a:t>, </a:t>
            </a:r>
            <a:r>
              <a:rPr lang="en-US" dirty="0">
                <a:solidFill>
                  <a:schemeClr val="accent1"/>
                </a:solidFill>
              </a:rPr>
              <a:t>unhealthy inheritance</a:t>
            </a:r>
            <a:r>
              <a:rPr lang="en-US" dirty="0"/>
              <a:t>, </a:t>
            </a:r>
            <a:r>
              <a:rPr lang="en-US" dirty="0">
                <a:solidFill>
                  <a:schemeClr val="accent1"/>
                </a:solidFill>
              </a:rPr>
              <a:t>cyclic dependency </a:t>
            </a:r>
            <a:r>
              <a:rPr lang="en-US" dirty="0"/>
              <a:t>(clique), </a:t>
            </a:r>
            <a:r>
              <a:rPr lang="en-US" dirty="0">
                <a:solidFill>
                  <a:schemeClr val="accent1"/>
                </a:solidFill>
              </a:rPr>
              <a:t>package cycle</a:t>
            </a:r>
            <a:r>
              <a:rPr lang="en-US" dirty="0"/>
              <a:t>, and </a:t>
            </a:r>
            <a:r>
              <a:rPr lang="en-US" dirty="0">
                <a:solidFill>
                  <a:schemeClr val="accent1"/>
                </a:solidFill>
              </a:rPr>
              <a:t>crossing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68D3ACA-B34B-0D20-CC3A-0CD04DEBEC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23.2 Discovering Hotspots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4CEBCE-CD0D-3AAE-BCF4-9E9FF298974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52505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C0C2CA0-70AA-6A60-BB4B-9BD506FCA3C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228600" indent="-457200">
              <a:buFont typeface="+mj-lt"/>
              <a:buAutoNum type="arabicPeriod"/>
            </a:pPr>
            <a:r>
              <a:rPr lang="en-US" dirty="0">
                <a:solidFill>
                  <a:schemeClr val="accent1"/>
                </a:solidFill>
              </a:rPr>
              <a:t>Unstable interface</a:t>
            </a:r>
            <a:r>
              <a:rPr lang="en-US" dirty="0"/>
              <a:t>: A key file with many dependents changes frequently alongside those dependents.</a:t>
            </a:r>
          </a:p>
          <a:p>
            <a:pPr marL="228600" indent="-457200">
              <a:buFont typeface="+mj-lt"/>
              <a:buAutoNum type="arabicPeriod"/>
            </a:pPr>
            <a:r>
              <a:rPr lang="en-US" dirty="0">
                <a:solidFill>
                  <a:schemeClr val="accent1"/>
                </a:solidFill>
              </a:rPr>
              <a:t>Modularity violation: </a:t>
            </a:r>
            <a:r>
              <a:rPr lang="en-US" dirty="0"/>
              <a:t>Structurally independent files change together often.</a:t>
            </a:r>
          </a:p>
          <a:p>
            <a:pPr marL="228600" indent="-457200">
              <a:buFont typeface="+mj-lt"/>
              <a:buAutoNum type="arabicPeriod"/>
            </a:pPr>
            <a:r>
              <a:rPr lang="en-US" dirty="0">
                <a:solidFill>
                  <a:schemeClr val="accent1"/>
                </a:solidFill>
              </a:rPr>
              <a:t>Unhealthy inheritance: </a:t>
            </a:r>
            <a:r>
              <a:rPr lang="en-US" dirty="0"/>
              <a:t>A parent class depends on a subclass, or a client depends on both parent and child classes.</a:t>
            </a:r>
          </a:p>
          <a:p>
            <a:pPr marL="228600" indent="-457200">
              <a:buFont typeface="+mj-lt"/>
              <a:buAutoNum type="arabicPeriod"/>
            </a:pPr>
            <a:r>
              <a:rPr lang="en-US" dirty="0">
                <a:solidFill>
                  <a:schemeClr val="accent1"/>
                </a:solidFill>
              </a:rPr>
              <a:t>Cyclic dependency </a:t>
            </a:r>
            <a:r>
              <a:rPr lang="en-US" dirty="0"/>
              <a:t>(clique): A group of files forms a strongly connected graph of mutual dependencies.</a:t>
            </a:r>
          </a:p>
          <a:p>
            <a:pPr marL="228600" indent="-457200">
              <a:buFont typeface="+mj-lt"/>
              <a:buAutoNum type="arabicPeriod"/>
            </a:pPr>
            <a:r>
              <a:rPr lang="en-US" dirty="0">
                <a:solidFill>
                  <a:schemeClr val="accent1"/>
                </a:solidFill>
              </a:rPr>
              <a:t>Package cycle: </a:t>
            </a:r>
            <a:r>
              <a:rPr lang="en-US" dirty="0"/>
              <a:t>Two or more packages depend on each other instead of forming a proper hierarchy.</a:t>
            </a:r>
          </a:p>
          <a:p>
            <a:pPr marL="228600" indent="-457200">
              <a:buFont typeface="+mj-lt"/>
              <a:buAutoNum type="arabicPeriod"/>
            </a:pPr>
            <a:r>
              <a:rPr lang="en-US" dirty="0">
                <a:solidFill>
                  <a:schemeClr val="accent1"/>
                </a:solidFill>
              </a:rPr>
              <a:t>Crossing: </a:t>
            </a:r>
            <a:r>
              <a:rPr lang="en-US" dirty="0"/>
              <a:t>A file with high fan-in and fan-out also co-changes frequently with its dependents and dependencies.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86CEB86-3BDC-354B-AC77-0A5348EE69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23.2 Discovering Hotspots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F92FF7-5DFC-3E91-0C84-7E584BF5767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75867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34AFD188-92D6-5128-FBE1-D9A2F9F9A7FC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2381" b="-12381"/>
          <a:stretch/>
        </p:blipFill>
        <p:spPr>
          <a:xfrm>
            <a:off x="1040345" y="474311"/>
            <a:ext cx="9931827" cy="5586653"/>
          </a:xfr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4FAAA4-7D5A-CF24-E648-71E8724FBDF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56149" y="6060964"/>
            <a:ext cx="10900745" cy="501201"/>
          </a:xfrm>
        </p:spPr>
        <p:txBody>
          <a:bodyPr/>
          <a:lstStyle/>
          <a:p>
            <a:r>
              <a:rPr lang="en-US" dirty="0"/>
              <a:t>An example of a clique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536344-23F4-04DF-2994-559169E8500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13828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0A8B397-ED4A-84D2-BCE3-6ED26E993D5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Each such collection of tightly coupled files is a potential hotspot and candidate for debt removal, through refactoring.</a:t>
            </a:r>
          </a:p>
          <a:p>
            <a:r>
              <a:rPr lang="en-US" dirty="0"/>
              <a:t>Previous figure is a DSM based on files in Apache Cassandra—a widely used NoSQL database. It shows an example of a </a:t>
            </a:r>
            <a:r>
              <a:rPr lang="en-US" dirty="0">
                <a:solidFill>
                  <a:schemeClr val="accent1"/>
                </a:solidFill>
              </a:rPr>
              <a:t>clique</a:t>
            </a:r>
            <a:r>
              <a:rPr lang="en-US" dirty="0"/>
              <a:t> (a cycle of dependencies). </a:t>
            </a:r>
          </a:p>
          <a:p>
            <a:r>
              <a:rPr lang="en-US" dirty="0"/>
              <a:t>In this DSM, you can see that the file on row 8 (</a:t>
            </a:r>
            <a:r>
              <a:rPr lang="en-US" u="sng" dirty="0"/>
              <a:t>locator.AbstractReplicationStrategy</a:t>
            </a:r>
            <a:r>
              <a:rPr lang="en-US" dirty="0"/>
              <a:t>) depends on file 4 (</a:t>
            </a:r>
            <a:r>
              <a:rPr lang="en-US" u="sng" dirty="0"/>
              <a:t>service.WriteResponseHandler</a:t>
            </a:r>
            <a:r>
              <a:rPr lang="en-US" dirty="0"/>
              <a:t>) and aggregates file 5 (</a:t>
            </a:r>
            <a:r>
              <a:rPr lang="en-US" u="sng" dirty="0"/>
              <a:t>locator.TokenMetadata</a:t>
            </a:r>
            <a:r>
              <a:rPr lang="en-US" dirty="0"/>
              <a:t>). Files 4 and 5, in turn, depend on file 8, thus forming a clique.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42F19BF-715E-5C74-4200-E70B484028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23.2 Discovering Hotspots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D15C4-A8C7-DCA4-08B0-42437DD46B3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98766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9B756717-99D3-804E-1F38-C8B31B5C7BE7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5998" b="-15998"/>
          <a:stretch/>
        </p:blipFill>
        <p:spPr>
          <a:xfrm>
            <a:off x="1552575" y="474663"/>
            <a:ext cx="9086850" cy="5402262"/>
          </a:xfr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1428D4-5CCA-2067-40B0-3C6BD3A511F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55625" y="6071016"/>
            <a:ext cx="11036300" cy="491149"/>
          </a:xfrm>
        </p:spPr>
        <p:txBody>
          <a:bodyPr/>
          <a:lstStyle/>
          <a:p>
            <a:r>
              <a:rPr lang="it-IT" dirty="0"/>
              <a:t>Architecture anti-patterns in Apache Cassandra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ADF244-54EE-DA39-E568-8A06B5FA1CB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86301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8096032-368D-98EE-9A5B-712A6DB731C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Another example from Cassandra demonstrates the unhealthy inheritance </a:t>
            </a:r>
            <a:r>
              <a:rPr lang="en-US" dirty="0">
                <a:solidFill>
                  <a:schemeClr val="accent1"/>
                </a:solidFill>
              </a:rPr>
              <a:t>anti-pattern</a:t>
            </a:r>
            <a:r>
              <a:rPr lang="en-US" dirty="0"/>
              <a:t>. </a:t>
            </a:r>
          </a:p>
          <a:p>
            <a:pPr lvl="1"/>
            <a:r>
              <a:rPr lang="en-US" dirty="0"/>
              <a:t>The DSM in the previous figure shows the </a:t>
            </a:r>
            <a:r>
              <a:rPr lang="en-US" u="sng" dirty="0"/>
              <a:t>io.sstable.SSTableReader</a:t>
            </a:r>
            <a:r>
              <a:rPr lang="en-US" dirty="0"/>
              <a:t> class (row 14) inheriting from </a:t>
            </a:r>
            <a:r>
              <a:rPr lang="en-US" u="sng" dirty="0"/>
              <a:t>io.sstable.SSTable </a:t>
            </a:r>
            <a:r>
              <a:rPr lang="en-US" dirty="0"/>
              <a:t>(row 12).</a:t>
            </a:r>
          </a:p>
          <a:p>
            <a:pPr lvl="1"/>
            <a:r>
              <a:rPr lang="en-US" dirty="0"/>
              <a:t>The inheritance relationship is indicated in the DSM by the “ih” notation.</a:t>
            </a:r>
          </a:p>
          <a:p>
            <a:pPr lvl="1"/>
            <a:r>
              <a:rPr lang="en-US" dirty="0"/>
              <a:t>Note, however, that </a:t>
            </a:r>
            <a:r>
              <a:rPr lang="en-US" u="sng" dirty="0"/>
              <a:t>io.sstable.SSTable</a:t>
            </a:r>
            <a:r>
              <a:rPr lang="en-US" dirty="0"/>
              <a:t> depends on </a:t>
            </a:r>
            <a:r>
              <a:rPr lang="en-US" u="sng" dirty="0"/>
              <a:t>io.sstable.SSTableReader</a:t>
            </a:r>
            <a:r>
              <a:rPr lang="en-US" dirty="0"/>
              <a:t>, as indicated by the “dp” annotation in cell (12, 14).</a:t>
            </a:r>
          </a:p>
          <a:p>
            <a:pPr lvl="1"/>
            <a:r>
              <a:rPr lang="en-US" dirty="0"/>
              <a:t>This dependency is a calling relation, which means that the parent class calls the child class. </a:t>
            </a:r>
          </a:p>
          <a:p>
            <a:pPr lvl="1"/>
            <a:r>
              <a:rPr lang="en-US" dirty="0"/>
              <a:t>Note that the cells (12, 14) and (14, 12) both have number 68. This represents the number of times that </a:t>
            </a:r>
            <a:r>
              <a:rPr lang="en-US" u="sng" dirty="0"/>
              <a:t>io.sstable.SSTable</a:t>
            </a:r>
            <a:r>
              <a:rPr lang="en-US" dirty="0"/>
              <a:t> and </a:t>
            </a:r>
            <a:r>
              <a:rPr lang="en-US" u="sng" dirty="0"/>
              <a:t>io.sstable.SSTableReader</a:t>
            </a:r>
            <a:r>
              <a:rPr lang="en-US" dirty="0"/>
              <a:t> were </a:t>
            </a:r>
            <a:r>
              <a:rPr lang="en-US" dirty="0">
                <a:solidFill>
                  <a:schemeClr val="accent1"/>
                </a:solidFill>
              </a:rPr>
              <a:t>co-committed</a:t>
            </a:r>
            <a:r>
              <a:rPr lang="en-US" dirty="0"/>
              <a:t> in changes.</a:t>
            </a:r>
          </a:p>
          <a:p>
            <a:r>
              <a:rPr lang="en-US" dirty="0"/>
              <a:t>This excessively high number of co-changes is a form of debt. </a:t>
            </a:r>
          </a:p>
          <a:p>
            <a:pPr lvl="1"/>
            <a:r>
              <a:rPr lang="en-US" dirty="0"/>
              <a:t>This debt can be removed by moving some functionality from the child class to the parent.</a:t>
            </a:r>
          </a:p>
          <a:p>
            <a:pPr lvl="1"/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776D216-EEB7-83AC-1D29-D7FF0EAD4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23.2 Discovering Hotspots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AFEF5E-8589-4F2F-60A2-D196A758FEF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61803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C319BB8-2507-B663-BEEB-E040A780C8D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We illustrate this process with a case study, which we call SS1, done with SoftServe, a multinational software outsourcing company.</a:t>
            </a:r>
          </a:p>
          <a:p>
            <a:r>
              <a:rPr lang="en-US" dirty="0"/>
              <a:t>We identified hotspots using the process just described.</a:t>
            </a:r>
          </a:p>
          <a:p>
            <a:pPr lvl="1"/>
            <a:r>
              <a:rPr lang="en-US" dirty="0"/>
              <a:t>Three clusters of architecturally related files emerged as hotspots, totaling 291 files (</a:t>
            </a:r>
            <a:r>
              <a:rPr lang="en-US" dirty="0">
                <a:solidFill>
                  <a:schemeClr val="accent1"/>
                </a:solidFill>
              </a:rPr>
              <a:t>about one-third</a:t>
            </a:r>
            <a:r>
              <a:rPr lang="en-US" dirty="0"/>
              <a:t> of the system).</a:t>
            </a:r>
          </a:p>
          <a:p>
            <a:pPr lvl="1"/>
            <a:r>
              <a:rPr lang="en-US" dirty="0"/>
              <a:t>The number of defects associated with these three clusters covered </a:t>
            </a:r>
            <a:r>
              <a:rPr lang="en-US" dirty="0">
                <a:solidFill>
                  <a:schemeClr val="accent1"/>
                </a:solidFill>
              </a:rPr>
              <a:t>89 percent </a:t>
            </a:r>
            <a:r>
              <a:rPr lang="en-US" dirty="0"/>
              <a:t>of the project’s total defects.</a:t>
            </a:r>
          </a:p>
          <a:p>
            <a:r>
              <a:rPr lang="en-US" dirty="0"/>
              <a:t>The chief architect of the project agreed that these clusters were problematic but had difficulty explaining why.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42FD8B0-7AD2-15D4-939C-9A92072280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23.3 Example: Identifying Hotspots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5E906A-F4B6-954A-DBBE-8D7E0099C8D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89873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E631AFC-2CF4-EA46-85B5-5471A503D26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This section quantifies the cost and benefits of refactoring SS1’s identified architecture debt.</a:t>
            </a:r>
          </a:p>
          <a:p>
            <a:r>
              <a:rPr lang="en-US" dirty="0"/>
              <a:t>Refactoring cost estimate: 14 person-months to remediate the three hotspots.</a:t>
            </a:r>
          </a:p>
          <a:p>
            <a:r>
              <a:rPr lang="en-US" dirty="0"/>
              <a:t>Company average bug-fix rate: 0.33 fixes per file per year across the project.</a:t>
            </a:r>
          </a:p>
          <a:p>
            <a:r>
              <a:rPr lang="en-US" dirty="0"/>
              <a:t>Hotspot files averaged 237.8 bug fixes annually before refactoring.</a:t>
            </a:r>
          </a:p>
          <a:p>
            <a:r>
              <a:rPr lang="en-US" dirty="0"/>
              <a:t>Conservatively assuming post-refactor rate equals company average yields 96 fixes—translating to 41.35 person-months saved per year.</a:t>
            </a:r>
          </a:p>
          <a:p>
            <a:r>
              <a:rPr lang="en-US" dirty="0"/>
              <a:t>Return on investment: 14 months spent yields over 41 months saved, improving feature velocity and reducing bug-fix time.</a:t>
            </a:r>
          </a:p>
          <a:p>
            <a:r>
              <a:rPr lang="en-US" dirty="0"/>
              <a:t>In case after case, we have seen these kinds of returns on investment.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7ACA8D9-837F-4768-646A-DAAE9385C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Quantifying Architecture Debt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7EB449-B1DA-AC2D-2A8F-0C29ADF2B8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228799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9561307-0352-1A52-8329-238CFDF143A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This form of architectural analysis can be fully </a:t>
            </a:r>
            <a:r>
              <a:rPr lang="en-US" dirty="0">
                <a:solidFill>
                  <a:schemeClr val="accent1"/>
                </a:solidFill>
              </a:rPr>
              <a:t>automated</a:t>
            </a:r>
            <a:r>
              <a:rPr lang="en-US" dirty="0"/>
              <a:t>. </a:t>
            </a:r>
          </a:p>
          <a:p>
            <a:r>
              <a:rPr lang="en-US" dirty="0"/>
              <a:t>Each of the anti-patterns can be identified in an automated fashion. </a:t>
            </a:r>
          </a:p>
          <a:p>
            <a:r>
              <a:rPr lang="en-US" dirty="0"/>
              <a:t>This analysis process requires the following tools:</a:t>
            </a:r>
          </a:p>
          <a:p>
            <a:pPr lvl="1"/>
            <a:r>
              <a:rPr lang="en-US" dirty="0"/>
              <a:t>A tool to extract a set of issues from an issue tracker</a:t>
            </a:r>
          </a:p>
          <a:p>
            <a:pPr lvl="1"/>
            <a:r>
              <a:rPr lang="en-US" dirty="0"/>
              <a:t>A tool to extract a log from a revision control system</a:t>
            </a:r>
          </a:p>
          <a:p>
            <a:pPr lvl="1"/>
            <a:r>
              <a:rPr lang="en-US" dirty="0"/>
              <a:t>A tool to</a:t>
            </a:r>
            <a:r>
              <a:rPr lang="en-US" dirty="0">
                <a:solidFill>
                  <a:schemeClr val="accent1"/>
                </a:solidFill>
              </a:rPr>
              <a:t> reverse-engineer </a:t>
            </a:r>
            <a:r>
              <a:rPr lang="en-US" dirty="0"/>
              <a:t>the code base, to determine the syntactic dependencies among files</a:t>
            </a:r>
          </a:p>
          <a:p>
            <a:pPr lvl="1"/>
            <a:r>
              <a:rPr lang="en-US" dirty="0"/>
              <a:t>A tool to build </a:t>
            </a:r>
            <a:r>
              <a:rPr lang="en-US" dirty="0">
                <a:solidFill>
                  <a:schemeClr val="accent1"/>
                </a:solidFill>
              </a:rPr>
              <a:t>DSMs</a:t>
            </a:r>
            <a:r>
              <a:rPr lang="en-US" dirty="0"/>
              <a:t> from the extracted information and walk through the DSM looking for the anti-patterns</a:t>
            </a:r>
          </a:p>
          <a:p>
            <a:pPr lvl="1"/>
            <a:r>
              <a:rPr lang="en-US" dirty="0"/>
              <a:t>A tool that calculates the debt associated with each hotspot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4DA96DA-4517-1DDB-143D-BE8EF5DEBA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23.4 Automation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4DB7FA-2D6A-576C-800A-612C3F1CCE0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335628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543395B-83AC-1F94-18DA-0B61100CDBB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AC99B89-B1A7-A64A-ECF6-7E4E4B3366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23.5 Summary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7C1BE7-237B-998D-7AFF-DC9089796C3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17171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imes New Roman-Arial">
      <a:majorFont>
        <a:latin typeface="Times New Roman" panose="02020603050405020304"/>
        <a:ea typeface=""/>
        <a:cs typeface=""/>
        <a:font script="Jpan" typeface="ＭＳ Ｐ明朝"/>
        <a:font script="Hang" typeface="바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돋움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marL="285750" indent="-285750" algn="l">
          <a:buFont typeface="Arial" panose="020B0604020202020204" pitchFamily="34" charset="0"/>
          <a:buChar char="•"/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2749</TotalTime>
  <Words>1448</Words>
  <Application>Microsoft Office PowerPoint</Application>
  <PresentationFormat>Widescreen</PresentationFormat>
  <Paragraphs>120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Arial</vt:lpstr>
      <vt:lpstr>Calibri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Chapter Outline</vt:lpstr>
      <vt:lpstr>Introduction</vt:lpstr>
      <vt:lpstr>Introduction</vt:lpstr>
      <vt:lpstr>23.1 Determining Architecture Debt Problems</vt:lpstr>
      <vt:lpstr>PowerPoint Presentation</vt:lpstr>
      <vt:lpstr>Structural Dependencies</vt:lpstr>
      <vt:lpstr>PowerPoint Presentation</vt:lpstr>
      <vt:lpstr>Evolutionary Dependencies</vt:lpstr>
      <vt:lpstr>23.2 Discovering Hotspots</vt:lpstr>
      <vt:lpstr>23.2 Discovering Hotspots</vt:lpstr>
      <vt:lpstr>PowerPoint Presentation</vt:lpstr>
      <vt:lpstr>23.2 Discovering Hotspots</vt:lpstr>
      <vt:lpstr>PowerPoint Presentation</vt:lpstr>
      <vt:lpstr>23.2 Discovering Hotspots</vt:lpstr>
      <vt:lpstr>23.3 Example: Identifying Hotspots</vt:lpstr>
      <vt:lpstr>Quantifying Architecture Debt</vt:lpstr>
      <vt:lpstr>23.4 Automation</vt:lpstr>
      <vt:lpstr>23.5 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mohamad khorsandi</dc:creator>
  <cp:lastModifiedBy>mohamad khorsandi</cp:lastModifiedBy>
  <cp:revision>50</cp:revision>
  <dcterms:created xsi:type="dcterms:W3CDTF">2025-05-02T12:16:21Z</dcterms:created>
  <dcterms:modified xsi:type="dcterms:W3CDTF">2025-07-16T04:43:57Z</dcterms:modified>
</cp:coreProperties>
</file>