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9" r:id="rId2"/>
    <p:sldId id="264" r:id="rId3"/>
    <p:sldId id="268" r:id="rId4"/>
    <p:sldId id="266" r:id="rId5"/>
    <p:sldId id="269" r:id="rId6"/>
    <p:sldId id="289" r:id="rId7"/>
    <p:sldId id="271" r:id="rId8"/>
    <p:sldId id="272" r:id="rId9"/>
    <p:sldId id="275" r:id="rId10"/>
    <p:sldId id="276" r:id="rId11"/>
    <p:sldId id="277" r:id="rId12"/>
    <p:sldId id="273" r:id="rId13"/>
    <p:sldId id="278" r:id="rId14"/>
    <p:sldId id="279" r:id="rId15"/>
    <p:sldId id="282" r:id="rId16"/>
    <p:sldId id="280" r:id="rId17"/>
    <p:sldId id="283" r:id="rId18"/>
    <p:sldId id="284" r:id="rId19"/>
    <p:sldId id="285" r:id="rId20"/>
    <p:sldId id="286" r:id="rId21"/>
    <p:sldId id="287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77" autoAdjust="0"/>
  </p:normalViewPr>
  <p:slideViewPr>
    <p:cSldViewPr snapToGrid="0">
      <p:cViewPr varScale="1">
        <p:scale>
          <a:sx n="85" d="100"/>
          <a:sy n="85" d="100"/>
        </p:scale>
        <p:origin x="926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Managing Architecture Debt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23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0" dirty="0"/>
              <a:t>Some debts are fun when you are acquiring them, but none are fun when you set about retiring them.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—Ogden Nash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Determining Architecture Debt Problems</a:t>
            </a:r>
          </a:p>
          <a:p>
            <a:pPr lvl="1"/>
            <a:r>
              <a:rPr lang="en-US" dirty="0"/>
              <a:t>Structural Dependencies</a:t>
            </a:r>
          </a:p>
          <a:p>
            <a:pPr lvl="1"/>
            <a:r>
              <a:rPr lang="en-US" dirty="0"/>
              <a:t>Evolutionary Dependencies</a:t>
            </a:r>
          </a:p>
          <a:p>
            <a:r>
              <a:rPr lang="en-US" dirty="0"/>
              <a:t>Discovering Hotspots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Identifying Hotspots</a:t>
            </a:r>
          </a:p>
          <a:p>
            <a:pPr lvl="1"/>
            <a:r>
              <a:rPr lang="en-US" dirty="0"/>
              <a:t>Quantifying Architecture Debt</a:t>
            </a:r>
          </a:p>
          <a:p>
            <a:r>
              <a:rPr lang="en-US" dirty="0"/>
              <a:t>Automation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3ED8DE-7D44-DB8F-3ABF-1C40B58B26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Is Architecture Debt?</a:t>
            </a:r>
          </a:p>
          <a:p>
            <a:pPr lvl="1"/>
            <a:r>
              <a:rPr lang="en-US" dirty="0"/>
              <a:t>In software development </a:t>
            </a:r>
            <a:r>
              <a:rPr lang="en-US" dirty="0">
                <a:solidFill>
                  <a:schemeClr val="accent1"/>
                </a:solidFill>
              </a:rPr>
              <a:t>technical debt </a:t>
            </a:r>
            <a:r>
              <a:rPr lang="en-US" dirty="0"/>
              <a:t>is the consequences of choosing quick, easy solutions in over more robust, long-term solutions.</a:t>
            </a:r>
          </a:p>
          <a:p>
            <a:pPr lvl="1"/>
            <a:r>
              <a:rPr lang="en-US" dirty="0"/>
              <a:t>Designs become harder to maintain and evolve over time; we call this entropy </a:t>
            </a:r>
            <a:r>
              <a:rPr lang="en-US" dirty="0">
                <a:solidFill>
                  <a:schemeClr val="accent1"/>
                </a:solidFill>
              </a:rPr>
              <a:t>architecture debt</a:t>
            </a:r>
            <a:r>
              <a:rPr lang="en-US" dirty="0"/>
              <a:t>, a costly form of </a:t>
            </a:r>
            <a:r>
              <a:rPr lang="en-US" dirty="0">
                <a:solidFill>
                  <a:schemeClr val="accent1"/>
                </a:solidFill>
              </a:rPr>
              <a:t>technical debt</a:t>
            </a:r>
            <a:r>
              <a:rPr lang="en-US" dirty="0"/>
              <a:t>.</a:t>
            </a:r>
          </a:p>
          <a:p>
            <a:r>
              <a:rPr lang="en-US" dirty="0"/>
              <a:t>Why It’s Hard to Manage?</a:t>
            </a:r>
          </a:p>
          <a:p>
            <a:pPr lvl="1"/>
            <a:r>
              <a:rPr lang="en-US" dirty="0"/>
              <a:t>Architecture debt is more difficult to detect and eradicate than </a:t>
            </a:r>
            <a:r>
              <a:rPr lang="en-US" dirty="0">
                <a:solidFill>
                  <a:schemeClr val="accent1"/>
                </a:solidFill>
              </a:rPr>
              <a:t>code debt </a:t>
            </a:r>
            <a:r>
              <a:rPr lang="en-US" dirty="0"/>
              <a:t>because it involves non-local concerns.</a:t>
            </a:r>
          </a:p>
          <a:p>
            <a:pPr lvl="1"/>
            <a:r>
              <a:rPr lang="en-US" dirty="0"/>
              <a:t>Tools for discovering code debt—code inspections, code quality checkers, and so forth—typically do not work well for detecting architecture debt.</a:t>
            </a:r>
          </a:p>
          <a:p>
            <a:r>
              <a:rPr lang="en-US" dirty="0"/>
              <a:t>Not all debt is bad; sometimes principles (like low coupling or high cohesion) are sacrificed for worthy trade-offs, such as improving runtime performance or time to market.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5EFD45-62C0-98DC-87BD-9CE9F70E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C8EE7-DF53-7020-F173-D19F79D757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1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AE1F57E-28EE-1345-8F30-873DCF48F61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05" r="-28505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991B6-7545-F709-9EE9-9E358758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Technical debt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032E1-4764-C708-6350-D71CD91343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82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0339D9-2FBC-465A-80AF-27C56DEE88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chapter introduces a process to analyze existing systems for architecture debt.</a:t>
            </a:r>
          </a:p>
          <a:p>
            <a:r>
              <a:rPr lang="en-US" dirty="0"/>
              <a:t>Paying Down Debt: The Business Case</a:t>
            </a:r>
          </a:p>
          <a:p>
            <a:pPr lvl="1"/>
            <a:r>
              <a:rPr lang="en-US" dirty="0"/>
              <a:t>Once identified, architecture debt should be removed through refactoring.</a:t>
            </a:r>
          </a:p>
          <a:p>
            <a:r>
              <a:rPr lang="en-US" dirty="0">
                <a:solidFill>
                  <a:schemeClr val="accent1"/>
                </a:solidFill>
              </a:rPr>
              <a:t>Quantitative evidence of payoff </a:t>
            </a:r>
            <a:r>
              <a:rPr lang="en-US" dirty="0"/>
              <a:t>is needed to persuade stakeholders. </a:t>
            </a:r>
          </a:p>
          <a:p>
            <a:pPr lvl="1"/>
            <a:r>
              <a:rPr lang="en-US" dirty="0"/>
              <a:t>framed in terms of </a:t>
            </a:r>
            <a:r>
              <a:rPr lang="en-US" dirty="0">
                <a:solidFill>
                  <a:schemeClr val="accent1"/>
                </a:solidFill>
              </a:rPr>
              <a:t>ROI</a:t>
            </a:r>
            <a:r>
              <a:rPr lang="en-US" dirty="0"/>
              <a:t> (Return on Investment) and increased productivity.</a:t>
            </a:r>
          </a:p>
          <a:p>
            <a:pPr lvl="1"/>
            <a:r>
              <a:rPr lang="en-US" dirty="0"/>
              <a:t>not just “three months of refactoring with no new functionality”.</a:t>
            </a:r>
          </a:p>
          <a:p>
            <a:r>
              <a:rPr lang="en-US" dirty="0"/>
              <a:t>The process that we advocate requires three types of information: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Source code</a:t>
            </a:r>
            <a:r>
              <a:rPr lang="en-US" dirty="0"/>
              <a:t> to determine structural dependencies.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Revision history </a:t>
            </a:r>
            <a:r>
              <a:rPr lang="en-US" dirty="0"/>
              <a:t>to determine co-evolution of code units. (using VCS)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Issue information </a:t>
            </a:r>
            <a:r>
              <a:rPr lang="en-US" dirty="0"/>
              <a:t>to determine the reasons for changes.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BEB7A8-9DC9-A204-57A1-7A60F2A3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5FAE7-F061-0EF3-4CC8-5BD2BD4CB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4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D1337-5E41-27C6-930F-28B521FC1D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our process for managing architecture debt, we focus on the files in which source code is stored.</a:t>
            </a:r>
          </a:p>
          <a:p>
            <a:r>
              <a:rPr lang="en-US" dirty="0"/>
              <a:t>Architecturally connected files are identified by: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static dependencies: </a:t>
            </a:r>
            <a:r>
              <a:rPr lang="en-US" dirty="0"/>
              <a:t>extracted via a static code analysis tool.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evolutionary dependencies: </a:t>
            </a:r>
            <a:r>
              <a:rPr lang="en-US" dirty="0"/>
              <a:t>extracted from revision history when files co‑change.</a:t>
            </a:r>
          </a:p>
          <a:p>
            <a:pPr lvl="2"/>
            <a:r>
              <a:rPr lang="en-US" dirty="0"/>
              <a:t>For example, using git to analyze which files change together.</a:t>
            </a:r>
          </a:p>
          <a:p>
            <a:r>
              <a:rPr lang="en-US" dirty="0"/>
              <a:t>Representing Dependencies with a DSM</a:t>
            </a:r>
          </a:p>
          <a:p>
            <a:pPr lvl="1"/>
            <a:r>
              <a:rPr lang="en-US" dirty="0"/>
              <a:t>A design structure matrix (</a:t>
            </a:r>
            <a:r>
              <a:rPr lang="en-US" dirty="0">
                <a:solidFill>
                  <a:schemeClr val="accent1"/>
                </a:solidFill>
              </a:rPr>
              <a:t>DSM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dirty="0"/>
              <a:t>is an </a:t>
            </a:r>
            <a:r>
              <a:rPr lang="en-US" dirty="0">
                <a:solidFill>
                  <a:schemeClr val="tx1"/>
                </a:solidFill>
              </a:rPr>
              <a:t>adjacency matrix </a:t>
            </a:r>
            <a:r>
              <a:rPr lang="en-US" dirty="0"/>
              <a:t>where both rows and columns list files in the same order, and cells are annotated to show dependency types.</a:t>
            </a:r>
          </a:p>
          <a:p>
            <a:pPr lvl="1"/>
            <a:r>
              <a:rPr lang="en-US" dirty="0"/>
              <a:t>Cells show </a:t>
            </a:r>
            <a:r>
              <a:rPr lang="en-US" dirty="0">
                <a:solidFill>
                  <a:schemeClr val="accent1"/>
                </a:solidFill>
              </a:rPr>
              <a:t>structural relations </a:t>
            </a:r>
            <a:r>
              <a:rPr lang="en-US" dirty="0"/>
              <a:t>(inheritance, calls) or </a:t>
            </a:r>
            <a:r>
              <a:rPr lang="en-US" dirty="0">
                <a:solidFill>
                  <a:schemeClr val="accent1"/>
                </a:solidFill>
              </a:rPr>
              <a:t>evolutionary relations </a:t>
            </a:r>
            <a:r>
              <a:rPr lang="en-US" dirty="0"/>
              <a:t>(co‑changes in history).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2E5D9C-C92E-4544-DC0B-FE6069BB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Determining Architecture Debt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45FE0-451D-6242-BFF4-52CF7DB894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1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87242CB-97F2-272A-61DD-8813320EE42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85" r="-2485"/>
          <a:stretch/>
        </p:blipFill>
        <p:spPr>
          <a:xfrm>
            <a:off x="1298154" y="527276"/>
            <a:ext cx="9595692" cy="539757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00B7B-3AD0-3416-61ED-C773D17D89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2873" y="6088677"/>
            <a:ext cx="11036300" cy="484094"/>
          </a:xfrm>
        </p:spPr>
        <p:txBody>
          <a:bodyPr/>
          <a:lstStyle/>
          <a:p>
            <a:r>
              <a:rPr lang="en-US" sz="1800" dirty="0"/>
              <a:t>A DSM of Apache Camel showing structural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4439F-CBD4-7021-721D-89917566A2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7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CD9095-3B82-289D-E27F-9DAC7FF55E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Previous page figure is DSM of </a:t>
            </a:r>
            <a:r>
              <a:rPr lang="en-US" sz="2400" dirty="0">
                <a:solidFill>
                  <a:schemeClr val="accent1"/>
                </a:solidFill>
              </a:rPr>
              <a:t>structural dependencies</a:t>
            </a:r>
            <a:r>
              <a:rPr lang="en-US" dirty="0"/>
              <a:t> for 11 Camel files.</a:t>
            </a:r>
          </a:p>
          <a:p>
            <a:pPr lvl="1"/>
            <a:r>
              <a:rPr lang="en-US" dirty="0"/>
              <a:t>Camel is an open-source java framework.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Dependency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implementation</a:t>
            </a:r>
            <a:r>
              <a:rPr lang="en-US" dirty="0"/>
              <a:t>, and </a:t>
            </a:r>
            <a:r>
              <a:rPr lang="en-US" dirty="0">
                <a:solidFill>
                  <a:schemeClr val="accent1"/>
                </a:solidFill>
              </a:rPr>
              <a:t>extension</a:t>
            </a:r>
            <a:r>
              <a:rPr lang="en-US" dirty="0"/>
              <a:t>, indicated by the labels “dp,” “</a:t>
            </a:r>
            <a:r>
              <a:rPr lang="en-US" dirty="0" err="1"/>
              <a:t>im</a:t>
            </a:r>
            <a:r>
              <a:rPr lang="en-US" dirty="0"/>
              <a:t>,” and “ex”.</a:t>
            </a:r>
          </a:p>
          <a:p>
            <a:pPr lvl="1"/>
            <a:r>
              <a:rPr lang="en-US" dirty="0"/>
              <a:t>For example, The file on row 9 of this Figure (MethodCallExpression.java) depends on and extends the file on column 1 (ExpressionDefinition.java).</a:t>
            </a:r>
          </a:p>
          <a:p>
            <a:pPr lvl="1"/>
            <a:r>
              <a:rPr lang="en-US" dirty="0"/>
              <a:t>These static dependencies are extracted by </a:t>
            </a:r>
            <a:r>
              <a:rPr lang="en-US" dirty="0">
                <a:solidFill>
                  <a:schemeClr val="accent1"/>
                </a:solidFill>
              </a:rPr>
              <a:t>reverse-engineering</a:t>
            </a:r>
            <a:r>
              <a:rPr lang="en-US" dirty="0"/>
              <a:t> the source code.</a:t>
            </a:r>
          </a:p>
          <a:p>
            <a:r>
              <a:rPr lang="en-US" dirty="0"/>
              <a:t>Interpreting a DSM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sparse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lower‑diagonal </a:t>
            </a:r>
            <a:r>
              <a:rPr lang="en-US" dirty="0"/>
              <a:t>DSM indicates low coupling and no cyclic dependencies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dense</a:t>
            </a:r>
            <a:r>
              <a:rPr lang="en-US" dirty="0"/>
              <a:t> or </a:t>
            </a:r>
            <a:r>
              <a:rPr lang="en-US" dirty="0">
                <a:solidFill>
                  <a:schemeClr val="accent1"/>
                </a:solidFill>
              </a:rPr>
              <a:t>above‑diagonal </a:t>
            </a:r>
            <a:r>
              <a:rPr lang="en-US" dirty="0"/>
              <a:t>DSM signals problematic coupling</a:t>
            </a:r>
          </a:p>
          <a:p>
            <a:r>
              <a:rPr lang="en-US" dirty="0"/>
              <a:t>Example DSM is sparse. these files aren’t heavily structurally coupled, suggesting low architecture debt.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2E39B9-2612-0F5B-C25D-BDD9B953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sz="3600" dirty="0"/>
              <a:t>tructural </a:t>
            </a:r>
            <a:r>
              <a:rPr lang="en-US" dirty="0"/>
              <a:t>D</a:t>
            </a:r>
            <a:r>
              <a:rPr lang="en-US" sz="3600" dirty="0"/>
              <a:t>ependencies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DE5F6-51A4-C46E-D988-DD8A60C0A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7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137F0A8-D943-EC04-AFCC-B326849D3CE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813" b="-3813"/>
          <a:stretch/>
        </p:blipFill>
        <p:spPr>
          <a:xfrm>
            <a:off x="1153992" y="518311"/>
            <a:ext cx="9884016" cy="5559759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9D04B-7149-49C1-4FE5-43E549C3F0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625" y="6078070"/>
            <a:ext cx="11036300" cy="484095"/>
          </a:xfrm>
        </p:spPr>
        <p:txBody>
          <a:bodyPr/>
          <a:lstStyle/>
          <a:p>
            <a:r>
              <a:rPr lang="en-US" sz="2000" dirty="0"/>
              <a:t>A DSM of Apache Camel showing </a:t>
            </a:r>
            <a:r>
              <a:rPr lang="en-US" dirty="0"/>
              <a:t>evolutionary dependencies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F64CE-C24C-1954-54C3-1B92B10C89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06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AF1B3-B5C7-DC42-083D-411299DEFB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Previous figure shows a dense DSM with many </a:t>
            </a:r>
            <a:r>
              <a:rPr lang="en-US" dirty="0">
                <a:solidFill>
                  <a:schemeClr val="accent1"/>
                </a:solidFill>
              </a:rPr>
              <a:t>above‑diagonal</a:t>
            </a:r>
            <a:r>
              <a:rPr lang="en-US" dirty="0"/>
              <a:t> entries, revealing strong </a:t>
            </a:r>
            <a:r>
              <a:rPr lang="en-US" dirty="0">
                <a:solidFill>
                  <a:schemeClr val="accent1"/>
                </a:solidFill>
              </a:rPr>
              <a:t>evolutionary coupling</a:t>
            </a:r>
            <a:r>
              <a:rPr lang="en-US" dirty="0"/>
              <a:t> and high debt.</a:t>
            </a:r>
          </a:p>
          <a:p>
            <a:pPr lvl="1"/>
            <a:r>
              <a:rPr lang="en-US" dirty="0"/>
              <a:t>For example, XMLTokenizerExpression.java depends on ExpressionDefinition.java and they co‑changed three times (marked ‘</a:t>
            </a:r>
            <a:r>
              <a:rPr lang="en-US" dirty="0" err="1"/>
              <a:t>dp</a:t>
            </a:r>
            <a:r>
              <a:rPr lang="en-US" dirty="0"/>
              <a:t>, 3’).</a:t>
            </a:r>
          </a:p>
          <a:p>
            <a:r>
              <a:rPr lang="en-US" dirty="0"/>
              <a:t>Architects report that dense evolutionary coupling leads to costly, complex changes and unpredictable delivery of features and bug fixes.</a:t>
            </a:r>
          </a:p>
          <a:p>
            <a:r>
              <a:rPr lang="en-US" dirty="0"/>
              <a:t>We can automatically quantify debt by identifying ‘hotspots’; areas of the architecture with concentrated design flaws.</a:t>
            </a:r>
          </a:p>
          <a:p>
            <a:r>
              <a:rPr lang="en-US" dirty="0">
                <a:solidFill>
                  <a:schemeClr val="accent1"/>
                </a:solidFill>
              </a:rPr>
              <a:t>Hotspots</a:t>
            </a:r>
            <a:r>
              <a:rPr lang="en-US" dirty="0"/>
              <a:t> are modules that exhibit both high coupling and high maintenance cost, guiding targeted refactoring.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3B8ED6-7B2B-B572-BE8F-646CE190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09A58-D620-790B-EF99-782803CAB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7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3E4C62-B20B-6E57-483C-91EECB3C0A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If bug rates are rising and feature velocity is slowing, you need to pinpoint the specific files and flawed relationships causing architecture debt.</a:t>
            </a:r>
          </a:p>
          <a:p>
            <a:r>
              <a:rPr lang="en-US" dirty="0"/>
              <a:t>Architecture debt root causes are often distributed across multiple files and their interrelationships, making them hard to observe without automation.</a:t>
            </a:r>
          </a:p>
          <a:p>
            <a:r>
              <a:rPr lang="en-US" dirty="0"/>
              <a:t>Hotspots are sets of elements that make outsized contributions to maintenance costs due to high coupling and low cohesion.</a:t>
            </a:r>
          </a:p>
          <a:p>
            <a:r>
              <a:rPr lang="en-US" dirty="0"/>
              <a:t>We detect hotspots by identifying six common anti-patterns: </a:t>
            </a:r>
            <a:r>
              <a:rPr lang="en-US" dirty="0">
                <a:solidFill>
                  <a:schemeClr val="accent1"/>
                </a:solidFill>
              </a:rPr>
              <a:t>unstable interface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modularity violation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unhealthy inheritance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cyclic dependency </a:t>
            </a:r>
            <a:r>
              <a:rPr lang="en-US" dirty="0"/>
              <a:t>(clique), </a:t>
            </a:r>
            <a:r>
              <a:rPr lang="en-US" dirty="0">
                <a:solidFill>
                  <a:schemeClr val="accent1"/>
                </a:solidFill>
              </a:rPr>
              <a:t>package cycle</a:t>
            </a:r>
            <a:r>
              <a:rPr lang="en-US" dirty="0"/>
              <a:t>, and </a:t>
            </a:r>
            <a:r>
              <a:rPr lang="en-US" dirty="0">
                <a:solidFill>
                  <a:schemeClr val="accent1"/>
                </a:solidFill>
              </a:rPr>
              <a:t>crossing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8D3ACA-B34B-0D20-CC3A-0CD04DEB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Hotspots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CEBCE-CD0D-3AAE-BCF4-9E9FF2989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250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0C2CA0-70AA-6A60-BB4B-9BD506FCA3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28600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Unstable interface</a:t>
            </a:r>
            <a:r>
              <a:rPr lang="en-US" dirty="0"/>
              <a:t>: A key file with many dependents changes frequently alongside those dependents.</a:t>
            </a:r>
          </a:p>
          <a:p>
            <a:pPr marL="228600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Modularity violation: </a:t>
            </a:r>
            <a:r>
              <a:rPr lang="en-US" dirty="0"/>
              <a:t>Structurally independent files change together often.</a:t>
            </a:r>
          </a:p>
          <a:p>
            <a:pPr marL="228600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Unhealthy inheritance: </a:t>
            </a:r>
            <a:r>
              <a:rPr lang="en-US" dirty="0"/>
              <a:t>A parent class depends on a subclass, or a client depends on both parent and child classes.</a:t>
            </a:r>
          </a:p>
          <a:p>
            <a:pPr marL="228600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Cyclic dependency </a:t>
            </a:r>
            <a:r>
              <a:rPr lang="en-US" dirty="0"/>
              <a:t>(clique): A group of files forms a strongly connected graph of mutual dependencies.</a:t>
            </a:r>
          </a:p>
          <a:p>
            <a:pPr marL="228600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Package cycle: </a:t>
            </a:r>
            <a:r>
              <a:rPr lang="en-US" dirty="0"/>
              <a:t>Two or more packages depend on each other instead of forming a proper hierarchy.</a:t>
            </a:r>
          </a:p>
          <a:p>
            <a:pPr marL="228600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Crossing: </a:t>
            </a:r>
            <a:r>
              <a:rPr lang="en-US" dirty="0"/>
              <a:t>A file with high fan-in and fan-out also co-changes frequently with its dependents and dependencies.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6CEB86-3BDC-354B-AC77-0A5348EE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Hotspots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2FF7-5DFC-3E91-0C84-7E584BF57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8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4AFD188-92D6-5128-FBE1-D9A2F9F9A7F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381" b="-12381"/>
          <a:stretch/>
        </p:blipFill>
        <p:spPr>
          <a:xfrm>
            <a:off x="1040345" y="474311"/>
            <a:ext cx="9931827" cy="558665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FAAA4-7D5A-CF24-E648-71E8724FB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149" y="6060964"/>
            <a:ext cx="10900745" cy="501201"/>
          </a:xfrm>
        </p:spPr>
        <p:txBody>
          <a:bodyPr/>
          <a:lstStyle/>
          <a:p>
            <a:r>
              <a:rPr lang="en-US" dirty="0"/>
              <a:t>An example of a clique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36344-23F4-04DF-2994-559169E850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382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A8B397-ED4A-84D2-BCE3-6ED26E993D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Each such collection of tightly coupled files is a potential hotspot and candidate for debt removal, through refactoring.</a:t>
            </a:r>
          </a:p>
          <a:p>
            <a:r>
              <a:rPr lang="en-US" dirty="0"/>
              <a:t>Previous figure is a DSM based on files in Apache Cassandra—a widely used NoSQL database. It shows an example of a </a:t>
            </a:r>
            <a:r>
              <a:rPr lang="en-US" dirty="0">
                <a:solidFill>
                  <a:schemeClr val="accent1"/>
                </a:solidFill>
              </a:rPr>
              <a:t>clique</a:t>
            </a:r>
            <a:r>
              <a:rPr lang="en-US" dirty="0"/>
              <a:t> (a cycle of dependencies). </a:t>
            </a:r>
          </a:p>
          <a:p>
            <a:r>
              <a:rPr lang="en-US" dirty="0"/>
              <a:t>In this DSM, you can see that the file on row 8 (</a:t>
            </a:r>
            <a:r>
              <a:rPr lang="en-US" u="sng" dirty="0"/>
              <a:t>locator.AbstractReplicationStrategy</a:t>
            </a:r>
            <a:r>
              <a:rPr lang="en-US" dirty="0"/>
              <a:t>) depends on file 4 (</a:t>
            </a:r>
            <a:r>
              <a:rPr lang="en-US" u="sng" dirty="0"/>
              <a:t>service.WriteResponseHandler</a:t>
            </a:r>
            <a:r>
              <a:rPr lang="en-US" dirty="0"/>
              <a:t>) and aggregates file 5 (</a:t>
            </a:r>
            <a:r>
              <a:rPr lang="en-US" u="sng" dirty="0"/>
              <a:t>locator.TokenMetadata</a:t>
            </a:r>
            <a:r>
              <a:rPr lang="en-US" dirty="0"/>
              <a:t>). Files 4 and 5, in turn, depend on file 8, thus forming a clique.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2F19BF-715E-5C74-4200-E70B4840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Hotspots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D15C4-A8C7-DCA4-08B0-42437DD46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87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B756717-99D3-804E-1F38-C8B31B5C7BE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998" b="-15998"/>
          <a:stretch/>
        </p:blipFill>
        <p:spPr>
          <a:xfrm>
            <a:off x="1552575" y="474663"/>
            <a:ext cx="9086850" cy="5402262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428D4-5CCA-2067-40B0-3C6BD3A511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625" y="6071016"/>
            <a:ext cx="11036300" cy="491149"/>
          </a:xfrm>
        </p:spPr>
        <p:txBody>
          <a:bodyPr/>
          <a:lstStyle/>
          <a:p>
            <a:r>
              <a:rPr lang="it-IT" dirty="0"/>
              <a:t>Architecture anti-patterns in Apache Cassandra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F244-54EE-DA39-E568-8A06B5FA1C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30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096032-368D-98EE-9A5B-712A6DB731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Another example from Cassandra demonstrates the unhealthy inheritance </a:t>
            </a:r>
            <a:r>
              <a:rPr lang="en-US" dirty="0">
                <a:solidFill>
                  <a:schemeClr val="accent1"/>
                </a:solidFill>
              </a:rPr>
              <a:t>anti-pattern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DSM in the previous figure shows the </a:t>
            </a:r>
            <a:r>
              <a:rPr lang="en-US" u="sng" dirty="0"/>
              <a:t>io.sstable.SSTableReader</a:t>
            </a:r>
            <a:r>
              <a:rPr lang="en-US" dirty="0"/>
              <a:t> class (row 14) inheriting from </a:t>
            </a:r>
            <a:r>
              <a:rPr lang="en-US" u="sng" dirty="0"/>
              <a:t>io.sstable.SSTable </a:t>
            </a:r>
            <a:r>
              <a:rPr lang="en-US" dirty="0"/>
              <a:t>(row 12).</a:t>
            </a:r>
          </a:p>
          <a:p>
            <a:pPr lvl="1"/>
            <a:r>
              <a:rPr lang="en-US" dirty="0"/>
              <a:t>The inheritance relationship is indicated in the DSM by the “ih” notation.</a:t>
            </a:r>
          </a:p>
          <a:p>
            <a:pPr lvl="1"/>
            <a:r>
              <a:rPr lang="en-US" dirty="0"/>
              <a:t>Note, however, that </a:t>
            </a:r>
            <a:r>
              <a:rPr lang="en-US" u="sng" dirty="0"/>
              <a:t>io.sstable.SSTable</a:t>
            </a:r>
            <a:r>
              <a:rPr lang="en-US" dirty="0"/>
              <a:t> depends on </a:t>
            </a:r>
            <a:r>
              <a:rPr lang="en-US" u="sng" dirty="0"/>
              <a:t>io.sstable.SSTableReader</a:t>
            </a:r>
            <a:r>
              <a:rPr lang="en-US" dirty="0"/>
              <a:t>, as indicated by the “dp” annotation in cell (12, 14).</a:t>
            </a:r>
          </a:p>
          <a:p>
            <a:pPr lvl="1"/>
            <a:r>
              <a:rPr lang="en-US" dirty="0"/>
              <a:t>This dependency is a calling relation, which means that the parent class calls the child class. </a:t>
            </a:r>
          </a:p>
          <a:p>
            <a:pPr lvl="1"/>
            <a:r>
              <a:rPr lang="en-US" dirty="0"/>
              <a:t>Note that the cells (12, 14) and (14, 12) both have number 68. This represents the number of times that </a:t>
            </a:r>
            <a:r>
              <a:rPr lang="en-US" u="sng" dirty="0"/>
              <a:t>io.sstable.SSTable</a:t>
            </a:r>
            <a:r>
              <a:rPr lang="en-US" dirty="0"/>
              <a:t> and </a:t>
            </a:r>
            <a:r>
              <a:rPr lang="en-US" u="sng" dirty="0"/>
              <a:t>io.sstable.SSTableReader</a:t>
            </a:r>
            <a:r>
              <a:rPr lang="en-US" dirty="0"/>
              <a:t> were </a:t>
            </a:r>
            <a:r>
              <a:rPr lang="en-US" dirty="0">
                <a:solidFill>
                  <a:schemeClr val="accent1"/>
                </a:solidFill>
              </a:rPr>
              <a:t>co-committed</a:t>
            </a:r>
            <a:r>
              <a:rPr lang="en-US" dirty="0"/>
              <a:t> in changes.</a:t>
            </a:r>
          </a:p>
          <a:p>
            <a:r>
              <a:rPr lang="en-US" dirty="0"/>
              <a:t>This excessively high number of co-changes is a form of debt. </a:t>
            </a:r>
          </a:p>
          <a:p>
            <a:pPr lvl="1"/>
            <a:r>
              <a:rPr lang="en-US" dirty="0"/>
              <a:t>This debt can be removed by moving some functionality from the child class to the parent.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76D216-EEB7-83AC-1D29-D7FF0EAD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Hotspots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FEF5E-8589-4F2F-60A2-D196A758F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80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319BB8-2507-B663-BEEB-E040A780C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illustrate this process with a case study, which we call SS1, done with SoftServe, a multinational software outsourcing company.</a:t>
            </a:r>
          </a:p>
          <a:p>
            <a:r>
              <a:rPr lang="en-US" dirty="0"/>
              <a:t>We identified hotspots using the process just described.</a:t>
            </a:r>
          </a:p>
          <a:p>
            <a:pPr lvl="1"/>
            <a:r>
              <a:rPr lang="en-US" dirty="0"/>
              <a:t>Three clusters of architecturally related files emerged as hotspots, totaling 291 files (</a:t>
            </a:r>
            <a:r>
              <a:rPr lang="en-US" dirty="0">
                <a:solidFill>
                  <a:schemeClr val="accent1"/>
                </a:solidFill>
              </a:rPr>
              <a:t>about one-third</a:t>
            </a:r>
            <a:r>
              <a:rPr lang="en-US" dirty="0"/>
              <a:t> of the system).</a:t>
            </a:r>
          </a:p>
          <a:p>
            <a:pPr lvl="1"/>
            <a:r>
              <a:rPr lang="en-US" dirty="0"/>
              <a:t>The number of defects associated with these three clusters covered </a:t>
            </a:r>
            <a:r>
              <a:rPr lang="en-US" dirty="0">
                <a:solidFill>
                  <a:schemeClr val="accent1"/>
                </a:solidFill>
              </a:rPr>
              <a:t>89 percent </a:t>
            </a:r>
            <a:r>
              <a:rPr lang="en-US" dirty="0"/>
              <a:t>of the project’s total defects.</a:t>
            </a:r>
          </a:p>
          <a:p>
            <a:r>
              <a:rPr lang="en-US" dirty="0"/>
              <a:t>The chief architect of the project agreed that these clusters were problematic but had difficulty explaining why.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2FD8B0-7AD2-15D4-939C-9A9207228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Identifying Hotspots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E906A-F4B6-954A-DBBE-8D7E0099C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87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31AFC-2CF4-EA46-85B5-5471A503D2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section quantifies the cost and benefits of refactoring SS1’s identified architecture debt.</a:t>
            </a:r>
          </a:p>
          <a:p>
            <a:r>
              <a:rPr lang="en-US" dirty="0"/>
              <a:t>Refactoring cost estimate: 14 person-months to remediate the three hotspots.</a:t>
            </a:r>
          </a:p>
          <a:p>
            <a:r>
              <a:rPr lang="en-US" dirty="0"/>
              <a:t>Company average bug-fix rate: 0.33 fixes per file per year across the project.</a:t>
            </a:r>
          </a:p>
          <a:p>
            <a:r>
              <a:rPr lang="en-US" dirty="0"/>
              <a:t>Hotspot files averaged 237.8 bug fixes annually before refactoring.</a:t>
            </a:r>
          </a:p>
          <a:p>
            <a:r>
              <a:rPr lang="en-US" dirty="0"/>
              <a:t>Conservatively assuming post-refactor rate equals company average yields 96 fixes, translating to 41.35 person-months saved per year.</a:t>
            </a:r>
          </a:p>
          <a:p>
            <a:r>
              <a:rPr lang="en-US" dirty="0"/>
              <a:t>Return on investment: 14 months spent yields over 41 months saved, improving feature velocity and reducing bug-fix time.</a:t>
            </a:r>
          </a:p>
          <a:p>
            <a:r>
              <a:rPr lang="en-US" dirty="0"/>
              <a:t>In case after case, we have seen these kinds of returns on investment.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ACA8D9-837F-4768-646A-DAAE9385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Quantifying Architecture Debt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EB449-B1DA-AC2D-2A8F-0C29ADF2B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287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561307-0352-1A52-8329-238CFDF143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form of architectural analysis can be fully </a:t>
            </a:r>
            <a:r>
              <a:rPr lang="en-US" dirty="0">
                <a:solidFill>
                  <a:schemeClr val="accent1"/>
                </a:solidFill>
              </a:rPr>
              <a:t>automated</a:t>
            </a:r>
            <a:r>
              <a:rPr lang="en-US" dirty="0"/>
              <a:t>. </a:t>
            </a:r>
          </a:p>
          <a:p>
            <a:r>
              <a:rPr lang="en-US" dirty="0"/>
              <a:t>Each of the anti-patterns can be identified in an automated fashion. </a:t>
            </a:r>
          </a:p>
          <a:p>
            <a:r>
              <a:rPr lang="en-US" dirty="0"/>
              <a:t>This analysis process requires the following tools:</a:t>
            </a:r>
          </a:p>
          <a:p>
            <a:pPr lvl="1"/>
            <a:r>
              <a:rPr lang="en-US" dirty="0"/>
              <a:t>A tool to extract a set of issues from an issue tracker</a:t>
            </a:r>
          </a:p>
          <a:p>
            <a:pPr lvl="1"/>
            <a:r>
              <a:rPr lang="en-US" dirty="0"/>
              <a:t>A tool to extract a log from a revision control system</a:t>
            </a:r>
          </a:p>
          <a:p>
            <a:pPr lvl="1"/>
            <a:r>
              <a:rPr lang="en-US" dirty="0"/>
              <a:t>A tool to</a:t>
            </a:r>
            <a:r>
              <a:rPr lang="en-US" dirty="0">
                <a:solidFill>
                  <a:schemeClr val="accent1"/>
                </a:solidFill>
              </a:rPr>
              <a:t> reverse-engineer </a:t>
            </a:r>
            <a:r>
              <a:rPr lang="en-US" dirty="0"/>
              <a:t>the code base, to determine the syntactic dependencies among files</a:t>
            </a:r>
          </a:p>
          <a:p>
            <a:pPr lvl="1"/>
            <a:r>
              <a:rPr lang="en-US" dirty="0"/>
              <a:t>A tool to build </a:t>
            </a:r>
            <a:r>
              <a:rPr lang="en-US" dirty="0">
                <a:solidFill>
                  <a:schemeClr val="accent1"/>
                </a:solidFill>
              </a:rPr>
              <a:t>DSMs</a:t>
            </a:r>
            <a:r>
              <a:rPr lang="en-US" dirty="0"/>
              <a:t> from the extracted information and walk through the DSM looking for the anti-patterns</a:t>
            </a:r>
          </a:p>
          <a:p>
            <a:pPr lvl="1"/>
            <a:r>
              <a:rPr lang="en-US" dirty="0"/>
              <a:t>A tool that calculates the debt associated with each hotspot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DA96DA-4517-1DDB-143D-BE8EF5DE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DB7FA-2D6A-576C-800A-612C3F1CC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6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3395B-83AC-1F94-18DA-0B61100CD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chapter has presented a process for identifying and quantifying architecture debt in a project.  Architecture debt ,compared to code-based debt, is often harder to identify because its root causes are distributed among several files and their interrelationships.</a:t>
            </a:r>
          </a:p>
          <a:p>
            <a:r>
              <a:rPr lang="en-US" dirty="0"/>
              <a:t> The process outlined in this chapter involves gathering information from the project’s issue tracker, its revision control system, and the source code itself.</a:t>
            </a:r>
          </a:p>
          <a:p>
            <a:r>
              <a:rPr lang="en-US" dirty="0"/>
              <a:t>Using this information, architecture anti-patterns can be identified and grouped into hotspots, and the impact of these hotspots can be quantified.</a:t>
            </a:r>
          </a:p>
          <a:p>
            <a:r>
              <a:rPr lang="en-US" dirty="0"/>
              <a:t>Once architecture debt has been identified, if it is bad enough, it should be removed through refactoring.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99B89-B1A7-A64A-ECF6-7E4E4B33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1BE7-237B-998D-7AFF-DC9089796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2772</TotalTime>
  <Words>1599</Words>
  <Application>Microsoft Office PowerPoint</Application>
  <PresentationFormat>Widescreen</PresentationFormat>
  <Paragraphs>137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Introduction</vt:lpstr>
      <vt:lpstr>PowerPoint Presentation</vt:lpstr>
      <vt:lpstr>Introduction</vt:lpstr>
      <vt:lpstr>Determining Architecture Debt Problems</vt:lpstr>
      <vt:lpstr>PowerPoint Presentation</vt:lpstr>
      <vt:lpstr>Structural Dependencies</vt:lpstr>
      <vt:lpstr>PowerPoint Presentation</vt:lpstr>
      <vt:lpstr>Evolutionary Dependencies</vt:lpstr>
      <vt:lpstr>Discovering Hotspots</vt:lpstr>
      <vt:lpstr>Discovering Hotspots</vt:lpstr>
      <vt:lpstr>PowerPoint Presentation</vt:lpstr>
      <vt:lpstr>Discovering Hotspots</vt:lpstr>
      <vt:lpstr>PowerPoint Presentation</vt:lpstr>
      <vt:lpstr>Discovering Hotspots</vt:lpstr>
      <vt:lpstr>Example: Identifying Hotspots</vt:lpstr>
      <vt:lpstr>Example: Quantifying Architecture Debt</vt:lpstr>
      <vt:lpstr>Automation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55</cp:revision>
  <dcterms:created xsi:type="dcterms:W3CDTF">2025-05-02T12:16:21Z</dcterms:created>
  <dcterms:modified xsi:type="dcterms:W3CDTF">2025-07-26T05:21:12Z</dcterms:modified>
</cp:coreProperties>
</file>