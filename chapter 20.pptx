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9" r:id="rId2"/>
    <p:sldId id="264" r:id="rId3"/>
    <p:sldId id="268" r:id="rId4"/>
    <p:sldId id="266" r:id="rId5"/>
    <p:sldId id="267" r:id="rId6"/>
    <p:sldId id="269" r:id="rId7"/>
    <p:sldId id="270" r:id="rId8"/>
    <p:sldId id="272" r:id="rId9"/>
    <p:sldId id="271" r:id="rId10"/>
    <p:sldId id="273" r:id="rId11"/>
    <p:sldId id="274" r:id="rId12"/>
    <p:sldId id="275" r:id="rId13"/>
    <p:sldId id="276" r:id="rId14"/>
    <p:sldId id="281" r:id="rId15"/>
    <p:sldId id="277" r:id="rId16"/>
    <p:sldId id="278" r:id="rId17"/>
    <p:sldId id="279" r:id="rId18"/>
    <p:sldId id="280" r:id="rId19"/>
    <p:sldId id="282" r:id="rId20"/>
    <p:sldId id="283" r:id="rId21"/>
    <p:sldId id="284" r:id="rId22"/>
    <p:sldId id="285" r:id="rId23"/>
    <p:sldId id="286" r:id="rId24"/>
    <p:sldId id="287" r:id="rId25"/>
    <p:sldId id="289" r:id="rId26"/>
    <p:sldId id="290" r:id="rId27"/>
    <p:sldId id="288" r:id="rId28"/>
    <p:sldId id="291" r:id="rId29"/>
    <p:sldId id="292" r:id="rId30"/>
    <p:sldId id="293" r:id="rId31"/>
    <p:sldId id="294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644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732" autoAdjust="0"/>
    <p:restoredTop sz="94677" autoAdjust="0"/>
  </p:normalViewPr>
  <p:slideViewPr>
    <p:cSldViewPr snapToGrid="0">
      <p:cViewPr varScale="1">
        <p:scale>
          <a:sx n="50" d="100"/>
          <a:sy n="50" d="100"/>
        </p:scale>
        <p:origin x="48" y="81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7429BB-B4AE-1FD4-40CA-11DEC06DF3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36E014-1DD4-A911-0818-2801CAFD99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28E3B-7122-43E6-B3BB-09448C56C96C}" type="datetimeFigureOut">
              <a:rPr lang="en-US" smtClean="0"/>
              <a:t>25/05/14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07225-126A-9CD2-B38B-89A64803DA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9A47BA-80EE-701F-EBD0-8E5B9C8D04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F22B76-F21B-401A-98B3-B52E9FD889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1520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C9CAF-43DF-44BF-8016-DC193E4E594B}" type="datetimeFigureOut">
              <a:rPr lang="en-US" smtClean="0"/>
              <a:t>25/05/14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C232D7-2694-4BD6-985B-15C23CEC77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9440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عنوان اصل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D6440A-0326-4286-686D-DD69C6C2D0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509" y="886414"/>
            <a:ext cx="3884007" cy="5085173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CA2AF927-30AA-7708-FA45-DC09B6C7A633}"/>
              </a:ext>
            </a:extLst>
          </p:cNvPr>
          <p:cNvSpPr txBox="1"/>
          <p:nvPr userDrawn="1"/>
        </p:nvSpPr>
        <p:spPr>
          <a:xfrm>
            <a:off x="4889288" y="1701625"/>
            <a:ext cx="664920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Architecture in Practice</a:t>
            </a:r>
          </a:p>
          <a:p>
            <a:pPr algn="ctr"/>
            <a:endParaRPr lang="en-US" sz="4400" dirty="0"/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0A107B7A-E65E-6134-1507-F92CE52BA14D}"/>
              </a:ext>
            </a:extLst>
          </p:cNvPr>
          <p:cNvSpPr txBox="1"/>
          <p:nvPr userDrawn="1"/>
        </p:nvSpPr>
        <p:spPr>
          <a:xfrm>
            <a:off x="5241066" y="886414"/>
            <a:ext cx="59456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University Of Isfahan</a:t>
            </a:r>
          </a:p>
          <a:p>
            <a:pPr algn="ctr"/>
            <a:endParaRPr lang="en-US" sz="2800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81D675CA-92B6-F987-200D-6735AB7A67AE}"/>
              </a:ext>
            </a:extLst>
          </p:cNvPr>
          <p:cNvSpPr txBox="1"/>
          <p:nvPr userDrawn="1"/>
        </p:nvSpPr>
        <p:spPr>
          <a:xfrm>
            <a:off x="5174480" y="5432903"/>
            <a:ext cx="6078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Dr. </a:t>
            </a:r>
            <a:r>
              <a:rPr lang="en-US" sz="2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Mohammadreza</a:t>
            </a:r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Sharbaf</a:t>
            </a:r>
          </a:p>
        </p:txBody>
      </p:sp>
    </p:spTree>
    <p:extLst>
      <p:ext uri="{BB962C8B-B14F-4D97-AF65-F5344CB8AC3E}">
        <p14:creationId xmlns:p14="http://schemas.microsoft.com/office/powerpoint/2010/main" val="1758266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معرفی کتاب مرج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96C45E3-84FC-009E-B990-CC3128943DCF}"/>
              </a:ext>
            </a:extLst>
          </p:cNvPr>
          <p:cNvSpPr txBox="1"/>
          <p:nvPr userDrawn="1"/>
        </p:nvSpPr>
        <p:spPr>
          <a:xfrm>
            <a:off x="2790613" y="2167116"/>
            <a:ext cx="661077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Architecture in Practice</a:t>
            </a:r>
          </a:p>
          <a:p>
            <a:pPr algn="ctr"/>
            <a:endParaRPr lang="en-US" sz="32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EE8E89-6157-D30C-AE9A-DE90DF72A3D5}"/>
              </a:ext>
            </a:extLst>
          </p:cNvPr>
          <p:cNvSpPr txBox="1"/>
          <p:nvPr userDrawn="1"/>
        </p:nvSpPr>
        <p:spPr>
          <a:xfrm>
            <a:off x="4996883" y="3059668"/>
            <a:ext cx="2293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i="0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4th edition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1C09B0-F458-52CF-2E89-C839C21696FD}"/>
              </a:ext>
            </a:extLst>
          </p:cNvPr>
          <p:cNvSpPr txBox="1"/>
          <p:nvPr userDrawn="1"/>
        </p:nvSpPr>
        <p:spPr>
          <a:xfrm>
            <a:off x="3929577" y="5154362"/>
            <a:ext cx="44276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Len Bass, Paul Clements, Rick Kazman</a:t>
            </a:r>
          </a:p>
          <a:p>
            <a:pPr marL="0" indent="0" algn="l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466936-600E-E015-B971-BE7279402C11}"/>
              </a:ext>
            </a:extLst>
          </p:cNvPr>
          <p:cNvSpPr txBox="1"/>
          <p:nvPr userDrawn="1"/>
        </p:nvSpPr>
        <p:spPr>
          <a:xfrm>
            <a:off x="2714412" y="1782292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i="1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Text Book:</a:t>
            </a:r>
          </a:p>
        </p:txBody>
      </p:sp>
    </p:spTree>
    <p:extLst>
      <p:ext uri="{BB962C8B-B14F-4D97-AF65-F5344CB8AC3E}">
        <p14:creationId xmlns:p14="http://schemas.microsoft.com/office/powerpoint/2010/main" val="3263865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D763EB-F58C-2FDA-883E-D34AC3F89B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BD9CD7-C12F-5578-3913-F6206D50C27B}"/>
              </a:ext>
            </a:extLst>
          </p:cNvPr>
          <p:cNvSpPr txBox="1"/>
          <p:nvPr userDrawn="1"/>
        </p:nvSpPr>
        <p:spPr>
          <a:xfrm>
            <a:off x="1859302" y="1303253"/>
            <a:ext cx="1168061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6600" b="1" dirty="0">
                <a:latin typeface="+mj-lt"/>
              </a:rPr>
              <a:t>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2C21CC-5ED0-E64B-EAB7-020E97E35EDD}"/>
              </a:ext>
            </a:extLst>
          </p:cNvPr>
          <p:cNvSpPr txBox="1"/>
          <p:nvPr userDrawn="1"/>
        </p:nvSpPr>
        <p:spPr>
          <a:xfrm>
            <a:off x="9205913" y="3698406"/>
            <a:ext cx="1168061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6600" b="1" dirty="0">
                <a:latin typeface="+mj-lt"/>
              </a:rPr>
              <a:t>”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CC271C3-2751-4DDA-C95D-61E65E2C40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27363" y="1627188"/>
            <a:ext cx="6178550" cy="262521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b="1" i="1">
                <a:solidFill>
                  <a:schemeClr val="bg2">
                    <a:lumMod val="25000"/>
                  </a:schemeClr>
                </a:solidFill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F6E1FB4-261B-CA90-BDD6-924DC256638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27364" y="5229225"/>
            <a:ext cx="6178550" cy="7112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354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توضیحا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745AABA7-8654-6E03-E01A-130CB74BE74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88977" y="1015164"/>
            <a:ext cx="11058526" cy="5676247"/>
          </a:xfrm>
          <a:prstGeom prst="rect">
            <a:avLst/>
          </a:prstGeom>
        </p:spPr>
        <p:txBody>
          <a:bodyPr/>
          <a:lstStyle>
            <a:lvl1pPr marL="114300" indent="-342900">
              <a:lnSpc>
                <a:spcPct val="100000"/>
              </a:lnSpc>
              <a:spcBef>
                <a:spcPts val="2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11480" indent="228600">
              <a:lnSpc>
                <a:spcPct val="100000"/>
              </a:lnSpc>
              <a:spcBef>
                <a:spcPts val="1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005840" indent="-228600">
              <a:spcBef>
                <a:spcPts val="600"/>
              </a:spcBef>
              <a:buClr>
                <a:schemeClr val="tx1"/>
              </a:buClr>
              <a:buFont typeface="Times New Roman" panose="02020603050405020304" pitchFamily="18" charset="0"/>
              <a:buChar char="‣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-228600">
              <a:spcBef>
                <a:spcPts val="200"/>
              </a:spcBef>
              <a:buSzPct val="100000"/>
              <a:buFont typeface="Times New Roman" panose="02020603050405020304" pitchFamily="18" charset="0"/>
              <a:buChar char="‣"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645920">
              <a:spcBef>
                <a:spcPts val="200"/>
              </a:spcBef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286000" indent="0">
              <a:buNone/>
              <a:defRPr/>
            </a:lvl6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 Click to edit Master text styles Click to edit Master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r>
              <a:rPr lang="en-US" dirty="0" err="1"/>
              <a:t>Asdfasdfasdfasdff</a:t>
            </a:r>
            <a:endParaRPr lang="en-US" dirty="0"/>
          </a:p>
          <a:p>
            <a:pPr marL="411480" marR="0" lvl="1" indent="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Second level</a:t>
            </a:r>
          </a:p>
          <a:p>
            <a:pPr marL="1005840" marR="0" lvl="2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Times New Roman" panose="02020603050405020304" pitchFamily="18" charset="0"/>
              <a:buChar char="‣"/>
              <a:tabLst/>
              <a:defRPr/>
            </a:pPr>
            <a:r>
              <a:rPr lang="en-US" dirty="0"/>
              <a:t>Third level</a:t>
            </a:r>
          </a:p>
          <a:p>
            <a:pPr marL="1645920" marR="0" lvl="4" indent="-22860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Tx/>
              <a:buSzPct val="100000"/>
              <a:buFont typeface="Times New Roman" panose="02020603050405020304" pitchFamily="18" charset="0"/>
              <a:buChar char="‣"/>
              <a:tabLst/>
              <a:defRPr/>
            </a:pPr>
            <a:endParaRPr lang="en-US" dirty="0"/>
          </a:p>
          <a:p>
            <a:pPr lvl="4"/>
            <a:endParaRPr lang="en-US" dirty="0"/>
          </a:p>
          <a:p>
            <a:pPr lvl="0"/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6EA75A14-EC44-C947-19E0-5B86DE32A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29150B68-8BC2-8C77-3FFC-2A2ADED558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715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عنوان بخش‌ه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4D3C09-A831-571A-01CB-A6534B0A75D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630968"/>
            <a:ext cx="10515600" cy="257452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spc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Name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B62D3E-5146-2D84-53F5-BB186CCBF35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2492375"/>
            <a:ext cx="10515600" cy="9366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SECTION #</a:t>
            </a:r>
          </a:p>
        </p:txBody>
      </p:sp>
    </p:spTree>
    <p:extLst>
      <p:ext uri="{BB962C8B-B14F-4D97-AF65-F5344CB8AC3E}">
        <p14:creationId xmlns:p14="http://schemas.microsoft.com/office/powerpoint/2010/main" val="825917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عکس و توضیحا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81ADF6-1F4F-CE66-F068-D1A26D9E8A64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5809426" y="1031785"/>
            <a:ext cx="5826425" cy="315274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D2E4CAB-BEBB-3707-3FA1-D084FAEA841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56149" y="1031785"/>
            <a:ext cx="5081171" cy="3159650"/>
          </a:xfrm>
          <a:prstGeom prst="rect">
            <a:avLst/>
          </a:prstGeom>
        </p:spPr>
        <p:txBody>
          <a:bodyPr/>
          <a:lstStyle>
            <a:lvl1pPr marL="0" indent="228600">
              <a:lnSpc>
                <a:spcPct val="100000"/>
              </a:lnSpc>
              <a:spcBef>
                <a:spcPts val="2000"/>
              </a:spcBef>
              <a:buClr>
                <a:schemeClr val="tx1"/>
              </a:buCl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11480" indent="228600">
              <a:lnSpc>
                <a:spcPct val="100000"/>
              </a:lnSpc>
              <a:spcBef>
                <a:spcPts val="1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005840" indent="-228600">
              <a:spcBef>
                <a:spcPts val="600"/>
              </a:spcBef>
              <a:buClr>
                <a:schemeClr val="tx1"/>
              </a:buClr>
              <a:buFont typeface="Times New Roman" panose="02020603050405020304" pitchFamily="18" charset="0"/>
              <a:buChar char="‣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-228600">
              <a:spcBef>
                <a:spcPts val="200"/>
              </a:spcBef>
              <a:buClr>
                <a:schemeClr val="tx1"/>
              </a:buClr>
              <a:buSzPct val="100000"/>
              <a:buFont typeface="Times New Roman" panose="02020603050405020304" pitchFamily="18" charset="0"/>
              <a:buChar char="‣"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645920">
              <a:spcBef>
                <a:spcPts val="200"/>
              </a:spcBef>
              <a:buClr>
                <a:schemeClr val="tx1"/>
              </a:buCl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 Click to edit Master text styles Click to edit Master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0"/>
            <a:endParaRPr lang="en-US" dirty="0"/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D33701F9-BC79-B1F2-F33F-566DE40E9585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56148" y="4349324"/>
            <a:ext cx="11079703" cy="2355005"/>
          </a:xfrm>
          <a:prstGeom prst="rect">
            <a:avLst/>
          </a:prstGeom>
        </p:spPr>
        <p:txBody>
          <a:bodyPr/>
          <a:lstStyle>
            <a:lvl1pPr marL="0" indent="228600">
              <a:lnSpc>
                <a:spcPct val="100000"/>
              </a:lnSpc>
              <a:spcBef>
                <a:spcPts val="2000"/>
              </a:spcBef>
              <a:buClr>
                <a:schemeClr val="tx1"/>
              </a:buCl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11480" indent="228600">
              <a:lnSpc>
                <a:spcPct val="100000"/>
              </a:lnSpc>
              <a:spcBef>
                <a:spcPts val="1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005840" indent="-228600">
              <a:spcBef>
                <a:spcPts val="600"/>
              </a:spcBef>
              <a:buClr>
                <a:schemeClr val="tx1"/>
              </a:buClr>
              <a:buFont typeface="Times New Roman" panose="02020603050405020304" pitchFamily="18" charset="0"/>
              <a:buChar char="‣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-228600">
              <a:spcBef>
                <a:spcPts val="200"/>
              </a:spcBef>
              <a:buSzPct val="100000"/>
              <a:buFont typeface="Times New Roman" panose="02020603050405020304" pitchFamily="18" charset="0"/>
              <a:buChar char="‣"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645920">
              <a:spcBef>
                <a:spcPts val="200"/>
              </a:spcBef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0"/>
            <a:endParaRPr lang="en-US" dirty="0"/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A1248D6A-2F31-7DAE-E178-90148578B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C84E279C-06EF-FA3D-FB33-057EDCA7E79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741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عک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B4413EB-9324-9312-01D4-01212668D4CA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650709" y="518312"/>
            <a:ext cx="8890581" cy="500095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DC52E4-EE13-112F-7A75-20D1103E8E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5625" y="5683250"/>
            <a:ext cx="11036300" cy="87891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i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AA41ADF-5ADB-4478-F3AE-A908B05F64E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445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0350306-1A92-387D-FEA6-25A51B678C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6149" y="153671"/>
            <a:ext cx="670079" cy="6412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311D09-C3D9-45E8-99CE-78E12234EE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A8C8BAA5-76D7-C8B1-7A71-D70A776A6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889" y="153671"/>
            <a:ext cx="10436810" cy="6412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1.1 Definition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9A18509-0EE4-08D3-489F-C7109F42C063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5546" y="166588"/>
            <a:ext cx="640305" cy="640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829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0" r:id="rId4"/>
    <p:sldLayoutId id="2147483651" r:id="rId5"/>
    <p:sldLayoutId id="2147483652" r:id="rId6"/>
    <p:sldLayoutId id="2147483653" r:id="rId7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4449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FC77B4-BC48-76BC-D426-F894A03FA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Designing an Architecture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A69401E-3D2B-47A5-6D3F-CCE137706A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CHAPTER 20</a:t>
            </a:r>
          </a:p>
        </p:txBody>
      </p:sp>
    </p:spTree>
    <p:extLst>
      <p:ext uri="{BB962C8B-B14F-4D97-AF65-F5344CB8AC3E}">
        <p14:creationId xmlns:p14="http://schemas.microsoft.com/office/powerpoint/2010/main" val="702636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08ED7A-E858-9048-A2EE-70B0CAEFB2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9505E-138C-BEFA-F1DA-E22DF7575B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3200" b="0" dirty="0"/>
              <a:t>A designer knows he has achieved perfection not when there is nothing left to add, but when there is nothing left to take away.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B87A4A-CF6B-713C-5025-563FAA7773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—Antoine de Saint-Exupéry</a:t>
            </a:r>
          </a:p>
        </p:txBody>
      </p:sp>
    </p:spTree>
    <p:extLst>
      <p:ext uri="{BB962C8B-B14F-4D97-AF65-F5344CB8AC3E}">
        <p14:creationId xmlns:p14="http://schemas.microsoft.com/office/powerpoint/2010/main" val="156211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2482658-2BE8-68DC-2E49-3E16AB1B08D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A50FF4-3542-AD6D-6F54-5EF273AB4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Outline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B9C1B-F8C3-F07B-728F-B0949F0314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826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074794A-DA90-6330-B83C-B0E5662B459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Design—including architectural design—is a complex activity to perform.</a:t>
            </a:r>
          </a:p>
          <a:p>
            <a:r>
              <a:rPr lang="en-US" dirty="0"/>
              <a:t>A systematic method provides guidance in performing this complex activity so that it can be learned and capably performed by mere mortals.</a:t>
            </a:r>
          </a:p>
          <a:p>
            <a:r>
              <a:rPr lang="en-US" dirty="0"/>
              <a:t>In this chapter, we provide a detailed discussion of the method </a:t>
            </a:r>
            <a:r>
              <a:rPr lang="en-US" dirty="0">
                <a:solidFill>
                  <a:schemeClr val="accent1"/>
                </a:solidFill>
              </a:rPr>
              <a:t>Attribute-Driven Design </a:t>
            </a:r>
            <a:r>
              <a:rPr lang="en-US" dirty="0"/>
              <a:t>(ADD) that allows an architecture to be designed in a systematic, repeatable, and cost-effective way.</a:t>
            </a:r>
          </a:p>
          <a:p>
            <a:r>
              <a:rPr lang="en-US" dirty="0"/>
              <a:t>We begin by providing an overview of </a:t>
            </a:r>
            <a:r>
              <a:rPr lang="en-US" dirty="0">
                <a:solidFill>
                  <a:schemeClr val="accent1"/>
                </a:solidFill>
              </a:rPr>
              <a:t>ADD</a:t>
            </a:r>
            <a:r>
              <a:rPr lang="en-US" dirty="0"/>
              <a:t> and its steps. This overview is followed by more detailed discussions of some of the key steps.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832DDD7-3C0D-2FC5-3EB5-231E4EFFC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BDCDE1-1A75-200E-CF80-5E551678CB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137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11D280C2-282F-DBAB-2AC6-B6F887DA450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" r="330"/>
          <a:stretch>
            <a:fillRect/>
          </a:stretch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6B175-B27C-CDAB-F149-DBD93B328CA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In architectural design, we turn decisions about architectural drivers into architectural structures, as shown in the Figure.</a:t>
            </a:r>
          </a:p>
          <a:p>
            <a:r>
              <a:rPr lang="en-US" dirty="0"/>
              <a:t>The resulting structures are then used to guide the project in the many ways we laid out in Chapter 2.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2937BE-92B7-A701-F4A9-A88FB545AE8A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r>
              <a:rPr lang="en-US" dirty="0"/>
              <a:t>architectural structures guide analysis and construction. </a:t>
            </a:r>
          </a:p>
          <a:p>
            <a:pPr lvl="1"/>
            <a:r>
              <a:rPr lang="en-US" dirty="0"/>
              <a:t>They serve as the foundation for educating a new project member.</a:t>
            </a:r>
          </a:p>
          <a:p>
            <a:pPr lvl="1"/>
            <a:r>
              <a:rPr lang="en-US" dirty="0"/>
              <a:t>They guide cost and schedule estimations, team formation, risk analysis and mitigation.</a:t>
            </a:r>
          </a:p>
          <a:p>
            <a:pPr lvl="1"/>
            <a:r>
              <a:rPr lang="en-US" dirty="0"/>
              <a:t>and, of course, implementation.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2B7A044-FB49-EC59-E70F-7592211C0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20.1 Attribute-Driven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D779E-7759-D8AA-4D81-65703BAE367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144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3279FE9A-073E-1414-9BDB-E39759A12390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633" b="-14633"/>
          <a:stretch/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762EC-1DDE-6D99-87EC-2425E8A8410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First, it’s important to determine what is inside and outside of the system.</a:t>
            </a:r>
          </a:p>
          <a:p>
            <a:r>
              <a:rPr lang="en-US" dirty="0"/>
              <a:t>And which external entities the system will interact with.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EB66A3-1715-30B5-C7AB-42075EDE80BD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r>
              <a:rPr lang="en-US" dirty="0"/>
              <a:t>This context can be represented using a system context diagram, like that shown in this Figure.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7A796F1-E3EA-FFDA-2D1D-8813B06B9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20.1 Attribute-Driven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6702E-7414-BC18-0D36-9078793E9A6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7618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408D7D-B8BF-9ED4-01AD-EB47AA1A7C1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In ADD, architecture design is performed in </a:t>
            </a:r>
            <a:r>
              <a:rPr lang="en-US" dirty="0">
                <a:solidFill>
                  <a:schemeClr val="accent1"/>
                </a:solidFill>
              </a:rPr>
              <a:t>rounds</a:t>
            </a:r>
            <a:r>
              <a:rPr lang="en-US" dirty="0"/>
              <a:t>, each of which may consist of a series of design iterations.</a:t>
            </a:r>
          </a:p>
          <a:p>
            <a:r>
              <a:rPr lang="en-US" dirty="0"/>
              <a:t>A round comprises the architecture design activities performed within a development cycle.</a:t>
            </a:r>
          </a:p>
          <a:p>
            <a:r>
              <a:rPr lang="en-US" dirty="0"/>
              <a:t>Through one or more iterations, you produce an architecture that suits the established design purpose for this round.</a:t>
            </a:r>
          </a:p>
          <a:p>
            <a:r>
              <a:rPr lang="en-US" dirty="0"/>
              <a:t>ADD provides detailed guidance on the steps that need to be performed inside each iteration.</a:t>
            </a:r>
          </a:p>
          <a:p>
            <a:r>
              <a:rPr lang="en-US" dirty="0"/>
              <a:t>ADD has 7 steps:</a:t>
            </a:r>
          </a:p>
          <a:p>
            <a:pPr lvl="1"/>
            <a:r>
              <a:rPr lang="en-US" dirty="0"/>
              <a:t>Steps 1–7 constitute a </a:t>
            </a:r>
            <a:r>
              <a:rPr lang="en-US" dirty="0">
                <a:solidFill>
                  <a:schemeClr val="accent1"/>
                </a:solidFill>
              </a:rPr>
              <a:t>round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Steps 2–7 constitute one or more </a:t>
            </a:r>
            <a:r>
              <a:rPr lang="en-US" dirty="0">
                <a:solidFill>
                  <a:schemeClr val="accent1"/>
                </a:solidFill>
              </a:rPr>
              <a:t>iterations</a:t>
            </a:r>
            <a:r>
              <a:rPr lang="en-US" dirty="0"/>
              <a:t> within a round.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F2A7868-3B61-20F9-C50A-E45257E75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20.1 Attribute-Driven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2E84B7-DC47-93A5-156A-A3BE6E80DE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663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34B498A-81B7-F3CB-BF79-3456AA884A6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3286" r="-23286"/>
          <a:stretch/>
        </p:blipFill>
        <p:spPr/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BC61E9-44F1-639D-598B-8D9C58B2AB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Steps and artifacts of ADD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CDF344-9160-6FAA-2030-0856E718688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846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DD39BA-4D18-78CE-63E8-733A31DA793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Step 1: Review Inputs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Architectural drivers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are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key factors that guide or “</a:t>
            </a:r>
            <a:r>
              <a:rPr lang="en-US" dirty="0">
                <a:solidFill>
                  <a:schemeClr val="tx1"/>
                </a:solidFill>
              </a:rPr>
              <a:t>drive</a:t>
            </a:r>
            <a:r>
              <a:rPr lang="en-US" dirty="0"/>
              <a:t>” the design. drivers are inputs to the design process.</a:t>
            </a:r>
          </a:p>
          <a:p>
            <a:pPr lvl="1"/>
            <a:r>
              <a:rPr lang="en-US" dirty="0"/>
              <a:t>Before starting a design round, you need to ensure that the architectural drivers are available and correct. These include:</a:t>
            </a:r>
          </a:p>
          <a:p>
            <a:pPr lvl="2"/>
            <a:r>
              <a:rPr lang="en-US" dirty="0"/>
              <a:t>The purpose of the design round</a:t>
            </a:r>
          </a:p>
          <a:p>
            <a:pPr lvl="2"/>
            <a:r>
              <a:rPr lang="en-US" dirty="0"/>
              <a:t>The primary functional requirements</a:t>
            </a:r>
          </a:p>
          <a:p>
            <a:pPr lvl="2"/>
            <a:r>
              <a:rPr lang="en-US" dirty="0"/>
              <a:t>The primary quality attribute (QA) scenarios</a:t>
            </a:r>
          </a:p>
          <a:p>
            <a:pPr lvl="2"/>
            <a:r>
              <a:rPr lang="en-US" dirty="0"/>
              <a:t>Constraints and concerns</a:t>
            </a:r>
          </a:p>
          <a:p>
            <a:pPr lvl="1"/>
            <a:r>
              <a:rPr lang="en-US" dirty="0"/>
              <a:t>The purpose for a design round may be</a:t>
            </a:r>
          </a:p>
          <a:p>
            <a:pPr lvl="2"/>
            <a:r>
              <a:rPr lang="en-US" dirty="0"/>
              <a:t>to produce a design for early estimation</a:t>
            </a:r>
          </a:p>
          <a:p>
            <a:pPr lvl="2"/>
            <a:r>
              <a:rPr lang="en-US" dirty="0"/>
              <a:t>to refine an existing design to build a new increment of the system</a:t>
            </a:r>
          </a:p>
          <a:p>
            <a:pPr lvl="2"/>
            <a:r>
              <a:rPr lang="en-US" dirty="0"/>
              <a:t>to design and generate a prototype to mitigate certain technical risks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C5BB723-D2FA-33F8-CBC4-82AFCDFD6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20.2 The Steps of ADD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96C9D-F281-2FCE-648B-4ABB26252C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456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B28AAEE-F362-D7F2-17F8-676BD24B4D3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1"/>
            <a:r>
              <a:rPr lang="en-US" dirty="0"/>
              <a:t>These drivers form your architectural design backlog, which you’ll work through each iteration.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Step 2: Establish Iteration Goal by Selecting Drivers</a:t>
            </a:r>
          </a:p>
          <a:p>
            <a:pPr lvl="1"/>
            <a:r>
              <a:rPr lang="en-US" dirty="0"/>
              <a:t>Define a clear goal for this iteration by selecting a subset of drivers to address. </a:t>
            </a:r>
          </a:p>
          <a:p>
            <a:pPr lvl="1"/>
            <a:r>
              <a:rPr lang="en-US" dirty="0"/>
              <a:t>Example goal: “Design the structures needed to meet a specific performance scenario.” </a:t>
            </a:r>
          </a:p>
          <a:p>
            <a:pPr lvl="1"/>
            <a:r>
              <a:rPr lang="en-US" dirty="0"/>
              <a:t>A focused goal keeps the iteration on track and tied directly to desired outcomes.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Step 3: Choose One or More Elements of the System to Refine</a:t>
            </a:r>
          </a:p>
          <a:p>
            <a:pPr lvl="1"/>
            <a:r>
              <a:rPr lang="en-US" dirty="0"/>
              <a:t>Select one or more existing elements (modules/components) whose refinement will satisfy the chosen drivers.</a:t>
            </a:r>
          </a:p>
          <a:p>
            <a:pPr lvl="1"/>
            <a:r>
              <a:rPr lang="en-US" dirty="0"/>
              <a:t>Refinement can be </a:t>
            </a:r>
            <a:r>
              <a:rPr lang="en-US" dirty="0">
                <a:solidFill>
                  <a:schemeClr val="accent1"/>
                </a:solidFill>
              </a:rPr>
              <a:t>decomposition</a:t>
            </a:r>
            <a:r>
              <a:rPr lang="en-US" dirty="0"/>
              <a:t> (top-down), </a:t>
            </a:r>
            <a:r>
              <a:rPr lang="en-US" dirty="0">
                <a:solidFill>
                  <a:schemeClr val="accent1"/>
                </a:solidFill>
              </a:rPr>
              <a:t>combination</a:t>
            </a:r>
            <a:r>
              <a:rPr lang="en-US" dirty="0"/>
              <a:t> (bottom-up), or </a:t>
            </a:r>
            <a:r>
              <a:rPr lang="en-US" dirty="0">
                <a:solidFill>
                  <a:schemeClr val="accent1"/>
                </a:solidFill>
              </a:rPr>
              <a:t>improvement</a:t>
            </a:r>
            <a:r>
              <a:rPr lang="en-US" dirty="0"/>
              <a:t> of elements.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08DBF74-A32D-99F9-AD53-CB24AF1C1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20.2 The Steps of ADD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CCD34C-0AD8-538E-9652-9404ADF03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56149" y="153671"/>
            <a:ext cx="670079" cy="641281"/>
          </a:xfrm>
        </p:spPr>
        <p:txBody>
          <a:bodyPr/>
          <a:lstStyle/>
          <a:p>
            <a:fld id="{AE311D09-C3D9-45E8-99CE-78E12234EEAD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876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AB45DF-0511-C6AE-9737-F44F6DB7531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1"/>
            <a:r>
              <a:rPr lang="en-US" dirty="0"/>
              <a:t>For greenfield projects, begin by decomposing the system context; for existing systems, you may need reverse-engineer or discuss with developers.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Step 4: Choose Design Concept(s)</a:t>
            </a:r>
          </a:p>
          <a:p>
            <a:pPr lvl="1"/>
            <a:r>
              <a:rPr lang="en-US" dirty="0"/>
              <a:t>Identify and evaluate alternative </a:t>
            </a:r>
            <a:r>
              <a:rPr lang="en-US" dirty="0">
                <a:solidFill>
                  <a:schemeClr val="accent1"/>
                </a:solidFill>
              </a:rPr>
              <a:t>design concepts </a:t>
            </a:r>
            <a:r>
              <a:rPr lang="en-US" dirty="0"/>
              <a:t>(tactics, patterns, reference architectures, third-party components).</a:t>
            </a:r>
          </a:p>
          <a:p>
            <a:pPr lvl="1"/>
            <a:r>
              <a:rPr lang="en-US" dirty="0"/>
              <a:t>Select the concept(s) most likely to satisfy your iteration goal.</a:t>
            </a:r>
          </a:p>
          <a:p>
            <a:pPr lvl="1"/>
            <a:r>
              <a:rPr lang="en-US" dirty="0"/>
              <a:t>This is often the toughest decision—many options can meet a given driver.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Step 5: Instantiate Elements, Allocate Responsibilities, Define Interfaces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Instantiate</a:t>
            </a:r>
            <a:r>
              <a:rPr lang="en-US" dirty="0"/>
              <a:t> the chosen concept (e.g., decide how many layers and their relationships if using the layers pattern).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Allocate responsibilities </a:t>
            </a:r>
            <a:r>
              <a:rPr lang="en-US" dirty="0"/>
              <a:t>to each element (e.g., presentation layer handles UI, business layer enforces rules, data layer manages persistence).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A2FDC1C-A95E-6FED-89D6-B4C04F345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20.2 The Steps of ADD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128699-CA22-B9F9-0FCB-CB48EDF5B3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975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7908BFD-4961-CB61-FB69-E609D4D334F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1"/>
            <a:r>
              <a:rPr lang="en-US" dirty="0"/>
              <a:t>Define </a:t>
            </a:r>
            <a:r>
              <a:rPr lang="en-US" dirty="0">
                <a:solidFill>
                  <a:schemeClr val="accent1"/>
                </a:solidFill>
              </a:rPr>
              <a:t>interfaces</a:t>
            </a:r>
            <a:r>
              <a:rPr lang="en-US" dirty="0"/>
              <a:t> (the contracts) that specify how elements will interact and exchange information.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Step 6: Sketch Views and Record Decisions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Capture</a:t>
            </a:r>
            <a:r>
              <a:rPr lang="en-US" dirty="0"/>
              <a:t> preliminary diagrams (“sketches”) of the structures you created—take photos of whiteboards if needed.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Record</a:t>
            </a:r>
            <a:r>
              <a:rPr lang="en-US" dirty="0"/>
              <a:t> all significant design decisions and their rationale, including trade-offs.</a:t>
            </a:r>
          </a:p>
          <a:p>
            <a:pPr lvl="1"/>
            <a:r>
              <a:rPr lang="en-US" dirty="0"/>
              <a:t>These sketches may be refined in later iterations; formal documentation comes only after all iterations are complete.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Step 7: Analyze and Review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Analyze</a:t>
            </a:r>
            <a:r>
              <a:rPr lang="en-US" dirty="0"/>
              <a:t> the current design against the iteration goal—have the selected drivers been addressed?</a:t>
            </a:r>
          </a:p>
          <a:p>
            <a:pPr lvl="1"/>
            <a:r>
              <a:rPr lang="en-US" dirty="0"/>
              <a:t>Conduct a </a:t>
            </a:r>
            <a:r>
              <a:rPr lang="en-US" dirty="0">
                <a:solidFill>
                  <a:schemeClr val="accent1"/>
                </a:solidFill>
              </a:rPr>
              <a:t>peer review </a:t>
            </a:r>
            <a:r>
              <a:rPr lang="en-US" dirty="0"/>
              <a:t>to challenge assumptions and uncover hidden issues.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Review overall purpose</a:t>
            </a:r>
            <a:r>
              <a:rPr lang="en-US" dirty="0"/>
              <a:t>: decide if you’ve met this round’s goals or need further iterations.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28B236-978E-EF6C-6E36-CA2E674C1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20.2 The Steps of ADD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2CBC7E-F137-C9BA-F0A4-3E2D221D92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749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473FC0-CCAC-4784-CC0F-FC1934DDBED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You should perform additional iterations and repeat steps 2–7 for every driver that was considered.</a:t>
            </a:r>
          </a:p>
          <a:p>
            <a:r>
              <a:rPr lang="en-US" dirty="0"/>
              <a:t>However, more often this kind of repetition will not be possible because of time or resource constraints that force you to stop the design activities and move on to implementation.</a:t>
            </a:r>
          </a:p>
          <a:p>
            <a:r>
              <a:rPr lang="en-US" dirty="0"/>
              <a:t>What are the criteria for evaluating if more design iterations are necessary?</a:t>
            </a:r>
          </a:p>
          <a:p>
            <a:r>
              <a:rPr lang="en-US" dirty="0"/>
              <a:t>Use </a:t>
            </a:r>
            <a:r>
              <a:rPr lang="en-US" dirty="0">
                <a:solidFill>
                  <a:schemeClr val="accent1"/>
                </a:solidFill>
              </a:rPr>
              <a:t>risk</a:t>
            </a:r>
            <a:r>
              <a:rPr lang="en-US" dirty="0"/>
              <a:t> as your guide: critical drivers should be satisfied or “good enough” before moving on.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E8D83A1-2942-1DD6-FB75-D02C61099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Iterate If Necessary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C3452-F211-5BAB-4232-34ED251D3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0524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52D504-48B7-7C6A-F4DA-8B93E02FDD3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You don’t reinvent the wheel—your main task is </a:t>
            </a:r>
            <a:r>
              <a:rPr lang="en-US" b="1" dirty="0"/>
              <a:t>to identify and select </a:t>
            </a:r>
            <a:r>
              <a:rPr lang="en-US" dirty="0"/>
              <a:t>existing solutions (patterns, tactics, frameworks).</a:t>
            </a:r>
          </a:p>
          <a:p>
            <a:r>
              <a:rPr lang="en-US" dirty="0"/>
              <a:t>Creativity lies in </a:t>
            </a:r>
            <a:r>
              <a:rPr lang="en-US" b="1" dirty="0"/>
              <a:t>choosing, combining, and adapting</a:t>
            </a:r>
            <a:r>
              <a:rPr lang="en-US" dirty="0"/>
              <a:t> these concepts to your problem.</a:t>
            </a:r>
          </a:p>
          <a:p>
            <a:r>
              <a:rPr lang="en-US" dirty="0"/>
              <a:t>Even with a rich corpus (collection of known solutions), </a:t>
            </a:r>
            <a:r>
              <a:rPr lang="en-US" b="1" dirty="0"/>
              <a:t>selecting the right concepts</a:t>
            </a:r>
            <a:r>
              <a:rPr lang="en-US" dirty="0"/>
              <a:t> is often the hardest part of design.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5B45FC2-C147-BC28-5AE3-87C484DB0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20.3 More on ADD Step 4: Choose Design Concepts(s)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C3634E-F6FA-6095-FDF2-5ACF7FC093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869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72584A4-BBF0-4D48-9A65-B1DE9B6C0EC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There are dozens of options (patterns, third-party components) </a:t>
            </a:r>
          </a:p>
          <a:p>
            <a:pPr lvl="1"/>
            <a:r>
              <a:rPr lang="en-US" dirty="0"/>
              <a:t>You may need to combine multiple concept types (e.g., pattern + tactic + framework) for a single driver e.g., security.</a:t>
            </a:r>
          </a:p>
          <a:p>
            <a:r>
              <a:rPr lang="en-US" dirty="0"/>
              <a:t>Techniques to Find and Select Candidates</a:t>
            </a:r>
          </a:p>
          <a:p>
            <a:pPr lvl="1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Leverage existing best practices</a:t>
            </a:r>
          </a:p>
          <a:p>
            <a:pPr lvl="2"/>
            <a:r>
              <a:rPr lang="en-US" dirty="0"/>
              <a:t>Use design catalogs to identify many alternatives quickly.</a:t>
            </a:r>
          </a:p>
          <a:p>
            <a:pPr lvl="2"/>
            <a:r>
              <a:rPr lang="en-US" dirty="0"/>
              <a:t>Pros: taps others’ collective knowledge.</a:t>
            </a:r>
          </a:p>
          <a:p>
            <a:pPr lvl="2"/>
            <a:r>
              <a:rPr lang="en-US" dirty="0"/>
              <a:t>Cons: time consuming, unknown quality, unknown assumptions.</a:t>
            </a:r>
          </a:p>
          <a:p>
            <a:pPr lvl="1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Leverage your own experience</a:t>
            </a:r>
          </a:p>
          <a:p>
            <a:pPr lvl="2"/>
            <a:r>
              <a:rPr lang="en-US" dirty="0"/>
              <a:t>Start with patterns you’ve used before for similar systems.</a:t>
            </a:r>
          </a:p>
          <a:p>
            <a:pPr lvl="2"/>
            <a:r>
              <a:rPr lang="en-US" dirty="0"/>
              <a:t>Pros: fast, confident selection.</a:t>
            </a:r>
          </a:p>
          <a:p>
            <a:pPr lvl="2"/>
            <a:r>
              <a:rPr lang="en-US" dirty="0"/>
              <a:t>Cons: risk of over-relying on familiar solutions (“hammer–nail” effect).</a:t>
            </a:r>
          </a:p>
          <a:p>
            <a:pPr lvl="1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Leverage peers’ knowledge</a:t>
            </a:r>
          </a:p>
          <a:p>
            <a:pPr lvl="2"/>
            <a:r>
              <a:rPr lang="en-US" dirty="0"/>
              <a:t>Brainstorm with colleagues to surface diverse ideas and avoid blind spots.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DE38CB-C7C0-041F-F375-C514D9A99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Identification of Design Concepts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1F5509-D0C6-5818-D3A2-3490E0CF9B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7551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4199CF-84DB-65DF-F444-53C26BD0329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After listing alternative design concepts, evaluate each by its pros and cons against your drivers.</a:t>
            </a:r>
          </a:p>
          <a:p>
            <a:r>
              <a:rPr lang="en-US" dirty="0"/>
              <a:t>Use a </a:t>
            </a:r>
            <a:r>
              <a:rPr lang="en-US" dirty="0">
                <a:solidFill>
                  <a:schemeClr val="accent1"/>
                </a:solidFill>
              </a:rPr>
              <a:t>comparison table </a:t>
            </a:r>
            <a:r>
              <a:rPr lang="en-US" dirty="0"/>
              <a:t>(including cost, strengths, weaknesses) to guide your choice.</a:t>
            </a:r>
          </a:p>
          <a:p>
            <a:r>
              <a:rPr lang="en-US" dirty="0"/>
              <a:t>Apply decision-making techniques such as </a:t>
            </a:r>
            <a:r>
              <a:rPr lang="en-US" b="1" dirty="0">
                <a:solidFill>
                  <a:schemeClr val="accent1"/>
                </a:solidFill>
              </a:rPr>
              <a:t>SWOT</a:t>
            </a:r>
            <a:r>
              <a:rPr lang="en-US" b="1" dirty="0"/>
              <a:t> </a:t>
            </a:r>
            <a:r>
              <a:rPr lang="en-US" b="1" dirty="0">
                <a:solidFill>
                  <a:schemeClr val="accent1"/>
                </a:solidFill>
              </a:rPr>
              <a:t>analysis</a:t>
            </a:r>
            <a:r>
              <a:rPr lang="en-US" dirty="0"/>
              <a:t> (Strengths, Weaknesses, Opportunities, Threats).</a:t>
            </a:r>
          </a:p>
          <a:p>
            <a:r>
              <a:rPr lang="en-US" dirty="0"/>
              <a:t>Always respect architectural constraints (e.g., approved-license requirements may rule out some frameworks).</a:t>
            </a:r>
          </a:p>
          <a:p>
            <a:r>
              <a:rPr lang="en-US" dirty="0"/>
              <a:t>Remember that earlier design choices can limit later options (e.g., an initial web architecture may preclude certain desktop UI frameworks).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337823-5A31-1F55-A27B-98D566931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of Design Concepts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C67B57-D620-9D85-F8C9-B102704743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5789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55BD76-E90F-60E6-CFE9-A8158A85E33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If comparison techniques don’t yield a clear choice, </a:t>
            </a:r>
            <a:r>
              <a:rPr lang="en-US" dirty="0">
                <a:solidFill>
                  <a:schemeClr val="accent1"/>
                </a:solidFill>
              </a:rPr>
              <a:t>build throwaway prototypes </a:t>
            </a:r>
            <a:r>
              <a:rPr lang="en-US" dirty="0"/>
              <a:t>and gather measurements.</a:t>
            </a:r>
          </a:p>
          <a:p>
            <a:r>
              <a:rPr lang="en-US" dirty="0"/>
              <a:t>These </a:t>
            </a:r>
            <a:r>
              <a:rPr lang="en-US" dirty="0">
                <a:solidFill>
                  <a:schemeClr val="accent1"/>
                </a:solidFill>
              </a:rPr>
              <a:t>early prototypes </a:t>
            </a:r>
            <a:r>
              <a:rPr lang="en-US" dirty="0"/>
              <a:t>focus solely on evaluating a technology or component and are </a:t>
            </a:r>
            <a:r>
              <a:rPr lang="en-US" dirty="0">
                <a:solidFill>
                  <a:schemeClr val="accent1"/>
                </a:solidFill>
              </a:rPr>
              <a:t>not</a:t>
            </a:r>
            <a:r>
              <a:rPr lang="en-US" dirty="0"/>
              <a:t> intended for production or reuse.</a:t>
            </a:r>
          </a:p>
          <a:p>
            <a:r>
              <a:rPr lang="en-US" dirty="0"/>
              <a:t>Prototyping is especially valuable when:	</a:t>
            </a:r>
          </a:p>
          <a:p>
            <a:pPr lvl="1"/>
            <a:r>
              <a:rPr lang="en-US" dirty="0"/>
              <a:t>The project uses emerging or </a:t>
            </a:r>
            <a:r>
              <a:rPr lang="en-US" dirty="0">
                <a:solidFill>
                  <a:schemeClr val="accent1"/>
                </a:solidFill>
              </a:rPr>
              <a:t>new-to-the-company</a:t>
            </a:r>
            <a:r>
              <a:rPr lang="en-US" dirty="0"/>
              <a:t> technologies.</a:t>
            </a:r>
          </a:p>
          <a:p>
            <a:pPr lvl="1"/>
            <a:r>
              <a:rPr lang="en-US" dirty="0"/>
              <a:t>Quality-attribute drivers (e.g., performance, scalability) carry </a:t>
            </a:r>
            <a:r>
              <a:rPr lang="en-US" dirty="0">
                <a:solidFill>
                  <a:schemeClr val="tx1"/>
                </a:solidFill>
              </a:rPr>
              <a:t>uncertainty or risk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There’s a lack of trustworthy information about a technology’s suitability.</a:t>
            </a:r>
          </a:p>
          <a:p>
            <a:pPr lvl="1"/>
            <a:r>
              <a:rPr lang="en-US" dirty="0"/>
              <a:t>Configuration options need to be tested to understand their impact.</a:t>
            </a:r>
          </a:p>
          <a:p>
            <a:pPr lvl="1"/>
            <a:r>
              <a:rPr lang="en-US" dirty="0"/>
              <a:t>Integration with existing systems or technologies is unclear.</a:t>
            </a:r>
            <a:endParaRPr lang="en-US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AF3C77-DA33-A608-D276-160719736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Creation of Prototypes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3D309-0226-88AD-273F-10E01EF40F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3397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633964-A2F5-9F30-4C72-96C8CE7DC6F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Design concepts alone won’t satisfy architectural drivers unless you instantiate them into concrete structures.</a:t>
            </a:r>
          </a:p>
          <a:p>
            <a:r>
              <a:rPr lang="en-US" dirty="0"/>
              <a:t>Software architecture is composed of three structure types:</a:t>
            </a:r>
          </a:p>
          <a:p>
            <a:pPr lvl="1"/>
            <a:r>
              <a:rPr lang="fr-FR" dirty="0"/>
              <a:t>Module structures (e.g., files, modules, classes)</a:t>
            </a:r>
          </a:p>
          <a:p>
            <a:pPr lvl="1"/>
            <a:r>
              <a:rPr lang="en-US" dirty="0"/>
              <a:t>Component &amp; connector structures (e.g., processes, threads)</a:t>
            </a:r>
          </a:p>
          <a:p>
            <a:pPr lvl="1"/>
            <a:r>
              <a:rPr lang="en-US" dirty="0"/>
              <a:t>Allocation structures (e.g., hardware nodes, file systems, teams)</a:t>
            </a:r>
          </a:p>
          <a:p>
            <a:r>
              <a:rPr lang="en-US" dirty="0"/>
              <a:t>Instantiating a pattern can affect multiple structures (e.g., warm spare redundancy affects C&amp;C and allocation structures).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8A67E62-9744-093B-ACF0-708C3FB00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20.4 More on ADD Step 5: Producing Structures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36011-5D15-4C9C-6B79-F3D1B6EB90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6413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ACF519-7124-BF1E-5A1E-C5C7332E0FE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Here’s how instantiation might look for each of the design concept categories:</a:t>
            </a:r>
            <a:endParaRPr lang="en-US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Reference architectures: </a:t>
            </a:r>
            <a:r>
              <a:rPr lang="en-US" dirty="0"/>
              <a:t>customize by adding or removing elements (e.g., integration component for external payments).</a:t>
            </a:r>
          </a:p>
          <a:p>
            <a:r>
              <a:rPr lang="en-US" dirty="0">
                <a:solidFill>
                  <a:schemeClr val="accent1"/>
                </a:solidFill>
              </a:rPr>
              <a:t>Patterns: </a:t>
            </a:r>
            <a:r>
              <a:rPr lang="en-US" dirty="0"/>
              <a:t>adapt generic elements and relationships to your problem (e.g., choose number of clients/servers, protocols in client-server).</a:t>
            </a:r>
          </a:p>
          <a:p>
            <a:r>
              <a:rPr lang="en-US" dirty="0">
                <a:solidFill>
                  <a:schemeClr val="accent1"/>
                </a:solidFill>
              </a:rPr>
              <a:t>Tactics: </a:t>
            </a:r>
            <a:r>
              <a:rPr lang="en-US" dirty="0"/>
              <a:t>realize tactics via existing concepts or custom code (e.g., integrate authentication into the login process or adopt a security framework).</a:t>
            </a:r>
          </a:p>
          <a:p>
            <a:r>
              <a:rPr lang="en-US" dirty="0">
                <a:solidFill>
                  <a:schemeClr val="accent1"/>
                </a:solidFill>
              </a:rPr>
              <a:t>Externally developed components: </a:t>
            </a:r>
            <a:r>
              <a:rPr lang="en-US" dirty="0"/>
              <a:t>may require subclassing or configuration (e.g., inherit framework classes or set thread-pool size).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C338AB5-6F16-C0DD-675B-037FDB5E9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Instantiating Elements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3B4B3-6B5A-92A8-4D82-B0F99983AD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0096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3191E9B-95DC-FD44-DF5F-3E31E722EA3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Allocate clear, cohesive responsibilities to each element to maintain high cohesion and low coupling.</a:t>
            </a:r>
          </a:p>
          <a:p>
            <a:r>
              <a:rPr lang="en-US" dirty="0"/>
              <a:t>Decide microservice responsibilities, deployment counts, and key properties (e.g., </a:t>
            </a:r>
            <a:r>
              <a:rPr lang="en-US" dirty="0" err="1"/>
              <a:t>statefulness</a:t>
            </a:r>
            <a:r>
              <a:rPr lang="en-US" dirty="0"/>
              <a:t>, resource limits).</a:t>
            </a:r>
          </a:p>
          <a:p>
            <a:r>
              <a:rPr lang="en-US" dirty="0"/>
              <a:t>Identify element properties such as configuration options, priority, or hardware characteristics.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C91C8EA-CF79-0E2C-AC76-9AB4A498B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Associating Responsibilities and Identifying Properties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2425CC-C53A-AC76-7CC6-61E630DF70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5693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11F59C8-216B-86D9-F4C6-0B65423136A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Define how elements interact: which clients talk to which servers, ports, protocols, and sync vs. async communication.</a:t>
            </a:r>
          </a:p>
          <a:p>
            <a:r>
              <a:rPr lang="en-US" dirty="0"/>
              <a:t>Decide </a:t>
            </a:r>
            <a:r>
              <a:rPr lang="en-US" dirty="0">
                <a:solidFill>
                  <a:schemeClr val="accent1"/>
                </a:solidFill>
              </a:rPr>
              <a:t>interaction initiators</a:t>
            </a:r>
            <a:r>
              <a:rPr lang="en-US" dirty="0"/>
              <a:t>, </a:t>
            </a:r>
            <a:r>
              <a:rPr lang="en-US" dirty="0">
                <a:solidFill>
                  <a:schemeClr val="accent1"/>
                </a:solidFill>
              </a:rPr>
              <a:t>data volume</a:t>
            </a:r>
            <a:r>
              <a:rPr lang="en-US" dirty="0"/>
              <a:t>, and </a:t>
            </a:r>
            <a:r>
              <a:rPr lang="en-US" dirty="0">
                <a:solidFill>
                  <a:schemeClr val="accent1"/>
                </a:solidFill>
              </a:rPr>
              <a:t>transfer rates</a:t>
            </a:r>
            <a:r>
              <a:rPr lang="en-US" dirty="0"/>
              <a:t>.</a:t>
            </a:r>
          </a:p>
          <a:p>
            <a:r>
              <a:rPr lang="en-US" dirty="0"/>
              <a:t>Recognize that these relationship decisions directly impact quality attributes like performance.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4054745-07DE-9537-7D2D-ADC529FF1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Establishing Relationships Between Elements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D78CB-0193-11BF-8D72-6587F22A17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6728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ED243E-5BE9-9C49-523F-18A3B80BB60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External interfaces: </a:t>
            </a:r>
            <a:r>
              <a:rPr lang="en-US" dirty="0"/>
              <a:t>contractual boundaries with other systems; usually fixed by external specifications.</a:t>
            </a:r>
          </a:p>
          <a:p>
            <a:r>
              <a:rPr lang="en-US" dirty="0">
                <a:solidFill>
                  <a:schemeClr val="accent1"/>
                </a:solidFill>
              </a:rPr>
              <a:t>Internal interfaces: </a:t>
            </a:r>
            <a:r>
              <a:rPr lang="en-US" dirty="0"/>
              <a:t>define element collaborations (e.g., commands from UI tier to business logic).</a:t>
            </a:r>
          </a:p>
          <a:p>
            <a:r>
              <a:rPr lang="en-US" dirty="0"/>
              <a:t>Use UML sequence diagrams or </a:t>
            </a:r>
            <a:r>
              <a:rPr lang="en-US" dirty="0" err="1"/>
              <a:t>statecharts</a:t>
            </a:r>
            <a:r>
              <a:rPr lang="en-US" dirty="0"/>
              <a:t> to model and refine information exchanges.</a:t>
            </a:r>
          </a:p>
          <a:p>
            <a:r>
              <a:rPr lang="en-US" dirty="0"/>
              <a:t>Refine interfaces incrementally: start abstract, then specify details as design iterations progress.</a:t>
            </a:r>
          </a:p>
          <a:p>
            <a:r>
              <a:rPr lang="en-US" dirty="0"/>
              <a:t>If using interoperable technologies, many interface details are pre-defined.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F0D5F90-3EA1-6BFE-75FF-92487135C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Interfaces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646AFE-67F0-FEC8-B56F-DDF19D9B1C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4772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E1FAC43-2F0B-8D30-91B4-5CB8AFA415C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As we will see in Chapter 22, software architecture is documented as a set of views, which represent the different structures that compose the architecture. </a:t>
            </a:r>
            <a:endParaRPr lang="fa-IR" dirty="0"/>
          </a:p>
          <a:p>
            <a:r>
              <a:rPr lang="en-US" dirty="0"/>
              <a:t>Although formal view documentation is not part of ADD, capturing your design structures—even as informal sketches—should be part of normal ADD activities.</a:t>
            </a:r>
            <a:endParaRPr lang="fa-IR" dirty="0"/>
          </a:p>
          <a:p>
            <a:r>
              <a:rPr lang="en-US" dirty="0"/>
              <a:t>Sketches, along with the design decisions that led to them, serve as initial architecture documentation you can refine later.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81EB1F2-6589-4567-6681-8D4FE2FFC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20.5 More on ADD Step 6: Creating Preliminary Documentation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B7BA3-1EDF-2527-DF1A-4F8287ED26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6844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EA1A776B-573C-05CF-3CD3-B4E972845203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9521" b="-19521"/>
          <a:stretch/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87F0B-6823-1C55-1C46-C4616724BC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As you instantiate selected design concepts, create sketches on a whiteboard, paper, etc.</a:t>
            </a:r>
            <a:endParaRPr lang="fa-IR" dirty="0"/>
          </a:p>
          <a:p>
            <a:r>
              <a:rPr lang="en-US" dirty="0"/>
              <a:t>You don’t need a formal language like UML</a:t>
            </a:r>
          </a:p>
          <a:p>
            <a:pPr lvl="1"/>
            <a:r>
              <a:rPr lang="en-US" dirty="0"/>
              <a:t>just maintain consistency in your symbols and add a legend later to avoid ambiguity.</a:t>
            </a:r>
            <a:endParaRPr lang="fa-IR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3F47B6-5AE0-0F97-F0C0-71E92974D670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r>
              <a:rPr lang="en-US" dirty="0"/>
              <a:t>Write down each element’s responsibilities as you sketch</a:t>
            </a:r>
            <a:r>
              <a:rPr lang="fa-IR" dirty="0"/>
              <a:t>.</a:t>
            </a:r>
          </a:p>
          <a:p>
            <a:r>
              <a:rPr lang="en-US" dirty="0"/>
              <a:t>A simple way to preserve whiteboard work is to photograph your sketch and paste it into a document alongside a table summarizing each element’s responsibilities </a:t>
            </a:r>
          </a:p>
          <a:p>
            <a:r>
              <a:rPr lang="en-US" dirty="0"/>
              <a:t>An example preliminary documentation is shown in this figure.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87B7139-2068-3081-A3DA-653DF181A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Recording Sketches of the Views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C8EEE-6177-37CB-CA1C-AEAC95CC7B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2356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0E3469B4-C519-2871-C628-CEFBC603DC0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7529" b="-47529"/>
          <a:stretch/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728A2-67CC-6D3F-0A1E-DDB9ECF09E7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 diagram is complemented by a table that describes the element’s responsibilities.</a:t>
            </a:r>
          </a:p>
          <a:p>
            <a:r>
              <a:rPr lang="en-US" dirty="0"/>
              <a:t>This table serves this purpose for some of the elements identified in previous figure.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6B2382-B91E-F10D-89B6-CD12AA59E22B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r>
              <a:rPr lang="en-US" dirty="0"/>
              <a:t>Document only what’s needed for your chosen purpose—analysis, construction, or education—based on the risks you must mitigate.</a:t>
            </a:r>
          </a:p>
          <a:p>
            <a:r>
              <a:rPr lang="en-US" dirty="0"/>
              <a:t>For example, to train new team members, sketch a C&amp;C view showing runtime interactions and a module view showing major layers or subsystems.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311CD24-D9F7-B756-427C-FDA47A76C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Recording Sketches of the Views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CF369-B5B6-D402-5762-9A2A073F64C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091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2DFDB81-C204-1B0B-EC64-AE38A1FF4AF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In each iteration you make key design decisions to meet your goals; capturing them preserves your </a:t>
            </a:r>
            <a:r>
              <a:rPr lang="en-US" dirty="0">
                <a:solidFill>
                  <a:schemeClr val="accent1"/>
                </a:solidFill>
              </a:rPr>
              <a:t>design rationale </a:t>
            </a:r>
            <a:r>
              <a:rPr lang="en-US" dirty="0"/>
              <a:t>(reasoning or justification behind a design decision).</a:t>
            </a:r>
          </a:p>
          <a:p>
            <a:r>
              <a:rPr lang="en-US" dirty="0"/>
              <a:t>A diagram shows the end result but not the reasoning behind it—recording decisions clarifies how you arrived there.</a:t>
            </a:r>
          </a:p>
          <a:p>
            <a:r>
              <a:rPr lang="en-US" dirty="0"/>
              <a:t>These recorded decisions become invaluable when your design is later analyzed or revisited.</a:t>
            </a:r>
          </a:p>
          <a:p>
            <a:r>
              <a:rPr lang="en-US" dirty="0"/>
              <a:t>Recording decision rationale helps future team members understand why certain options were chosen over others.</a:t>
            </a:r>
            <a:endParaRPr lang="fa-IR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93FADB2-8554-AA1D-4CD7-B496BDE43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Recording Design Decisions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3A282-0166-E1B4-24F8-1FA7897A1B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3436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567798-3EC0-D549-E283-67D1D2D148D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At the end of an iteration, perform analysis to reflect on the design decisions you just made.</a:t>
            </a:r>
          </a:p>
          <a:p>
            <a:r>
              <a:rPr lang="en-US" dirty="0"/>
              <a:t>Assess whether you have done enough design work by asking:</a:t>
            </a:r>
          </a:p>
          <a:p>
            <a:pPr lvl="1"/>
            <a:r>
              <a:rPr lang="en-US" dirty="0"/>
              <a:t>How much design do you need to do?</a:t>
            </a:r>
          </a:p>
          <a:p>
            <a:pPr lvl="1"/>
            <a:r>
              <a:rPr lang="en-US" dirty="0"/>
              <a:t>How much design have you done so far?</a:t>
            </a:r>
          </a:p>
          <a:p>
            <a:pPr lvl="1"/>
            <a:r>
              <a:rPr lang="en-US" dirty="0"/>
              <a:t>Are you finished?</a:t>
            </a:r>
          </a:p>
          <a:p>
            <a:r>
              <a:rPr lang="en-US" dirty="0"/>
              <a:t>Use practices like </a:t>
            </a:r>
            <a:r>
              <a:rPr lang="en-US" dirty="0">
                <a:solidFill>
                  <a:schemeClr val="accent1"/>
                </a:solidFill>
              </a:rPr>
              <a:t>backlogs</a:t>
            </a:r>
            <a:r>
              <a:rPr lang="en-US" dirty="0"/>
              <a:t> and </a:t>
            </a:r>
            <a:r>
              <a:rPr lang="en-US" dirty="0">
                <a:solidFill>
                  <a:schemeClr val="accent1"/>
                </a:solidFill>
              </a:rPr>
              <a:t>Kanban boards </a:t>
            </a:r>
            <a:r>
              <a:rPr lang="en-US" dirty="0"/>
              <a:t>to track design progress and answer these questions.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F31DBDC-D396-3D34-D39F-A6B981C54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20.6 More on ADD Step 7: Analysis and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F64F3E-5762-8EC6-F86D-ED40931658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325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9D1C6C-776A-D869-CDBC-8165B6D6CEB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dirty="0">
                <a:solidFill>
                  <a:schemeClr val="accent1"/>
                </a:solidFill>
              </a:rPr>
              <a:t>architectural backlog </a:t>
            </a:r>
            <a:r>
              <a:rPr lang="en-US" dirty="0"/>
              <a:t>is a to-do list of pending actions in the architecture design process.</a:t>
            </a:r>
          </a:p>
          <a:p>
            <a:r>
              <a:rPr lang="en-US" dirty="0"/>
              <a:t>Initially populate the backlog with your drivers; then add other activities such as:</a:t>
            </a:r>
          </a:p>
          <a:p>
            <a:pPr lvl="1"/>
            <a:r>
              <a:rPr lang="en-US" dirty="0"/>
              <a:t>Creating a prototype to test a technology or address a QA risk</a:t>
            </a:r>
          </a:p>
          <a:p>
            <a:pPr lvl="1"/>
            <a:r>
              <a:rPr lang="en-US" dirty="0"/>
              <a:t>Exploring existing assets (possibly via reverse engineering)</a:t>
            </a:r>
          </a:p>
          <a:p>
            <a:pPr lvl="1"/>
            <a:r>
              <a:rPr lang="en-US" dirty="0"/>
              <a:t>Issues uncovered during a review of earlier design decisions</a:t>
            </a:r>
          </a:p>
          <a:p>
            <a:r>
              <a:rPr lang="en-US" dirty="0"/>
              <a:t>As decisions are made, add new concerns—for example, if session management is missing in a chosen reference architecture, add that to the backlog.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B0C19BB-7E5E-CD7E-049C-A0F4918B0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an Architectural Backlog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4C05CC-FE86-7A7A-809A-5C0F35CE22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3105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5048AF6-D1D3-2050-602C-484EB05BC56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chemeClr val="accent1"/>
                </a:solidFill>
              </a:rPr>
              <a:t>Design Kanban Board</a:t>
            </a:r>
            <a:r>
              <a:rPr lang="en-US" dirty="0"/>
              <a:t> typically has three columns:</a:t>
            </a:r>
          </a:p>
          <a:p>
            <a:pPr lvl="1"/>
            <a:r>
              <a:rPr lang="en-US" dirty="0"/>
              <a:t>Not Yet Addressed</a:t>
            </a:r>
          </a:p>
          <a:p>
            <a:pPr lvl="1"/>
            <a:r>
              <a:rPr lang="en-US" dirty="0"/>
              <a:t>Partially Addressed</a:t>
            </a:r>
          </a:p>
          <a:p>
            <a:pPr lvl="1"/>
            <a:r>
              <a:rPr lang="en-US" dirty="0"/>
              <a:t>Completely Addressed</a:t>
            </a:r>
          </a:p>
          <a:p>
            <a:r>
              <a:rPr lang="en-US" dirty="0"/>
              <a:t>Workflow:</a:t>
            </a:r>
          </a:p>
          <a:p>
            <a:pPr lvl="1"/>
            <a:r>
              <a:rPr lang="en-US" dirty="0"/>
              <a:t>At iteration start, place all drivers in </a:t>
            </a:r>
            <a:r>
              <a:rPr lang="en-US" dirty="0">
                <a:solidFill>
                  <a:schemeClr val="accent1"/>
                </a:solidFill>
              </a:rPr>
              <a:t>Not Yet Addressed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Move a driver to </a:t>
            </a:r>
            <a:r>
              <a:rPr lang="en-US" dirty="0">
                <a:solidFill>
                  <a:schemeClr val="accent1"/>
                </a:solidFill>
              </a:rPr>
              <a:t>Partially Addressed </a:t>
            </a:r>
            <a:r>
              <a:rPr lang="en-US" dirty="0"/>
              <a:t>when you begin addressing it.</a:t>
            </a:r>
          </a:p>
          <a:p>
            <a:pPr lvl="1"/>
            <a:r>
              <a:rPr lang="en-US" dirty="0"/>
              <a:t>After analysis confirms a driver’s requirements are met, move it to </a:t>
            </a:r>
            <a:r>
              <a:rPr lang="en-US" dirty="0">
                <a:solidFill>
                  <a:schemeClr val="accent1"/>
                </a:solidFill>
              </a:rPr>
              <a:t>Completely Addressed</a:t>
            </a:r>
            <a:r>
              <a:rPr lang="en-US" dirty="0"/>
              <a:t>.</a:t>
            </a:r>
          </a:p>
          <a:p>
            <a:r>
              <a:rPr lang="en-US" dirty="0"/>
              <a:t>Establish clear criteria for each transition (e.g., analysis completed or prototype implemented).</a:t>
            </a:r>
          </a:p>
          <a:p>
            <a:r>
              <a:rPr lang="en-US" dirty="0"/>
              <a:t>A Kanban board provides a visual snapshot of how many—and which—drivers remain to be fully addressed, helping you decide if more iterations are needed.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D743DC-00CD-1812-7373-85F255DBE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a Design Kanban 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739AC7-838D-5D02-FC36-EA3A0188AB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1599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ACFCE8D2-921D-3624-C205-FD68E6D3C1EE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27" r="-9727"/>
          <a:stretch/>
        </p:blipFill>
        <p:spPr/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6EC119-67E6-D691-8145-C7F7C0CD570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An example of a kanban board used to track design progress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18400D-5BD3-2525-6D80-FCC4F83965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994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285750" indent="-285750" algn="l">
          <a:buFont typeface="Arial" panose="020B0604020202020204" pitchFamily="34" charset="0"/>
          <a:buChar char="•"/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2528</TotalTime>
  <Words>2418</Words>
  <Application>Microsoft Office PowerPoint</Application>
  <PresentationFormat>Widescreen</PresentationFormat>
  <Paragraphs>211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Chapter Outline</vt:lpstr>
      <vt:lpstr>Introduction</vt:lpstr>
      <vt:lpstr>20.1 Attribute-Driven Design</vt:lpstr>
      <vt:lpstr>20.1 Attribute-Driven Design</vt:lpstr>
      <vt:lpstr>20.1 Attribute-Driven Design</vt:lpstr>
      <vt:lpstr>PowerPoint Presentation</vt:lpstr>
      <vt:lpstr>20.2 The Steps of ADD</vt:lpstr>
      <vt:lpstr>20.2 The Steps of ADD</vt:lpstr>
      <vt:lpstr>20.2 The Steps of ADD</vt:lpstr>
      <vt:lpstr>20.2 The Steps of ADD</vt:lpstr>
      <vt:lpstr>Iterate If Necessary</vt:lpstr>
      <vt:lpstr>20.3 More on ADD Step 4: Choose Design Concepts(s)</vt:lpstr>
      <vt:lpstr>Identification of Design Concepts</vt:lpstr>
      <vt:lpstr>Selection of Design Concepts</vt:lpstr>
      <vt:lpstr>Creation of Prototypes</vt:lpstr>
      <vt:lpstr>20.4 More on ADD Step 5: Producing Structures</vt:lpstr>
      <vt:lpstr>Instantiating Elements</vt:lpstr>
      <vt:lpstr>Associating Responsibilities and Identifying Properties</vt:lpstr>
      <vt:lpstr>Establishing Relationships Between Elements</vt:lpstr>
      <vt:lpstr>Defining Interfaces</vt:lpstr>
      <vt:lpstr>20.5 More on ADD Step 6: Creating Preliminary Documentation</vt:lpstr>
      <vt:lpstr>Recording Sketches of the Views</vt:lpstr>
      <vt:lpstr>Recording Sketches of the Views</vt:lpstr>
      <vt:lpstr>Recording Design Decisions</vt:lpstr>
      <vt:lpstr>20.6 More on ADD Step 7: Analysis and Review</vt:lpstr>
      <vt:lpstr>Use of an Architectural Backlog</vt:lpstr>
      <vt:lpstr>Use of a Design Kanban Board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mohamad khorsandi</dc:creator>
  <cp:lastModifiedBy>mohamad khorsandi</cp:lastModifiedBy>
  <cp:revision>41</cp:revision>
  <dcterms:created xsi:type="dcterms:W3CDTF">2025-05-02T12:16:21Z</dcterms:created>
  <dcterms:modified xsi:type="dcterms:W3CDTF">2025-05-14T12:45:19Z</dcterms:modified>
</cp:coreProperties>
</file>