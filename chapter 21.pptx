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handoutMasterIdLst>
    <p:handoutMasterId r:id="rId31"/>
  </p:handoutMasterIdLst>
  <p:sldIdLst>
    <p:sldId id="259" r:id="rId2"/>
    <p:sldId id="264" r:id="rId3"/>
    <p:sldId id="268" r:id="rId4"/>
    <p:sldId id="266" r:id="rId5"/>
    <p:sldId id="296" r:id="rId6"/>
    <p:sldId id="270" r:id="rId7"/>
    <p:sldId id="271" r:id="rId8"/>
    <p:sldId id="272" r:id="rId9"/>
    <p:sldId id="273" r:id="rId10"/>
    <p:sldId id="274" r:id="rId11"/>
    <p:sldId id="275" r:id="rId12"/>
    <p:sldId id="276" r:id="rId13"/>
    <p:sldId id="277" r:id="rId14"/>
    <p:sldId id="278" r:id="rId15"/>
    <p:sldId id="279" r:id="rId16"/>
    <p:sldId id="280" r:id="rId17"/>
    <p:sldId id="281" r:id="rId18"/>
    <p:sldId id="285" r:id="rId19"/>
    <p:sldId id="286" r:id="rId20"/>
    <p:sldId id="287" r:id="rId21"/>
    <p:sldId id="288" r:id="rId22"/>
    <p:sldId id="289" r:id="rId23"/>
    <p:sldId id="290" r:id="rId24"/>
    <p:sldId id="291" r:id="rId25"/>
    <p:sldId id="292" r:id="rId26"/>
    <p:sldId id="293" r:id="rId27"/>
    <p:sldId id="294" r:id="rId28"/>
    <p:sldId id="295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44C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01" autoAdjust="0"/>
    <p:restoredTop sz="94677" autoAdjust="0"/>
  </p:normalViewPr>
  <p:slideViewPr>
    <p:cSldViewPr snapToGrid="0">
      <p:cViewPr varScale="1">
        <p:scale>
          <a:sx n="48" d="100"/>
          <a:sy n="48" d="100"/>
        </p:scale>
        <p:origin x="77" y="869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154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87429BB-B4AE-1FD4-40CA-11DEC06DF33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36E014-1DD4-A911-0818-2801CAFD99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928E3B-7122-43E6-B3BB-09448C56C96C}" type="datetimeFigureOut">
              <a:rPr lang="en-US" smtClean="0"/>
              <a:t>25/07/25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07225-126A-9CD2-B38B-89A64803DAA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9A47BA-80EE-701F-EBD0-8E5B9C8D04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F22B76-F21B-401A-98B3-B52E9FD889B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15208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8C9CAF-43DF-44BF-8016-DC193E4E594B}" type="datetimeFigureOut">
              <a:rPr lang="en-US" smtClean="0"/>
              <a:t>25/07/25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C232D7-2694-4BD6-985B-15C23CEC77D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9440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اصل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1D6440A-0326-4286-686D-DD69C6C2D0A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09" y="886414"/>
            <a:ext cx="3884007" cy="5085173"/>
          </a:xfrm>
          <a:prstGeom prst="rect">
            <a:avLst/>
          </a:prstGeom>
        </p:spPr>
      </p:pic>
      <p:sp>
        <p:nvSpPr>
          <p:cNvPr id="3" name="TextBox 3">
            <a:extLst>
              <a:ext uri="{FF2B5EF4-FFF2-40B4-BE49-F238E27FC236}">
                <a16:creationId xmlns:a16="http://schemas.microsoft.com/office/drawing/2014/main" id="{CA2AF927-30AA-7708-FA45-DC09B6C7A633}"/>
              </a:ext>
            </a:extLst>
          </p:cNvPr>
          <p:cNvSpPr txBox="1"/>
          <p:nvPr userDrawn="1"/>
        </p:nvSpPr>
        <p:spPr>
          <a:xfrm>
            <a:off x="4889288" y="1701625"/>
            <a:ext cx="664920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4400" dirty="0"/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A107B7A-E65E-6134-1507-F92CE52BA14D}"/>
              </a:ext>
            </a:extLst>
          </p:cNvPr>
          <p:cNvSpPr txBox="1"/>
          <p:nvPr userDrawn="1"/>
        </p:nvSpPr>
        <p:spPr>
          <a:xfrm>
            <a:off x="5241066" y="886414"/>
            <a:ext cx="59456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University Of Isfahan</a:t>
            </a:r>
          </a:p>
          <a:p>
            <a:pPr algn="ctr"/>
            <a:endParaRPr lang="en-US" sz="2800" dirty="0"/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81D675CA-92B6-F987-200D-6735AB7A67AE}"/>
              </a:ext>
            </a:extLst>
          </p:cNvPr>
          <p:cNvSpPr txBox="1"/>
          <p:nvPr userDrawn="1"/>
        </p:nvSpPr>
        <p:spPr>
          <a:xfrm>
            <a:off x="5174480" y="5432903"/>
            <a:ext cx="6078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Dr. </a:t>
            </a:r>
            <a:r>
              <a:rPr lang="en-US" sz="20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Mohammadreza</a:t>
            </a: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 Sharbaf</a:t>
            </a:r>
          </a:p>
        </p:txBody>
      </p:sp>
    </p:spTree>
    <p:extLst>
      <p:ext uri="{BB962C8B-B14F-4D97-AF65-F5344CB8AC3E}">
        <p14:creationId xmlns:p14="http://schemas.microsoft.com/office/powerpoint/2010/main" val="1758266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معرفی کتاب مرج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96C45E3-84FC-009E-B990-CC3128943DCF}"/>
              </a:ext>
            </a:extLst>
          </p:cNvPr>
          <p:cNvSpPr txBox="1"/>
          <p:nvPr userDrawn="1"/>
        </p:nvSpPr>
        <p:spPr>
          <a:xfrm>
            <a:off x="2790613" y="2167116"/>
            <a:ext cx="66107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32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EE8E89-6157-D30C-AE9A-DE90DF72A3D5}"/>
              </a:ext>
            </a:extLst>
          </p:cNvPr>
          <p:cNvSpPr txBox="1"/>
          <p:nvPr userDrawn="1"/>
        </p:nvSpPr>
        <p:spPr>
          <a:xfrm>
            <a:off x="4996883" y="3059668"/>
            <a:ext cx="22930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b="1" i="0" dirty="0">
                <a:solidFill>
                  <a:schemeClr val="bg2">
                    <a:lumMod val="50000"/>
                  </a:schemeClr>
                </a:solidFill>
                <a:latin typeface="+mj-lt"/>
              </a:rPr>
              <a:t>4th edition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1C09B0-F458-52CF-2E89-C839C21696FD}"/>
              </a:ext>
            </a:extLst>
          </p:cNvPr>
          <p:cNvSpPr txBox="1"/>
          <p:nvPr userDrawn="1"/>
        </p:nvSpPr>
        <p:spPr>
          <a:xfrm>
            <a:off x="3929577" y="5154362"/>
            <a:ext cx="44276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Len Bass, Paul Clements, Rick Kazman</a:t>
            </a:r>
          </a:p>
          <a:p>
            <a:pPr marL="0" indent="0" algn="l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466936-600E-E015-B971-BE7279402C11}"/>
              </a:ext>
            </a:extLst>
          </p:cNvPr>
          <p:cNvSpPr txBox="1"/>
          <p:nvPr userDrawn="1"/>
        </p:nvSpPr>
        <p:spPr>
          <a:xfrm>
            <a:off x="2714412" y="1782292"/>
            <a:ext cx="6858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>
                <a:solidFill>
                  <a:schemeClr val="bg2">
                    <a:lumMod val="75000"/>
                  </a:schemeClr>
                </a:solidFill>
                <a:latin typeface="+mj-lt"/>
              </a:rPr>
              <a:t>Text Book:</a:t>
            </a:r>
          </a:p>
        </p:txBody>
      </p:sp>
    </p:spTree>
    <p:extLst>
      <p:ext uri="{BB962C8B-B14F-4D97-AF65-F5344CB8AC3E}">
        <p14:creationId xmlns:p14="http://schemas.microsoft.com/office/powerpoint/2010/main" val="326386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D763EB-F58C-2FDA-883E-D34AC3F89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BD9CD7-C12F-5578-3913-F6206D50C27B}"/>
              </a:ext>
            </a:extLst>
          </p:cNvPr>
          <p:cNvSpPr txBox="1"/>
          <p:nvPr userDrawn="1"/>
        </p:nvSpPr>
        <p:spPr>
          <a:xfrm>
            <a:off x="1859302" y="1303253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2C21CC-5ED0-E64B-EAB7-020E97E35EDD}"/>
              </a:ext>
            </a:extLst>
          </p:cNvPr>
          <p:cNvSpPr txBox="1"/>
          <p:nvPr userDrawn="1"/>
        </p:nvSpPr>
        <p:spPr>
          <a:xfrm>
            <a:off x="9205913" y="3698406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CC271C3-2751-4DDA-C95D-61E65E2C407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27363" y="1627188"/>
            <a:ext cx="6178550" cy="2625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b="1" i="1">
                <a:solidFill>
                  <a:schemeClr val="bg2">
                    <a:lumMod val="25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F6E1FB4-261B-CA90-BDD6-924DC25663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027364" y="5229225"/>
            <a:ext cx="6178550" cy="7112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0354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745AABA7-8654-6E03-E01A-130CB74BE74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88977" y="1015164"/>
            <a:ext cx="11058526" cy="5676247"/>
          </a:xfrm>
          <a:prstGeom prst="rect">
            <a:avLst/>
          </a:prstGeom>
        </p:spPr>
        <p:txBody>
          <a:bodyPr/>
          <a:lstStyle>
            <a:lvl1pPr marL="114300" indent="-3429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  <a:lvl6pPr marL="2286000" indent="0">
              <a:buNone/>
              <a:defRPr/>
            </a:lvl6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r>
              <a:rPr lang="en-US" dirty="0" err="1"/>
              <a:t>Asdfasdfasdfasdff</a:t>
            </a:r>
            <a:endParaRPr lang="en-US" dirty="0"/>
          </a:p>
          <a:p>
            <a:pPr marL="411480" marR="0" lvl="1" indent="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dirty="0"/>
              <a:t>Second level</a:t>
            </a:r>
          </a:p>
          <a:p>
            <a:pPr marL="1005840" marR="0" lvl="2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Times New Roman" panose="02020603050405020304" pitchFamily="18" charset="0"/>
              <a:buChar char="‣"/>
              <a:tabLst/>
              <a:defRPr/>
            </a:pPr>
            <a:r>
              <a:rPr lang="en-US" dirty="0"/>
              <a:t>Third level</a:t>
            </a:r>
          </a:p>
          <a:p>
            <a:pPr marL="1645920" marR="0" lvl="4" indent="-2286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Tx/>
              <a:buSzPct val="100000"/>
              <a:buFont typeface="Times New Roman" panose="02020603050405020304" pitchFamily="18" charset="0"/>
              <a:buChar char="‣"/>
              <a:tabLst/>
              <a:defRPr/>
            </a:pPr>
            <a:endParaRPr lang="en-US" dirty="0"/>
          </a:p>
          <a:p>
            <a:pPr lvl="4"/>
            <a:endParaRPr lang="en-US" dirty="0"/>
          </a:p>
          <a:p>
            <a:pPr lvl="0"/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6EA75A14-EC44-C947-19E0-5B86DE32A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9150B68-8BC2-8C77-3FFC-2A2ADED558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715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بخش‌ه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4D3C09-A831-571A-01CB-A6534B0A75D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630968"/>
            <a:ext cx="10515600" cy="257452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1" spc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Section Name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AB62D3E-5146-2D84-53F5-BB186CCBF35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2492375"/>
            <a:ext cx="10515600" cy="9366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SECTION #</a:t>
            </a:r>
          </a:p>
        </p:txBody>
      </p:sp>
    </p:spTree>
    <p:extLst>
      <p:ext uri="{BB962C8B-B14F-4D97-AF65-F5344CB8AC3E}">
        <p14:creationId xmlns:p14="http://schemas.microsoft.com/office/powerpoint/2010/main" val="825917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 و 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81ADF6-1F4F-CE66-F068-D1A26D9E8A64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809426" y="1031785"/>
            <a:ext cx="5826425" cy="315274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D2E4CAB-BEBB-3707-3FA1-D084FAEA841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6149" y="1031785"/>
            <a:ext cx="5081171" cy="3159650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Clr>
                <a:schemeClr val="tx1"/>
              </a:buClr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buClr>
                <a:schemeClr val="tx1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D33701F9-BC79-B1F2-F33F-566DE40E9585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556148" y="4349324"/>
            <a:ext cx="11079703" cy="2355005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5" name="Title 24">
            <a:extLst>
              <a:ext uri="{FF2B5EF4-FFF2-40B4-BE49-F238E27FC236}">
                <a16:creationId xmlns:a16="http://schemas.microsoft.com/office/drawing/2014/main" id="{A1248D6A-2F31-7DAE-E178-90148578B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C84E279C-06EF-FA3D-FB33-057EDCA7E79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6741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B4413EB-9324-9312-01D4-01212668D4CA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650709" y="518312"/>
            <a:ext cx="8890581" cy="500095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7DC52E4-EE13-112F-7A75-20D1103E8E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5625" y="5683250"/>
            <a:ext cx="11036300" cy="87891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000" i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caption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AA41ADF-5ADB-4478-F3AE-A908B05F64E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6445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0350306-1A92-387D-FEA6-25A51B678C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149" y="153671"/>
            <a:ext cx="670079" cy="6412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itle Placeholder 11">
            <a:extLst>
              <a:ext uri="{FF2B5EF4-FFF2-40B4-BE49-F238E27FC236}">
                <a16:creationId xmlns:a16="http://schemas.microsoft.com/office/drawing/2014/main" id="{A8C8BAA5-76D7-C8B1-7A71-D70A776A6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889" y="153671"/>
            <a:ext cx="10436810" cy="6412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1.1 Definition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9A18509-0EE4-08D3-489F-C7109F42C063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5546" y="166588"/>
            <a:ext cx="640305" cy="640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829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5" r:id="rId3"/>
    <p:sldLayoutId id="2147483650" r:id="rId4"/>
    <p:sldLayoutId id="2147483651" r:id="rId5"/>
    <p:sldLayoutId id="2147483652" r:id="rId6"/>
    <p:sldLayoutId id="2147483653" r:id="rId7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4449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FC77B4-BC48-76BC-D426-F894A03FAA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Evaluating an Architecture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69401E-3D2B-47A5-6D3F-CCE137706A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CHAPTER 21</a:t>
            </a:r>
          </a:p>
        </p:txBody>
      </p:sp>
    </p:spTree>
    <p:extLst>
      <p:ext uri="{BB962C8B-B14F-4D97-AF65-F5344CB8AC3E}">
        <p14:creationId xmlns:p14="http://schemas.microsoft.com/office/powerpoint/2010/main" val="702636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508ED7A-E858-9048-A2EE-70B0CAEFB2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9505E-138C-BEFA-F1DA-E22DF7575B8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sz="3200" b="0" dirty="0"/>
              <a:t>A doctor can bury his mistakes</a:t>
            </a:r>
            <a:r>
              <a:rPr lang="en-US" sz="3200" b="0"/>
              <a:t>, but an </a:t>
            </a:r>
            <a:r>
              <a:rPr lang="en-US" sz="3200" b="0" dirty="0"/>
              <a:t>architect can only advise his clients to plant vines.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B87A4A-CF6B-713C-5025-563FAA7773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—Frank Lloyd Wright</a:t>
            </a:r>
          </a:p>
        </p:txBody>
      </p:sp>
    </p:spTree>
    <p:extLst>
      <p:ext uri="{BB962C8B-B14F-4D97-AF65-F5344CB8AC3E}">
        <p14:creationId xmlns:p14="http://schemas.microsoft.com/office/powerpoint/2010/main" val="156211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2482658-2BE8-68DC-2E49-3E16AB1B08D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dirty="0"/>
              <a:t>Introduction</a:t>
            </a:r>
          </a:p>
          <a:p>
            <a:pPr>
              <a:spcBef>
                <a:spcPts val="1200"/>
              </a:spcBef>
            </a:pPr>
            <a:r>
              <a:rPr lang="en-US" dirty="0"/>
              <a:t>Evaluation as a Risk Reduction Activity</a:t>
            </a:r>
          </a:p>
          <a:p>
            <a:pPr>
              <a:spcBef>
                <a:spcPts val="1200"/>
              </a:spcBef>
            </a:pPr>
            <a:r>
              <a:rPr lang="en-US" dirty="0"/>
              <a:t>What Are the Key Evaluation Activities?</a:t>
            </a:r>
          </a:p>
          <a:p>
            <a:pPr>
              <a:spcBef>
                <a:spcPts val="1200"/>
              </a:spcBef>
            </a:pPr>
            <a:r>
              <a:rPr lang="en-US" dirty="0"/>
              <a:t>Who Can Perform the Evaluation?</a:t>
            </a:r>
          </a:p>
          <a:p>
            <a:pPr>
              <a:spcBef>
                <a:spcPts val="1200"/>
              </a:spcBef>
            </a:pPr>
            <a:r>
              <a:rPr lang="en-US" dirty="0"/>
              <a:t>Contextual Factors</a:t>
            </a:r>
          </a:p>
          <a:p>
            <a:pPr>
              <a:spcBef>
                <a:spcPts val="1200"/>
              </a:spcBef>
            </a:pPr>
            <a:r>
              <a:rPr lang="en-US" dirty="0"/>
              <a:t>The Architecture Tradeoff Analysis Method</a:t>
            </a:r>
          </a:p>
          <a:p>
            <a:pPr lvl="1">
              <a:spcBef>
                <a:spcPts val="600"/>
              </a:spcBef>
            </a:pPr>
            <a:r>
              <a:rPr lang="en-US" dirty="0"/>
              <a:t>Participants in the ATAM</a:t>
            </a:r>
          </a:p>
          <a:p>
            <a:pPr lvl="1">
              <a:spcBef>
                <a:spcPts val="600"/>
              </a:spcBef>
            </a:pPr>
            <a:r>
              <a:rPr lang="en-US" dirty="0"/>
              <a:t>Outputs of the ATAM</a:t>
            </a:r>
          </a:p>
          <a:p>
            <a:pPr lvl="1">
              <a:spcBef>
                <a:spcPts val="600"/>
              </a:spcBef>
            </a:pPr>
            <a:r>
              <a:rPr lang="en-US" dirty="0"/>
              <a:t>Phases of the ATAM</a:t>
            </a:r>
          </a:p>
          <a:p>
            <a:pPr lvl="1">
              <a:spcBef>
                <a:spcPts val="600"/>
              </a:spcBef>
            </a:pPr>
            <a:r>
              <a:rPr lang="en-US" dirty="0"/>
              <a:t>Steps of the Evaluation Phases</a:t>
            </a:r>
          </a:p>
          <a:p>
            <a:pPr>
              <a:spcBef>
                <a:spcPts val="1200"/>
              </a:spcBef>
            </a:pPr>
            <a:r>
              <a:rPr lang="en-US" dirty="0"/>
              <a:t>Lightweight Architecture Evaluation</a:t>
            </a:r>
          </a:p>
          <a:p>
            <a:pPr>
              <a:spcBef>
                <a:spcPts val="1200"/>
              </a:spcBef>
            </a:pPr>
            <a:r>
              <a:rPr lang="en-US" dirty="0"/>
              <a:t>Summary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A50FF4-3542-AD6D-6F54-5EF273AB4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Outline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7B9C1B-F8C3-F07B-728F-B0949F0314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826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20DA50CE-9646-BC28-0D60-DF8A999CE830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386" b="21386"/>
          <a:stretch>
            <a:fillRect/>
          </a:stretch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5CF416-1645-E76B-21B2-0CB72FC27D1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Architecture evaluation </a:t>
            </a:r>
            <a:r>
              <a:rPr lang="en-US" dirty="0"/>
              <a:t>is the process of determining the degree to which an architecture is fit for the purpose for which it is intended.</a:t>
            </a:r>
          </a:p>
          <a:p>
            <a:r>
              <a:rPr lang="en-US" dirty="0"/>
              <a:t>To be useful, the cost of evaluation needs to be less than the value it provides.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45B118-C8DF-149A-F0A6-22FE6BB4F78E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r>
              <a:rPr lang="en-US" dirty="0"/>
              <a:t>Different evaluation techniques come with different costs.</a:t>
            </a:r>
          </a:p>
          <a:p>
            <a:r>
              <a:rPr lang="en-US" dirty="0"/>
              <a:t>But the costs can be measured in terms of the time spent by the people involved in the preparation, execution, and follow-up of the evaluation activities.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8CE61A8-45D1-EA5B-585C-365BF4CA4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BFA16C-6F28-CB89-EF43-B11BA7898FA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59790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AA2E1CF-53A4-23CE-5E17-D622D7E95B8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Every architecture comes with </a:t>
            </a:r>
            <a:r>
              <a:rPr lang="en-US" dirty="0">
                <a:solidFill>
                  <a:schemeClr val="accent1"/>
                </a:solidFill>
              </a:rPr>
              <a:t>risks</a:t>
            </a:r>
            <a:r>
              <a:rPr lang="en-US" dirty="0"/>
              <a:t>.</a:t>
            </a:r>
          </a:p>
          <a:p>
            <a:r>
              <a:rPr lang="en-US" dirty="0"/>
              <a:t>A risk is an event that has both an impact and a probability.</a:t>
            </a:r>
          </a:p>
          <a:p>
            <a:r>
              <a:rPr lang="en-US" dirty="0"/>
              <a:t>The estimated cost of a risk is the probability of that event occurring multiplied by the cost of the impact.</a:t>
            </a:r>
          </a:p>
          <a:p>
            <a:r>
              <a:rPr lang="en-US" dirty="0"/>
              <a:t>Evaluations act like an insurance policy.</a:t>
            </a:r>
          </a:p>
          <a:p>
            <a:r>
              <a:rPr lang="en-US" dirty="0"/>
              <a:t>If the system being constructed costs millions or billions of dollars or has large safety-critical implications then the impact of a risk event will be large.</a:t>
            </a:r>
          </a:p>
          <a:p>
            <a:r>
              <a:rPr lang="en-US" dirty="0"/>
              <a:t>By comparison, if the system is a console-based game costing tens or hundreds of thousands of dollars to create, then the impact of a risk event will be considerably smaller.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799CBA2-E20B-0664-92E8-F742A42CC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as a Risk Reduction Activity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0D11F7-5942-EA02-DC95-1911CBF0A5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42992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1BFCCC4-5322-EEB4-5CC8-C948592ADB7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Key evaluation activities align evaluation with the architecturally significant requirements that drive system success. </a:t>
            </a:r>
          </a:p>
          <a:p>
            <a:r>
              <a:rPr lang="en-US" dirty="0"/>
              <a:t>An evaluation can be carried out at any point in the design process where a candidate architecture, or at least a coherent reviewable part of one, exists.</a:t>
            </a:r>
          </a:p>
          <a:p>
            <a:r>
              <a:rPr lang="en-US" dirty="0"/>
              <a:t>Every evaluation should include (at least) these steps:</a:t>
            </a:r>
          </a:p>
          <a:p>
            <a:pPr marL="868680" lvl="1" indent="-457200">
              <a:buFont typeface="+mj-lt"/>
              <a:buAutoNum type="arabicPeriod"/>
            </a:pPr>
            <a:r>
              <a:rPr lang="en-US" dirty="0"/>
              <a:t>The reviewers individually ensure that they understand the current state of the architecture.</a:t>
            </a:r>
          </a:p>
          <a:p>
            <a:pPr marL="868680" lvl="1" indent="-457200">
              <a:buFont typeface="+mj-lt"/>
              <a:buAutoNum type="arabicPeriod"/>
            </a:pPr>
            <a:r>
              <a:rPr lang="en-US" dirty="0"/>
              <a:t>The reviewers determine a number of drivers to guide the review, typically the high-priority quality attribute scenarios.</a:t>
            </a:r>
          </a:p>
          <a:p>
            <a:pPr marL="868680" lvl="1" indent="-457200">
              <a:buFont typeface="+mj-lt"/>
              <a:buAutoNum type="arabicPeriod"/>
            </a:pPr>
            <a:r>
              <a:rPr lang="en-US" dirty="0"/>
              <a:t>For each scenario, each reviewer should determine whether the scenario is satisfied, and whether any design decisions will prevent other scenarios from being met.</a:t>
            </a:r>
          </a:p>
          <a:p>
            <a:pPr marL="868680" lvl="1" indent="-457200">
              <a:buFont typeface="+mj-lt"/>
              <a:buAutoNum type="arabicPeriod"/>
            </a:pPr>
            <a:r>
              <a:rPr lang="en-US" dirty="0"/>
              <a:t>The reviewers capture potential problems exposed during the prior step to form the basis for follow-up, deciding whether to fix each problem or accept its risk.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026F89A-DAC2-F7CA-4009-A9CD84FBD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the Key Evaluation Activities?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8E9A32-BA7E-33E7-0A32-379759EEC8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3168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641737-82BC-1C7D-DB49-EAAB317962B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Evaluators should be highly skilled in the domain and the various quality attributes for which the system is to be evaluated.</a:t>
            </a:r>
          </a:p>
          <a:p>
            <a:r>
              <a:rPr lang="en-US" dirty="0"/>
              <a:t>Excellent organizational and facilitation skills are also a must for evaluators.</a:t>
            </a:r>
          </a:p>
          <a:p>
            <a:r>
              <a:rPr lang="en-US" dirty="0"/>
              <a:t>Architecture evaluations can be conducted by the architect, peer reviewers, or external experts, each bringing different strengths and perspectives.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Evaluation by the Architect</a:t>
            </a:r>
          </a:p>
          <a:p>
            <a:pPr lvl="1"/>
            <a:r>
              <a:rPr lang="en-US" dirty="0"/>
              <a:t>Evaluation is done—implicitly or explicitly—every time the architect makes a key design decision to address an ASR or completes a design milestone.</a:t>
            </a:r>
          </a:p>
          <a:p>
            <a:pPr lvl="1"/>
            <a:r>
              <a:rPr lang="en-US" dirty="0"/>
              <a:t>Evaluation by the architect is an integral part of the process of architecture design.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B97AD6F-8EF9-653F-14FF-4F92B5426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Can Perform the Evaluation?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438778-1A8C-1C3D-F9DB-95D77180D0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24211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82FF37F-7322-0B10-C075-91FC28834C4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Evaluation by Peer Review</a:t>
            </a:r>
          </a:p>
          <a:p>
            <a:pPr lvl="1"/>
            <a:r>
              <a:rPr lang="en-US" dirty="0"/>
              <a:t>Architectural designs to address ASRs can be peer reviewed, just as code can be peer reviewed.</a:t>
            </a:r>
          </a:p>
          <a:p>
            <a:pPr lvl="1"/>
            <a:r>
              <a:rPr lang="en-US" dirty="0"/>
              <a:t>There should be a fixed amount of time for the peer review, typically several hours to half a day.</a:t>
            </a:r>
          </a:p>
          <a:p>
            <a:pPr lvl="1"/>
            <a:r>
              <a:rPr lang="en-US" dirty="0"/>
              <a:t>If the designers are using the ADD process, then a peer review can be done at the end of step 7 of each ADD iteration.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Evaluation by Outsiders</a:t>
            </a:r>
          </a:p>
          <a:p>
            <a:pPr lvl="1"/>
            <a:r>
              <a:rPr lang="en-US" dirty="0"/>
              <a:t>Outside evaluators can cast a more objective eye on an architecture.</a:t>
            </a:r>
          </a:p>
          <a:p>
            <a:pPr lvl="1"/>
            <a:r>
              <a:rPr lang="en-US" dirty="0"/>
              <a:t>Outsiders are less likely to be afraid to bring up sensitive problems.</a:t>
            </a:r>
          </a:p>
          <a:p>
            <a:pPr lvl="1"/>
            <a:r>
              <a:rPr lang="en-US" dirty="0"/>
              <a:t>Often, outsiders are chosen because they possess specialized knowledge or experience.</a:t>
            </a:r>
          </a:p>
          <a:p>
            <a:pPr lvl="1"/>
            <a:r>
              <a:rPr lang="en-US" dirty="0"/>
              <a:t>Managers tend to be more inclined to listen to problems uncovered by an outside team hired at considerable cost than by team members within the organization.</a:t>
            </a:r>
          </a:p>
          <a:p>
            <a:pPr lvl="1"/>
            <a:r>
              <a:rPr lang="en-US" dirty="0"/>
              <a:t>In practice, because engaging them is complicated and often expensive, they tend to be used to evaluate complete architectures instead of a portion of an architecture.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C55DCBD-AEBE-89CE-2F30-0BEABDBFD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Can Perform the Evaluation?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31C482-524A-4D56-5C8F-D85AF790DC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08160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0D196D-1632-5D05-B978-6F3C3FBF704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For peer reviews or outside analysis, a number of contextual factors must be considered when setting up an evaluation: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What artifacts are available? </a:t>
            </a:r>
          </a:p>
          <a:p>
            <a:pPr lvl="2"/>
            <a:r>
              <a:rPr lang="en-US" dirty="0"/>
              <a:t>To perform an architectural evaluation, there must be an artifact that both describes the architecture and is readily available.</a:t>
            </a:r>
          </a:p>
          <a:p>
            <a:pPr lvl="2"/>
            <a:r>
              <a:rPr lang="en-US" dirty="0"/>
              <a:t>Some evaluations may take place after the system is operational. 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Who sees the results? </a:t>
            </a:r>
          </a:p>
          <a:p>
            <a:pPr lvl="2"/>
            <a:r>
              <a:rPr lang="en-US" dirty="0"/>
              <a:t>Some evaluations are performed with the full knowledge and participation of all of the stakeholders. Others are performed more privately.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Which stakeholders will participate? </a:t>
            </a:r>
          </a:p>
          <a:p>
            <a:pPr lvl="2"/>
            <a:r>
              <a:rPr lang="en-US" dirty="0"/>
              <a:t>The evaluation process should include a method to elicit the important stakeholders’ goals and concerns regarding the system.</a:t>
            </a:r>
          </a:p>
          <a:p>
            <a:pPr lvl="2"/>
            <a:r>
              <a:rPr lang="en-US" dirty="0"/>
              <a:t>At this stage, it is critical to identify the individuals who are needed and ensure their participation in the evaluation.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415915B-941D-D36C-4652-3710A9B9B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Contextual Factors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B8F50-2AE9-1FD0-8CF8-64A08B902C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08060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CCFBDEF-BEA9-6E1F-A2FB-BF183E6B01D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What are the business goals?</a:t>
            </a:r>
          </a:p>
          <a:p>
            <a:pPr lvl="2"/>
            <a:r>
              <a:rPr lang="en-US" dirty="0"/>
              <a:t>The evaluation should answer whether the system will satisfy the business goals.</a:t>
            </a:r>
          </a:p>
          <a:p>
            <a:pPr lvl="2"/>
            <a:r>
              <a:rPr lang="en-US" dirty="0"/>
              <a:t>If the business goals are not explicitly captured and prioritized prior to the evaluation, then a portion of the evaluation should be dedicated to this task.</a:t>
            </a:r>
          </a:p>
          <a:p>
            <a:r>
              <a:rPr lang="en-US" dirty="0"/>
              <a:t>Evaluations by peers and by outside evaluators are common enough that we have </a:t>
            </a:r>
            <a:r>
              <a:rPr lang="en-US" dirty="0">
                <a:solidFill>
                  <a:schemeClr val="accent1"/>
                </a:solidFill>
              </a:rPr>
              <a:t>formalized</a:t>
            </a:r>
            <a:r>
              <a:rPr lang="en-US" dirty="0"/>
              <a:t> processes to guide the evaluation.</a:t>
            </a:r>
          </a:p>
          <a:p>
            <a:r>
              <a:rPr lang="en-US" dirty="0"/>
              <a:t>These processes define who should participate and which activities should occur during the evaluation.</a:t>
            </a:r>
          </a:p>
          <a:p>
            <a:r>
              <a:rPr lang="en-US" dirty="0"/>
              <a:t>Formalizing a process make the process more repeatable, help the stakeholders understand evaluation, helps train new evaluators, etc.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505D6E5-226D-23C7-812C-DFF077754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Contextual Factors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A4182-954C-7D13-053E-9CA6159349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79047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9D6168-FE39-A374-9CB1-358B7072B14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>
                <a:solidFill>
                  <a:schemeClr val="accent1"/>
                </a:solidFill>
              </a:rPr>
              <a:t>Architecture Tradeoff Analysis Method </a:t>
            </a:r>
            <a:r>
              <a:rPr lang="en-US" dirty="0"/>
              <a:t>(</a:t>
            </a:r>
            <a:r>
              <a:rPr lang="en-US" dirty="0">
                <a:solidFill>
                  <a:schemeClr val="accent1"/>
                </a:solidFill>
              </a:rPr>
              <a:t>ATAM</a:t>
            </a:r>
            <a:r>
              <a:rPr lang="en-US" dirty="0"/>
              <a:t>) is the process we have </a:t>
            </a:r>
            <a:r>
              <a:rPr lang="en-US" dirty="0">
                <a:solidFill>
                  <a:schemeClr val="accent1"/>
                </a:solidFill>
              </a:rPr>
              <a:t>formalized</a:t>
            </a:r>
            <a:r>
              <a:rPr lang="en-US" dirty="0"/>
              <a:t> to perform architecture evaluations.</a:t>
            </a:r>
          </a:p>
          <a:p>
            <a:r>
              <a:rPr lang="en-US" dirty="0"/>
              <a:t>The ATAM has been used for more than two decades to evaluate software architectures of large systems in domains ranging from automotive to financial to defense.</a:t>
            </a:r>
          </a:p>
          <a:p>
            <a:r>
              <a:rPr lang="en-US" dirty="0"/>
              <a:t>The ATAM is designed so that evaluators do not need prior familiarity with the architecture or its business goals, and the system need not be constructed yet.</a:t>
            </a:r>
          </a:p>
          <a:p>
            <a:r>
              <a:rPr lang="en-US" dirty="0"/>
              <a:t>The ATAM is a widely used, structured method that supports early and objective evaluation of software architectures.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DE9CB1C-EA33-6693-A874-41EA984C5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Architecture Tradeoff Analysis Method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EA527F-A207-F6FD-B1AC-308EEDA9CA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61591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A52EA7E-C755-9408-79B3-DA46F400B13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 successful ATAM evaluation involves collaboration between three distinct groups: the </a:t>
            </a:r>
            <a:r>
              <a:rPr lang="en-US" dirty="0">
                <a:solidFill>
                  <a:schemeClr val="accent1"/>
                </a:solidFill>
              </a:rPr>
              <a:t>evaluation team</a:t>
            </a:r>
            <a:r>
              <a:rPr lang="en-US" dirty="0"/>
              <a:t>, </a:t>
            </a:r>
            <a:r>
              <a:rPr lang="en-US" dirty="0">
                <a:solidFill>
                  <a:schemeClr val="accent1"/>
                </a:solidFill>
              </a:rPr>
              <a:t>project decision makers</a:t>
            </a:r>
            <a:r>
              <a:rPr lang="en-US" dirty="0"/>
              <a:t>, and </a:t>
            </a:r>
            <a:r>
              <a:rPr lang="en-US" dirty="0">
                <a:solidFill>
                  <a:schemeClr val="accent1"/>
                </a:solidFill>
              </a:rPr>
              <a:t>architecture stakeholders</a:t>
            </a:r>
            <a:r>
              <a:rPr lang="en-US" dirty="0"/>
              <a:t>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Evaluation Team</a:t>
            </a:r>
          </a:p>
          <a:p>
            <a:pPr lvl="1"/>
            <a:r>
              <a:rPr lang="en-US" dirty="0"/>
              <a:t>The evaluation team usually consists of three to five people.</a:t>
            </a:r>
          </a:p>
          <a:p>
            <a:pPr lvl="1"/>
            <a:r>
              <a:rPr lang="en-US" dirty="0"/>
              <a:t>Each member is assigned a number of specific roles. a single person may adopt several roles.</a:t>
            </a:r>
          </a:p>
          <a:p>
            <a:pPr lvl="1"/>
            <a:r>
              <a:rPr lang="en-US" dirty="0"/>
              <a:t>They may work for the same organization or they may be outside consultants.</a:t>
            </a:r>
          </a:p>
          <a:p>
            <a:pPr lvl="1"/>
            <a:r>
              <a:rPr lang="en-US" dirty="0"/>
              <a:t>They need to be recognized as competent, unbiased outsiders with no hidden agendas.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Project Decision Makers</a:t>
            </a:r>
          </a:p>
          <a:p>
            <a:pPr lvl="1"/>
            <a:r>
              <a:rPr lang="en-US" dirty="0"/>
              <a:t>These people are empowered to speak for the development project or have the authority to mandate changes to it.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pPr lvl="1"/>
            <a:r>
              <a:rPr lang="en-US" dirty="0"/>
              <a:t>The architect is always included—a cardinal rule of architecture evaluation is that the architect must willingly participate.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CE8E6CA-5B3F-AD47-3238-C09BAC451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Participants in the ATAM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A8B4E-6963-AB2F-3667-7CCA8501A1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89327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5703D4-B00B-7F67-12D2-66B499938D6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Architecture Stakeholders</a:t>
            </a:r>
          </a:p>
          <a:p>
            <a:pPr lvl="1"/>
            <a:r>
              <a:rPr lang="en-US" dirty="0"/>
              <a:t>Stakeholders have a vested interest in the architecture performing as advertised.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pPr lvl="1"/>
            <a:r>
              <a:rPr lang="en-US" dirty="0"/>
              <a:t>Their job during an evaluation is to articulate the specific quality attribute goals that the architecture should meet.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pPr lvl="1"/>
            <a:r>
              <a:rPr lang="en-US" dirty="0"/>
              <a:t>A rule of thumb is that you should expect to enlist 10 to 25 stakeholders for the evaluation of a large enterprise-critical architecture.</a:t>
            </a:r>
          </a:p>
          <a:p>
            <a:pPr lvl="1"/>
            <a:r>
              <a:rPr lang="en-US" dirty="0"/>
              <a:t>Unlike the evaluation team and project decision makers, stakeholders do not participate in the entire exercise.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54C2EB-2A09-984C-641C-50B0AF124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Participants in the ATAM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4F124F-9B43-B10A-4EDF-B87DD7DCB2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88374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885F70-84C0-B0E0-9B97-8371E55E32A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The ATAM produces a range of tangible and intangible outputs that support informed architectural decision-making and stakeholder alignment.</a:t>
            </a:r>
          </a:p>
          <a:p>
            <a:pPr marL="228600" indent="-457200">
              <a:buFont typeface="+mj-lt"/>
              <a:buAutoNum type="arabicPeriod"/>
            </a:pPr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Concise Presentation of the Architecture</a:t>
            </a:r>
          </a:p>
          <a:p>
            <a:pPr lvl="1"/>
            <a:r>
              <a:rPr lang="en-US" dirty="0"/>
              <a:t>One requirement of the ATAM is that the architecture be presented in one hour or less.</a:t>
            </a:r>
          </a:p>
          <a:p>
            <a:pPr marL="228600" indent="-457200">
              <a:buFont typeface="+mj-lt"/>
              <a:buAutoNum type="arabicPeriod"/>
            </a:pPr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Articulation of the Business Goals</a:t>
            </a:r>
          </a:p>
          <a:p>
            <a:pPr lvl="1"/>
            <a:r>
              <a:rPr lang="en-US" dirty="0"/>
              <a:t>The business goals presented in the ATAM exercise are being seen by some of the assembled participants for the first time.</a:t>
            </a:r>
          </a:p>
          <a:p>
            <a:pPr lvl="1"/>
            <a:r>
              <a:rPr lang="en-US" dirty="0"/>
              <a:t>This description of the business goals... becomes part of the project’s legacy.</a:t>
            </a:r>
          </a:p>
          <a:p>
            <a:pPr marL="228600" indent="-457200">
              <a:buFont typeface="+mj-lt"/>
              <a:buAutoNum type="arabicPeriod"/>
            </a:pPr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Prioritized Quality Attribute Requirements</a:t>
            </a:r>
          </a:p>
          <a:p>
            <a:pPr lvl="1"/>
            <a:r>
              <a:rPr lang="en-US" dirty="0"/>
              <a:t>The ATAM uses prioritized quality attribute scenarios as the basis for evaluating the architecture.</a:t>
            </a:r>
          </a:p>
          <a:p>
            <a:pPr lvl="1"/>
            <a:r>
              <a:rPr lang="en-US" dirty="0"/>
              <a:t>Those scenarios may already exist... but if not, they are generated by the participants.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A0E2EBA-4ED1-3053-CAC6-48C00EEB5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Outputs of the ATAM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EDB53-D047-7191-FA40-D05930E2D3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2635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248F75-52B6-F9A6-106F-3DE1B5317E1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228600" indent="-457200">
              <a:buFont typeface="+mj-lt"/>
              <a:buAutoNum type="arabicPeriod" startAt="4"/>
            </a:pPr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Set of Risks and Non-Risks</a:t>
            </a:r>
          </a:p>
          <a:p>
            <a:pPr lvl="1"/>
            <a:r>
              <a:rPr lang="en-US" dirty="0"/>
              <a:t>An architectural risk is a decision that may lead to undesirable consequences.</a:t>
            </a:r>
          </a:p>
          <a:p>
            <a:pPr lvl="1"/>
            <a:r>
              <a:rPr lang="en-US" dirty="0"/>
              <a:t>The identified risks form the basis for an architectural risk mitigation plan.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pPr marL="228600" indent="-457200">
              <a:buFont typeface="+mj-lt"/>
              <a:buAutoNum type="arabicPeriod" startAt="4"/>
            </a:pPr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Set of Risk Themes</a:t>
            </a:r>
          </a:p>
          <a:p>
            <a:pPr lvl="1"/>
            <a:r>
              <a:rPr lang="en-US" dirty="0"/>
              <a:t>The evaluation team examines the full set of discovered risks to look for overarching themes.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pPr lvl="1"/>
            <a:r>
              <a:rPr lang="en-US" dirty="0"/>
              <a:t>If left untreated, these risk themes will threaten the project’s business goals.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pPr marL="228600" indent="-457200">
              <a:buFont typeface="+mj-lt"/>
              <a:buAutoNum type="arabicPeriod" startAt="4"/>
            </a:pPr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Mapping of Architectural Decisions to Quality Requirements</a:t>
            </a:r>
          </a:p>
          <a:p>
            <a:pPr lvl="1"/>
            <a:r>
              <a:rPr lang="en-US" dirty="0"/>
              <a:t>Architectural decisions can be interpreted in terms of the drivers that they support or hinder.</a:t>
            </a:r>
          </a:p>
          <a:p>
            <a:pPr lvl="1"/>
            <a:r>
              <a:rPr lang="en-US" dirty="0"/>
              <a:t>They can serve as a statement of the rationales for those decisions.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4DB3D1-1316-42BE-C7A6-918F84DDE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Outputs of the ATAM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B7B031-1C61-544B-7E30-FDB01C18EC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51658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A27FCFF-D72D-33F6-3DEE-E4E198D0079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228600" indent="-457200">
              <a:buFont typeface="+mj-lt"/>
              <a:buAutoNum type="arabicPeriod" startAt="7"/>
            </a:pPr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Identified Sensitivity Points and Tradeoff Points</a:t>
            </a:r>
          </a:p>
          <a:p>
            <a:pPr lvl="1"/>
            <a:r>
              <a:rPr lang="en-US" dirty="0"/>
              <a:t>Sensitivity points are architectural decisions that have a marked effect on a quality attribute response.</a:t>
            </a:r>
          </a:p>
          <a:p>
            <a:pPr lvl="1"/>
            <a:r>
              <a:rPr lang="en-US" dirty="0"/>
              <a:t>Tradeoffs occur when two or more quality attribute responses are sensitive to the same architectural decision, but one of them improves while the other degrades.</a:t>
            </a:r>
          </a:p>
          <a:p>
            <a:r>
              <a:rPr lang="en-US" dirty="0"/>
              <a:t>The outputs of the ATAM exercise can be used to build a final report that recaps the method, summarizes the proceedings, captures the scenarios and their analysis, and catalogs the findings.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F265FB-6688-E896-3F91-EE5FE7020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Outputs of the ATAM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7E9B62-A843-2636-236C-E9C986F543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93293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26625C8-0684-9B96-EF72-0F98D10AC224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49548" b="-49548"/>
          <a:stretch/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C39F8-CDD0-7A10-2E62-8AD93045A4D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In phase 0, “</a:t>
            </a:r>
            <a:r>
              <a:rPr lang="en-US" dirty="0">
                <a:solidFill>
                  <a:schemeClr val="accent1"/>
                </a:solidFill>
              </a:rPr>
              <a:t>Partnership and Preparation</a:t>
            </a:r>
            <a:r>
              <a:rPr lang="en-US" dirty="0"/>
              <a:t>” the evaluation team leadership and the key project decision makers work out the details of the exercise.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1B62A1-1CB7-483C-5165-65857BD7CEA7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r>
              <a:rPr lang="en-US" dirty="0"/>
              <a:t>During Phases 1 and 2, collectively known as “</a:t>
            </a:r>
            <a:r>
              <a:rPr lang="en-US" dirty="0">
                <a:solidFill>
                  <a:schemeClr val="accent1"/>
                </a:solidFill>
              </a:rPr>
              <a:t>Evaluation</a:t>
            </a:r>
            <a:r>
              <a:rPr lang="en-US" dirty="0"/>
              <a:t>” everyone gets down to the business of analysis.</a:t>
            </a:r>
          </a:p>
          <a:p>
            <a:r>
              <a:rPr lang="en-US" dirty="0"/>
              <a:t>In Phase 3, “</a:t>
            </a:r>
            <a:r>
              <a:rPr lang="en-US" dirty="0">
                <a:solidFill>
                  <a:schemeClr val="accent1"/>
                </a:solidFill>
              </a:rPr>
              <a:t>Follow-up</a:t>
            </a:r>
            <a:r>
              <a:rPr lang="en-US" dirty="0"/>
              <a:t>” the evaluation team produces and delivers its final report.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D70E349-7022-4028-3E33-47AC42B854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Phases of the ATAM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CFF11D-1F29-67F4-B70F-25CD816D1B6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48358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FC6FE05-F254-D28E-589E-91BC9E46BFA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The ATAM analysis phases (phases 1 and 2) consist of nine steps. </a:t>
            </a:r>
          </a:p>
          <a:p>
            <a:r>
              <a:rPr lang="en-US" dirty="0"/>
              <a:t>Steps 1–6 are carried out in phase 1 with the evaluation team and the project’s decision makers—typically, the architecture team, project manager, and client.</a:t>
            </a:r>
          </a:p>
          <a:p>
            <a:r>
              <a:rPr lang="en-US" dirty="0"/>
              <a:t>In phase 2, with all stakeholders involved, steps 1–6 are summarized and steps 7–9 are carried out.</a:t>
            </a:r>
          </a:p>
          <a:p>
            <a:r>
              <a:rPr lang="en-US" dirty="0"/>
              <a:t>Step 1: Present the ATAM</a:t>
            </a:r>
          </a:p>
          <a:p>
            <a:pPr lvl="1"/>
            <a:r>
              <a:rPr lang="en-US" dirty="0"/>
              <a:t>The evaluation leader presents the ATAM to explain the process, answer questions, and set expectations.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E2937D2-7652-092F-060D-334AFA9CC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of the Evaluation Phases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16AB52-C3F6-3597-832D-548443A7FC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94642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101BFC0-90AC-4FD8-B4E5-1177F8ED767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Step 2: Present the Business Goals</a:t>
            </a:r>
          </a:p>
          <a:p>
            <a:pPr lvl="1"/>
            <a:r>
              <a:rPr lang="en-US" dirty="0"/>
              <a:t>A project decision maker presents a system overview from a business perspective.</a:t>
            </a:r>
          </a:p>
          <a:p>
            <a:r>
              <a:rPr lang="en-US" dirty="0"/>
              <a:t>Step 3: Present the Architecture</a:t>
            </a:r>
          </a:p>
          <a:p>
            <a:pPr lvl="1"/>
            <a:r>
              <a:rPr lang="en-US" dirty="0"/>
              <a:t>The lead architect presents the architecture at an appropriate level of detail based on time, documentation, and quality requirements.</a:t>
            </a:r>
          </a:p>
          <a:p>
            <a:r>
              <a:rPr lang="en-US" dirty="0"/>
              <a:t>Step 4: Identify the Architectural Approaches</a:t>
            </a:r>
          </a:p>
          <a:p>
            <a:pPr lvl="1"/>
            <a:r>
              <a:rPr lang="en-US" dirty="0"/>
              <a:t>The ATAM focuses on analyzing an architecture by understanding its architectural approaches.</a:t>
            </a:r>
          </a:p>
          <a:p>
            <a:pPr lvl="1"/>
            <a:r>
              <a:rPr lang="en-US" b="1" dirty="0"/>
              <a:t>Example: </a:t>
            </a:r>
            <a:r>
              <a:rPr lang="en-US" i="1" dirty="0"/>
              <a:t>A layered pattern tends to bring portability and maintainability, possibly at the expense of performance.</a:t>
            </a:r>
          </a:p>
          <a:p>
            <a:pPr lvl="1"/>
            <a:r>
              <a:rPr lang="en-US" b="1" dirty="0"/>
              <a:t>Example: </a:t>
            </a:r>
            <a:r>
              <a:rPr lang="en-US" i="1" dirty="0"/>
              <a:t>A publish-subscribe pattern is scalable, while active redundancy promotes high availability.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7DC86F-95F6-9487-06B0-4D20800CF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of the Evaluation Phases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4DA357-5C5E-74C6-AAFA-BAFADD24E8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3124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AC834C3-5CF8-8E07-5F33-84BDB5E40F3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Step 5: Generate a Quality Attribute Utility Tree</a:t>
            </a:r>
            <a:endParaRPr lang="en-US" i="1" dirty="0"/>
          </a:p>
          <a:p>
            <a:pPr lvl="1"/>
            <a:r>
              <a:rPr lang="en-US" dirty="0"/>
              <a:t>The utility tree defines specific quality attribute requirements that the architects aim to support.</a:t>
            </a:r>
          </a:p>
          <a:p>
            <a:r>
              <a:rPr lang="en-US" dirty="0"/>
              <a:t>Step 6: Analyze the Architectural Approach</a:t>
            </a:r>
          </a:p>
          <a:p>
            <a:pPr lvl="1"/>
            <a:r>
              <a:rPr lang="en-US" dirty="0"/>
              <a:t>The evaluation team examines the highest-ranked scenarios, asking the architect to explain how the architecture supports each one.</a:t>
            </a:r>
          </a:p>
          <a:p>
            <a:pPr lvl="1"/>
            <a:r>
              <a:rPr lang="en-US" dirty="0"/>
              <a:t>The team documents relevant architectural decisions and identifies their risks, non-risks, and tradeoffs.</a:t>
            </a:r>
          </a:p>
          <a:p>
            <a:pPr lvl="1"/>
            <a:r>
              <a:rPr lang="en-US" b="1" dirty="0"/>
              <a:t>Example</a:t>
            </a:r>
            <a:r>
              <a:rPr lang="en-US" dirty="0"/>
              <a:t>: The frequency of heartbeats affects failure detection time—high frequency improves availability but increases processing and bandwidth use. This is a tradeoff.</a:t>
            </a:r>
          </a:p>
          <a:p>
            <a:pPr lvl="1"/>
            <a:r>
              <a:rPr lang="en-US" dirty="0"/>
              <a:t>At the end of step 6, the team should have a clear picture of the architecture’s key aspects, rationale for decisions, and a list of risks, non-risks, sensitivity points, and tradeoffs.</a:t>
            </a:r>
          </a:p>
          <a:p>
            <a:pPr lvl="1"/>
            <a:r>
              <a:rPr lang="en-US" dirty="0"/>
              <a:t>Phase 1 concludes at this point.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198459-2A16-24FD-0768-E5E04FFB9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of the Evaluation Phases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2E0131-F5DF-5DA9-60CA-A362D0B90E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82167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2961C7-88C5-C27E-000D-32384B5D5C5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After Phase 1, there is a hiatus of about a week to summarize findings and clarify open questions.</a:t>
            </a:r>
          </a:p>
          <a:p>
            <a:r>
              <a:rPr lang="en-US" dirty="0"/>
              <a:t>Phase 1 is like testing your own code; Phase 2 is like giving it to QA for more varied testing. so, it includes more participants.</a:t>
            </a:r>
          </a:p>
          <a:p>
            <a:r>
              <a:rPr lang="en-US" dirty="0"/>
              <a:t>In Phase 2, step 1 is repeated to explain roles and methods to new stakeholders.</a:t>
            </a:r>
          </a:p>
          <a:p>
            <a:r>
              <a:rPr lang="en-US" dirty="0"/>
              <a:t>The evaluation leader recaps the results of steps 2–6 and presents current risks, non-risks, sensitivity points, and tradeoffs.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59C89EE-C38B-52AB-EC90-0507238A0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Hiatus and Start of Phase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342F2D-1C36-3A9B-8FD0-DC2989AC53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04253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19A25C-2044-3AD5-FA39-D27FBC61B04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Step 7: Brainstorm and Prioritize Scenarios</a:t>
            </a:r>
          </a:p>
          <a:p>
            <a:pPr lvl="1"/>
            <a:r>
              <a:rPr lang="en-US" dirty="0"/>
              <a:t>Stakeholders brainstorm quality attribute scenarios based on their roles.</a:t>
            </a:r>
          </a:p>
          <a:p>
            <a:pPr lvl="1"/>
            <a:r>
              <a:rPr lang="en-US" b="1" dirty="0"/>
              <a:t>Example</a:t>
            </a:r>
            <a:r>
              <a:rPr lang="en-US" dirty="0"/>
              <a:t>: A maintainer may suggest a modifiability scenario, while a user focuses on ease of operation.</a:t>
            </a:r>
          </a:p>
          <a:p>
            <a:pPr lvl="1"/>
            <a:r>
              <a:rPr lang="en-US" altLang="en-US" dirty="0">
                <a:latin typeface="+mj-lt"/>
              </a:rPr>
              <a:t>This step captures the stakeholder community’s view of what system success looks like.</a:t>
            </a:r>
          </a:p>
          <a:p>
            <a:pPr lvl="1"/>
            <a:r>
              <a:rPr lang="en-US" dirty="0"/>
              <a:t>Once collected, scenarios are prioritized to guide the evaluation team's focus.</a:t>
            </a:r>
          </a:p>
          <a:p>
            <a:pPr lvl="1"/>
            <a:r>
              <a:rPr lang="en-US" dirty="0"/>
              <a:t>The prioritized scenarios are compared with the utility tree results.</a:t>
            </a:r>
          </a:p>
          <a:p>
            <a:pPr lvl="1"/>
            <a:r>
              <a:rPr lang="en-US" dirty="0"/>
              <a:t>Agreement indicates alignment between architect intentions and stakeholder expectations.</a:t>
            </a:r>
            <a:endParaRPr lang="en-US" altLang="en-US" dirty="0">
              <a:latin typeface="+mj-lt"/>
            </a:endParaRPr>
          </a:p>
          <a:p>
            <a:pPr lvl="1"/>
            <a:r>
              <a:rPr lang="en-US" dirty="0"/>
              <a:t>If new important scenarios emerge, and the discrepancy is large, this may reveal risk due to misalignment.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C956028-C508-A582-B798-221820ACB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0C91D9-275D-6A54-1A4C-3F99ABD47C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30095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23E60FB-3CB4-60A8-7A30-A9D87C16AE4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Step 8: Analyze the Architectural Approaches</a:t>
            </a:r>
          </a:p>
          <a:p>
            <a:pPr lvl="1"/>
            <a:r>
              <a:rPr lang="en-US" dirty="0"/>
              <a:t>After the scenarios have been collected and prioritized, the evaluation team guides the architect in analyzing the highest-ranked scenarios.</a:t>
            </a:r>
          </a:p>
          <a:p>
            <a:pPr lvl="1"/>
            <a:r>
              <a:rPr lang="en-US" dirty="0"/>
              <a:t>The architect explains how architectural decisions contribute to realizing each scenario.</a:t>
            </a:r>
          </a:p>
          <a:p>
            <a:pPr lvl="1"/>
            <a:r>
              <a:rPr lang="en-US" dirty="0"/>
              <a:t>The evaluation team performs the same activities as in step 6, but now with the newly generated scenarios.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CE562F4-3E60-95EE-93D4-060F151BE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9770C5-7DF5-56B1-AD96-E97CDBE5E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52009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1E7BEB-FAF6-8CA2-22BA-7C3D9FDA032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Step 9: Present the Results</a:t>
            </a:r>
          </a:p>
          <a:p>
            <a:pPr lvl="1"/>
            <a:r>
              <a:rPr lang="en-US" dirty="0"/>
              <a:t>The evaluation team groups risks into risk themes based on common concerns or systemic deficiencies.</a:t>
            </a:r>
          </a:p>
          <a:p>
            <a:pPr lvl="1"/>
            <a:r>
              <a:rPr lang="en-US" b="1" dirty="0"/>
              <a:t>Example</a:t>
            </a:r>
            <a:r>
              <a:rPr lang="en-US" dirty="0"/>
              <a:t>: Risks about outdated documentation may lead to a theme about insufficient attention to documentation.</a:t>
            </a:r>
          </a:p>
          <a:p>
            <a:pPr lvl="1"/>
            <a:r>
              <a:rPr lang="en-US" dirty="0"/>
              <a:t>This process highlights risks as threats to business concerns, elevating them for management attention.</a:t>
            </a:r>
          </a:p>
          <a:p>
            <a:pPr lvl="1"/>
            <a:r>
              <a:rPr lang="en-US" dirty="0"/>
              <a:t>The following results are presented to stakeholders:</a:t>
            </a:r>
          </a:p>
          <a:p>
            <a:pPr lvl="2"/>
            <a:r>
              <a:rPr lang="en-US" dirty="0"/>
              <a:t>Documented architectural approaches</a:t>
            </a:r>
          </a:p>
          <a:p>
            <a:pPr lvl="2"/>
            <a:r>
              <a:rPr lang="en-US" dirty="0"/>
              <a:t>Prioritized scenario list</a:t>
            </a:r>
          </a:p>
          <a:p>
            <a:pPr lvl="2"/>
            <a:r>
              <a:rPr lang="en-US" dirty="0"/>
              <a:t>Utility tree</a:t>
            </a:r>
          </a:p>
          <a:p>
            <a:pPr lvl="2"/>
            <a:r>
              <a:rPr lang="en-US" dirty="0"/>
              <a:t>Identified risks and non-risks</a:t>
            </a:r>
          </a:p>
          <a:p>
            <a:pPr lvl="2"/>
            <a:r>
              <a:rPr lang="en-US" dirty="0"/>
              <a:t>Sensitivity points and tradeoffs</a:t>
            </a:r>
          </a:p>
          <a:p>
            <a:pPr lvl="2"/>
            <a:r>
              <a:rPr lang="en-US" dirty="0"/>
              <a:t>Risk themes and affected business goals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AFFFAF0-231B-0195-281C-F4E1F63C0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CDB298-B879-502C-4A53-86F1C2C2CA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0094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FA3C861-E313-6A6D-24E3-75428063C46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>
                <a:solidFill>
                  <a:schemeClr val="accent1"/>
                </a:solidFill>
              </a:rPr>
              <a:t>Lightweight Architecture Evaluation </a:t>
            </a:r>
            <a:r>
              <a:rPr lang="en-US" dirty="0"/>
              <a:t>(LAE) method is intended to be used in a project-internal context where the reviewing is carried out by peers on a regular basis.</a:t>
            </a:r>
          </a:p>
          <a:p>
            <a:r>
              <a:rPr lang="en-US" dirty="0"/>
              <a:t>It uses the same concepts as the ATAM and is meant to be performed regularly.</a:t>
            </a:r>
          </a:p>
          <a:p>
            <a:r>
              <a:rPr lang="en-US" dirty="0"/>
              <a:t>An LAE session may focus on what has changed since the prior review or examine a previously unexamined portion of the architecture.</a:t>
            </a:r>
          </a:p>
          <a:p>
            <a:r>
              <a:rPr lang="en-US" dirty="0"/>
              <a:t>Because of this limited scope, many of the ATAM’s steps can be omitted or shortened.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4A1BC22-C132-3E97-30B3-3C4B40FC5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Lightweight Architecture Evaluation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BBF8EF-103D-06E9-AD80-9F76079023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27924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828C80-5879-1F80-936F-6ECDAF73BA5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LAE involves fewer participants than ATAM, making it quicker to reach shared understanding.</a:t>
            </a:r>
          </a:p>
          <a:p>
            <a:r>
              <a:rPr lang="en-US" dirty="0"/>
              <a:t>There is no final report, but a scribe captures results to guide risk remediation.</a:t>
            </a:r>
          </a:p>
          <a:p>
            <a:r>
              <a:rPr lang="en-US" dirty="0"/>
              <a:t>It is carried out entirely by members internal to the organization.</a:t>
            </a:r>
          </a:p>
          <a:p>
            <a:r>
              <a:rPr lang="en-US" dirty="0"/>
              <a:t>The internal team may be less objective, leading to fewer new ideas or dissenting opinions.</a:t>
            </a:r>
          </a:p>
          <a:p>
            <a:r>
              <a:rPr lang="en-US" dirty="0"/>
              <a:t>Nevertheless, LAE is inexpensive, easy to organize, and provides fast, low-ceremony architecture quality assurance.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937F2CC-FDD2-1B33-B281-9D2234B18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Lightweight Architecture Evaluation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B4C490-70D9-0594-D6BF-C3F4562F2A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8857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A5DB6E-45C0-34E0-80F6-8BABE570963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If a system is important enough for you to explicitly design its architecture, then that architecture should be evaluated.</a:t>
            </a:r>
          </a:p>
          <a:p>
            <a:r>
              <a:rPr lang="en-US" dirty="0"/>
              <a:t>The ATAM is a comprehensive method for evaluating software architectures. </a:t>
            </a:r>
          </a:p>
          <a:p>
            <a:pPr lvl="1"/>
            <a:r>
              <a:rPr lang="en-US" dirty="0"/>
              <a:t>It works by having project decision makers and stakeholders articulate a precise list of quality attribute requirements and by illuminating the architectural decisions relevant to analyzing each high-priority scenario.</a:t>
            </a:r>
          </a:p>
          <a:p>
            <a:r>
              <a:rPr lang="en-US" dirty="0"/>
              <a:t>The decisions can then be understood in terms of risks or non-risks to find any trouble spots in the architecture.</a:t>
            </a:r>
          </a:p>
          <a:p>
            <a:r>
              <a:rPr lang="en-US" dirty="0"/>
              <a:t>Lightweight evaluations can be performed regularly as part of a project’s internal peer review activities. Lightweight Architecture Evaluation, based on the ATAM, provides an inexpensive, low-ceremony architecture evaluation that can be carried out in less than a day.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3A90C3D-CF56-AF56-B401-5B22CC0D9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579F55-78C6-D687-E40D-0A93FDD5EE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22466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 algn="l">
          <a:buFont typeface="Arial" panose="020B0604020202020204" pitchFamily="34" charset="0"/>
          <a:buChar char="•"/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2804</TotalTime>
  <Words>2655</Words>
  <Application>Microsoft Office PowerPoint</Application>
  <PresentationFormat>Widescreen</PresentationFormat>
  <Paragraphs>221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Arial</vt:lpstr>
      <vt:lpstr>Calibri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Chapter Outline</vt:lpstr>
      <vt:lpstr>Introduction</vt:lpstr>
      <vt:lpstr>Evaluation as a Risk Reduction Activity</vt:lpstr>
      <vt:lpstr>What Are the Key Evaluation Activities?</vt:lpstr>
      <vt:lpstr>Who Can Perform the Evaluation?</vt:lpstr>
      <vt:lpstr>Who Can Perform the Evaluation?</vt:lpstr>
      <vt:lpstr>Contextual Factors</vt:lpstr>
      <vt:lpstr>Contextual Factors</vt:lpstr>
      <vt:lpstr>The Architecture Tradeoff Analysis Method</vt:lpstr>
      <vt:lpstr>Participants in the ATAM</vt:lpstr>
      <vt:lpstr>Participants in the ATAM</vt:lpstr>
      <vt:lpstr>Outputs of the ATAM</vt:lpstr>
      <vt:lpstr>Outputs of the ATAM</vt:lpstr>
      <vt:lpstr>Outputs of the ATAM</vt:lpstr>
      <vt:lpstr>Phases of the ATAM</vt:lpstr>
      <vt:lpstr>Steps of the Evaluation Phases</vt:lpstr>
      <vt:lpstr>Steps of the Evaluation Phases</vt:lpstr>
      <vt:lpstr>Steps of the Evaluation Phases</vt:lpstr>
      <vt:lpstr>Hiatus and Start of Phase 2</vt:lpstr>
      <vt:lpstr>Phase 2</vt:lpstr>
      <vt:lpstr>Phase 2</vt:lpstr>
      <vt:lpstr>Phase 2</vt:lpstr>
      <vt:lpstr>Lightweight Architecture Evaluation</vt:lpstr>
      <vt:lpstr>Lightweight Architecture Evaluation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mohamad khorsandi</dc:creator>
  <cp:lastModifiedBy>mohamad khorsandi</cp:lastModifiedBy>
  <cp:revision>52</cp:revision>
  <dcterms:created xsi:type="dcterms:W3CDTF">2025-05-02T12:16:21Z</dcterms:created>
  <dcterms:modified xsi:type="dcterms:W3CDTF">2025-07-25T09:08:42Z</dcterms:modified>
</cp:coreProperties>
</file>