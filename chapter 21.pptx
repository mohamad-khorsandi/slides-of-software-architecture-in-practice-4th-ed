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9" r:id="rId2"/>
    <p:sldId id="264" r:id="rId3"/>
    <p:sldId id="268" r:id="rId4"/>
    <p:sldId id="266" r:id="rId5"/>
    <p:sldId id="296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5" r:id="rId19"/>
    <p:sldId id="286" r:id="rId20"/>
    <p:sldId id="287" r:id="rId21"/>
    <p:sldId id="29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4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1" autoAdjust="0"/>
    <p:restoredTop sz="94677" autoAdjust="0"/>
  </p:normalViewPr>
  <p:slideViewPr>
    <p:cSldViewPr snapToGrid="0">
      <p:cViewPr varScale="1">
        <p:scale>
          <a:sx n="85" d="100"/>
          <a:sy n="85" d="100"/>
        </p:scale>
        <p:origin x="6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Evaluating an Architecture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21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0" dirty="0"/>
              <a:t>A doctor can bury his mistakes</a:t>
            </a:r>
            <a:r>
              <a:rPr lang="en-US" sz="3200" b="0"/>
              <a:t>, but an </a:t>
            </a:r>
            <a:r>
              <a:rPr lang="en-US" sz="3200" b="0" dirty="0"/>
              <a:t>architect can only advise his clients to plant vines.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—Frank Lloyd Wright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Introduction</a:t>
            </a:r>
          </a:p>
          <a:p>
            <a:pPr>
              <a:spcBef>
                <a:spcPts val="1200"/>
              </a:spcBef>
            </a:pPr>
            <a:r>
              <a:rPr lang="en-US" dirty="0"/>
              <a:t>Evaluation as a Risk Reduction Activity</a:t>
            </a:r>
          </a:p>
          <a:p>
            <a:pPr>
              <a:spcBef>
                <a:spcPts val="1200"/>
              </a:spcBef>
            </a:pPr>
            <a:r>
              <a:rPr lang="en-US" dirty="0"/>
              <a:t>What Are the Key Evaluation Activities?</a:t>
            </a:r>
          </a:p>
          <a:p>
            <a:pPr>
              <a:spcBef>
                <a:spcPts val="1200"/>
              </a:spcBef>
            </a:pPr>
            <a:r>
              <a:rPr lang="en-US" dirty="0"/>
              <a:t>Who Can Perform the Evaluation?</a:t>
            </a:r>
          </a:p>
          <a:p>
            <a:pPr>
              <a:spcBef>
                <a:spcPts val="1200"/>
              </a:spcBef>
            </a:pPr>
            <a:r>
              <a:rPr lang="en-US" dirty="0"/>
              <a:t>Contextual Factors</a:t>
            </a:r>
          </a:p>
          <a:p>
            <a:pPr>
              <a:spcBef>
                <a:spcPts val="1200"/>
              </a:spcBef>
            </a:pPr>
            <a:r>
              <a:rPr lang="en-US" dirty="0"/>
              <a:t>The Architecture Tradeoff Analysis Method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Participants in the ATAM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Outputs of the ATAM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Phases of the ATAM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Steps of the Evaluation Phases</a:t>
            </a:r>
          </a:p>
          <a:p>
            <a:pPr>
              <a:spcBef>
                <a:spcPts val="1200"/>
              </a:spcBef>
            </a:pPr>
            <a:r>
              <a:rPr lang="en-US" dirty="0"/>
              <a:t>Lightweight Architecture Evaluation</a:t>
            </a:r>
          </a:p>
          <a:p>
            <a:pPr>
              <a:spcBef>
                <a:spcPts val="1200"/>
              </a:spcBef>
            </a:pPr>
            <a:r>
              <a:rPr lang="en-US" dirty="0"/>
              <a:t>Summary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0DA50CE-9646-BC28-0D60-DF8A999CE83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86" b="21386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F416-1645-E76B-21B2-0CB72FC27D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Architecture evaluation </a:t>
            </a:r>
            <a:r>
              <a:rPr lang="en-US" dirty="0"/>
              <a:t>is the process of determining the degree to which an architecture is fit for the purpose for which it is intended.</a:t>
            </a:r>
          </a:p>
          <a:p>
            <a:r>
              <a:rPr lang="en-US" dirty="0"/>
              <a:t>To be useful, the cost of evaluation needs to be less than the value it provides.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5B118-C8DF-149A-F0A6-22FE6BB4F78E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Different evaluation techniques come with different costs.</a:t>
            </a:r>
          </a:p>
          <a:p>
            <a:r>
              <a:rPr lang="en-US" dirty="0"/>
              <a:t>But the costs can be measured in terms of the time spent by the people involved in the preparation, execution, and follow-up of the evaluation activities.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CE61A8-45D1-EA5B-585C-365BF4CA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A16C-6F28-CB89-EF43-B11BA7898FA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7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2E1CF-53A4-23CE-5E17-D622D7E95B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Every architecture comes with </a:t>
            </a:r>
            <a:r>
              <a:rPr lang="en-US" dirty="0">
                <a:solidFill>
                  <a:schemeClr val="accent1"/>
                </a:solidFill>
              </a:rPr>
              <a:t>risks</a:t>
            </a:r>
            <a:r>
              <a:rPr lang="en-US" dirty="0"/>
              <a:t>.</a:t>
            </a:r>
          </a:p>
          <a:p>
            <a:r>
              <a:rPr lang="en-US" dirty="0"/>
              <a:t>A risk is an event that has both an impact and a probability.</a:t>
            </a:r>
          </a:p>
          <a:p>
            <a:r>
              <a:rPr lang="en-US" dirty="0"/>
              <a:t>The estimated cost of a risk is the probability of that event occurring multiplied by the cost of the impact.</a:t>
            </a:r>
          </a:p>
          <a:p>
            <a:r>
              <a:rPr lang="en-US" dirty="0"/>
              <a:t>Evaluations act like an insurance policy.</a:t>
            </a:r>
          </a:p>
          <a:p>
            <a:r>
              <a:rPr lang="en-US" dirty="0"/>
              <a:t>If the system being constructed costs millions or billions of dollars or has large safety-critical implications then the impact of a risk event will be large.</a:t>
            </a:r>
          </a:p>
          <a:p>
            <a:r>
              <a:rPr lang="en-US" dirty="0"/>
              <a:t>By comparison, if the system is a console-based game costing tens or hundreds of thousands of dollars to create, then the impact of a risk event will be considerably smaller.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99CBA2-E20B-0664-92E8-F742A42C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as a Risk Reduction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11F7-5942-EA02-DC95-1911CBF0A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9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BFCCC4-5322-EEB4-5CC8-C948592ADB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Key evaluation activities align evaluation with the ASRs that drive system success. </a:t>
            </a:r>
          </a:p>
          <a:p>
            <a:r>
              <a:rPr lang="en-US" dirty="0"/>
              <a:t>An evaluation can be carried out at any point in the design process where a candidate architecture, or at least a coherent reviewable part of one, exists.</a:t>
            </a:r>
          </a:p>
          <a:p>
            <a:r>
              <a:rPr lang="en-US" dirty="0"/>
              <a:t>Every evaluation should include (at least) these steps: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The reviewers individually ensure that they understand the current state of the architecture.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The reviewers determine a number of drivers to guide the review, typically the high-priority quality attribute scenarios.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For each scenario, each reviewer should determine whether the scenario is satisfied, and whether any design decisions will prevent other scenarios from being met.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The reviewers capture potential problems exposed during the prior step to form the basis for follow-up, deciding whether to fix each problem or accept its risk.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26F89A-DAC2-F7CA-4009-A9CD84FB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Key Evaluation Activities?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E9A32-BA7E-33E7-0A32-379759EEC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16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641737-82BC-1C7D-DB49-EAAB317962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Evaluators should be </a:t>
            </a:r>
            <a:r>
              <a:rPr lang="en-US" dirty="0">
                <a:solidFill>
                  <a:schemeClr val="accent1"/>
                </a:solidFill>
              </a:rPr>
              <a:t>highly skilled </a:t>
            </a:r>
            <a:r>
              <a:rPr lang="en-US" dirty="0"/>
              <a:t>in the domain and the various quality attributes for which the system is to be evaluated.</a:t>
            </a:r>
          </a:p>
          <a:p>
            <a:r>
              <a:rPr lang="en-US" dirty="0"/>
              <a:t>Architecture evaluations can be conducted by the </a:t>
            </a:r>
            <a:r>
              <a:rPr lang="en-US" dirty="0">
                <a:solidFill>
                  <a:schemeClr val="accent1"/>
                </a:solidFill>
              </a:rPr>
              <a:t>architect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peer reviewers</a:t>
            </a:r>
            <a:r>
              <a:rPr lang="en-US" dirty="0"/>
              <a:t>, or </a:t>
            </a:r>
            <a:r>
              <a:rPr lang="en-US" dirty="0">
                <a:solidFill>
                  <a:schemeClr val="accent1"/>
                </a:solidFill>
              </a:rPr>
              <a:t>external experts</a:t>
            </a:r>
            <a:r>
              <a:rPr lang="en-US" dirty="0"/>
              <a:t>, each bringing different strengths and perspectives.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Evaluation by the Architect</a:t>
            </a:r>
          </a:p>
          <a:p>
            <a:pPr lvl="1"/>
            <a:r>
              <a:rPr lang="en-US" dirty="0"/>
              <a:t>Evaluation is done every time the architect makes a key design decision to address an ASR or completes a design milestone.</a:t>
            </a:r>
          </a:p>
          <a:p>
            <a:pPr lvl="1"/>
            <a:r>
              <a:rPr lang="en-US" dirty="0"/>
              <a:t>Evaluation by the architect is an integral part of the process of architecture design.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97AD6F-8EF9-653F-14FF-4F92B542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Can Perform the Evaluation?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38778-1A8C-1C3D-F9DB-95D77180D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2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2FF37F-7322-0B10-C075-91FC28834C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Evaluation by Peer Review</a:t>
            </a:r>
          </a:p>
          <a:p>
            <a:pPr lvl="1"/>
            <a:r>
              <a:rPr lang="en-US" dirty="0"/>
              <a:t>Architectural designs to address ASRs can be peer reviewed, just as code can be peer reviewed.</a:t>
            </a:r>
          </a:p>
          <a:p>
            <a:pPr lvl="1"/>
            <a:r>
              <a:rPr lang="en-US" dirty="0"/>
              <a:t>There should be a fixed amount of time for the peer review, typically </a:t>
            </a:r>
            <a:r>
              <a:rPr lang="en-US" dirty="0">
                <a:solidFill>
                  <a:schemeClr val="accent1"/>
                </a:solidFill>
              </a:rPr>
              <a:t>several hours </a:t>
            </a:r>
            <a:r>
              <a:rPr lang="en-US" dirty="0"/>
              <a:t>to half a day.</a:t>
            </a:r>
          </a:p>
          <a:p>
            <a:pPr lvl="1"/>
            <a:r>
              <a:rPr lang="en-US" dirty="0"/>
              <a:t>If the designers are using the ADD process, then a peer review can be done at the </a:t>
            </a:r>
            <a:r>
              <a:rPr lang="en-US" dirty="0">
                <a:solidFill>
                  <a:schemeClr val="accent1"/>
                </a:solidFill>
              </a:rPr>
              <a:t>end of step 7</a:t>
            </a:r>
            <a:r>
              <a:rPr lang="en-US" dirty="0"/>
              <a:t> of each ADD iteration.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Evaluation by Outsiders</a:t>
            </a:r>
          </a:p>
          <a:p>
            <a:pPr lvl="1"/>
            <a:r>
              <a:rPr lang="en-US" dirty="0"/>
              <a:t>Outside evaluators can cast a more objective eye on an architecture.</a:t>
            </a:r>
          </a:p>
          <a:p>
            <a:pPr lvl="1"/>
            <a:r>
              <a:rPr lang="en-US" dirty="0"/>
              <a:t>Outsiders are less likely to be afraid to bring up sensitive problems.</a:t>
            </a:r>
          </a:p>
          <a:p>
            <a:pPr lvl="1"/>
            <a:r>
              <a:rPr lang="en-US" dirty="0"/>
              <a:t>Often, outsiders are chosen because they possess specialized knowledge or experience.</a:t>
            </a:r>
          </a:p>
          <a:p>
            <a:pPr lvl="1"/>
            <a:r>
              <a:rPr lang="en-US" dirty="0"/>
              <a:t>Managers tend to be more inclined to listen to problems uncovered by an outside team hired at considerable cost than by team members within the organization.</a:t>
            </a:r>
          </a:p>
          <a:p>
            <a:pPr lvl="1"/>
            <a:r>
              <a:rPr lang="en-US" dirty="0"/>
              <a:t>In practice, because engaging them is complicated and often expensive, they tend to be used to evaluate complete architectures instead of a portion of an architecture.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55DCBD-AEBE-89CE-2F30-0BEABDBF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Can Perform the Evaluation?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C482-524A-4D56-5C8F-D85AF790D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1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0D196D-1632-5D05-B978-6F3C3FBF7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For peer reviews or outside analysis, a number of contextual factors must be considered when setting up an evaluation: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What artifacts are available? </a:t>
            </a:r>
          </a:p>
          <a:p>
            <a:pPr lvl="2"/>
            <a:r>
              <a:rPr lang="en-US" dirty="0"/>
              <a:t>To perform an architectural evaluation, there must be an artifact that both describes the architecture and is readily available.</a:t>
            </a:r>
          </a:p>
          <a:p>
            <a:pPr lvl="2"/>
            <a:r>
              <a:rPr lang="en-US" dirty="0"/>
              <a:t>Some evaluations may take place after the system is operational. 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Who sees the results? </a:t>
            </a:r>
          </a:p>
          <a:p>
            <a:pPr lvl="2"/>
            <a:r>
              <a:rPr lang="en-US" dirty="0"/>
              <a:t>Some evaluations are performed with the full knowledge and participation of all of the stakeholders. Others are performed more privately.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Which stakeholders will participate? </a:t>
            </a:r>
          </a:p>
          <a:p>
            <a:pPr lvl="2"/>
            <a:r>
              <a:rPr lang="en-US" dirty="0"/>
              <a:t>The evaluation process should include a method to elicit the important stakeholders’ goals and concerns regarding the system.</a:t>
            </a:r>
          </a:p>
          <a:p>
            <a:pPr lvl="2"/>
            <a:r>
              <a:rPr lang="en-US" dirty="0"/>
              <a:t>At this stage, it is critical to identify the individuals who are needed and ensure their participation in the evaluation.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5915B-941D-D36C-4652-3710A9B9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8F50-2AE9-1FD0-8CF8-64A08B902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0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FBDEF-BEA9-6E1F-A2FB-BF183E6B01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What are the business goals?</a:t>
            </a:r>
          </a:p>
          <a:p>
            <a:pPr lvl="2"/>
            <a:r>
              <a:rPr lang="en-US" dirty="0"/>
              <a:t>The evaluation should answer whether the system will satisfy the business goals.</a:t>
            </a:r>
          </a:p>
          <a:p>
            <a:pPr lvl="2"/>
            <a:r>
              <a:rPr lang="en-US" dirty="0"/>
              <a:t>If the business goals are not explicitly captured and prioritized prior to the evaluation, then a portion of the evaluation should be dedicated to this task.</a:t>
            </a:r>
          </a:p>
          <a:p>
            <a:r>
              <a:rPr lang="en-US" dirty="0"/>
              <a:t>Evaluations by peers and by outside evaluators are common enough that we have </a:t>
            </a:r>
            <a:r>
              <a:rPr lang="en-US" dirty="0">
                <a:solidFill>
                  <a:schemeClr val="accent1"/>
                </a:solidFill>
              </a:rPr>
              <a:t>formalized</a:t>
            </a:r>
            <a:r>
              <a:rPr lang="en-US" dirty="0"/>
              <a:t> processes to guide the evaluation.</a:t>
            </a:r>
          </a:p>
          <a:p>
            <a:r>
              <a:rPr lang="en-US" dirty="0"/>
              <a:t>These processes define who should participate and which activities should occur during the evaluation.</a:t>
            </a:r>
          </a:p>
          <a:p>
            <a:r>
              <a:rPr lang="en-US" dirty="0"/>
              <a:t>Formalizing a process make the process more repeatable, help the stakeholders understand evaluation, helps train new evaluators,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05D6E5-226D-23C7-812C-DFF07775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4182-954C-7D13-053E-9CA61593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90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9D6168-FE39-A374-9CB1-358B7072B1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Architecture Tradeoff Analysis Method </a:t>
            </a:r>
            <a:r>
              <a:rPr lang="en-US" dirty="0"/>
              <a:t>(ATAM) is the process we have formalized to perform architecture evaluations.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ATAM</a:t>
            </a:r>
            <a:r>
              <a:rPr lang="en-US" dirty="0"/>
              <a:t> has been used for more than two decades to evaluate software architectures of large systems in domains ranging from automotive to financial to defense.</a:t>
            </a:r>
          </a:p>
          <a:p>
            <a:r>
              <a:rPr lang="en-US" dirty="0"/>
              <a:t>The ATAM is designed so that evaluators do not need prior familiarity with the architecture or its business goals, and the system need not be constructed yet.</a:t>
            </a:r>
          </a:p>
          <a:p>
            <a:r>
              <a:rPr lang="en-US" dirty="0"/>
              <a:t>The ATAM is a widely used, structured method that supports early and objective evaluation of software architectures.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E9CB1C-EA33-6693-A874-41EA984C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Tradeoff Analysis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A527F-A207-F6FD-B1AC-308EEDA9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159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2EA7E-C755-9408-79B3-DA46F400B1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successful ATAM evaluation involves collaboration between three distinct groups: the </a:t>
            </a:r>
            <a:r>
              <a:rPr lang="en-US" dirty="0">
                <a:solidFill>
                  <a:schemeClr val="accent1"/>
                </a:solidFill>
              </a:rPr>
              <a:t>evaluation team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project decision makers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architecture stakeholders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Evaluation Team</a:t>
            </a:r>
          </a:p>
          <a:p>
            <a:pPr lvl="1"/>
            <a:r>
              <a:rPr lang="en-US" dirty="0"/>
              <a:t>The evaluation team usually consists of three to five people.</a:t>
            </a:r>
          </a:p>
          <a:p>
            <a:pPr lvl="1"/>
            <a:r>
              <a:rPr lang="en-US" dirty="0"/>
              <a:t>Each member is assigned a number of specific roles. a single person may adopt several roles.</a:t>
            </a:r>
          </a:p>
          <a:p>
            <a:pPr lvl="1"/>
            <a:r>
              <a:rPr lang="en-US" dirty="0"/>
              <a:t>They may work for the same organization or they may be outside consultants.</a:t>
            </a:r>
          </a:p>
          <a:p>
            <a:pPr lvl="1"/>
            <a:r>
              <a:rPr lang="en-US" dirty="0"/>
              <a:t>They need to be recognized as competent, unbiased outsiders with no hidden agendas.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Project Decision Makers</a:t>
            </a:r>
          </a:p>
          <a:p>
            <a:pPr lvl="1"/>
            <a:r>
              <a:rPr lang="en-US" dirty="0"/>
              <a:t>These people are empowered to speak for the development project or have the authority to mandate changes to it.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/>
              <a:t>The architect is always included.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E8E6CA-5B3F-AD47-3238-C09BAC45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 in the ATAM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B4E-6963-AB2F-3667-7CCA8501A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32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5703D4-B00B-7F67-12D2-66B499938D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Architecture Stakeholders</a:t>
            </a:r>
          </a:p>
          <a:p>
            <a:pPr lvl="1"/>
            <a:r>
              <a:rPr lang="en-US" dirty="0"/>
              <a:t>Stakeholders care about the architecture because its success affects them, they want it to work as promised.</a:t>
            </a:r>
          </a:p>
          <a:p>
            <a:pPr lvl="1"/>
            <a:r>
              <a:rPr lang="en-US" dirty="0"/>
              <a:t>Their job during an evaluation is to articulate the specific quality attribute goals that the architecture should meet.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/>
              <a:t>A rule of thumb is that you should expect to enlist 10 to 25 stakeholders for the evaluation of a large enterprise-critical architecture.</a:t>
            </a:r>
          </a:p>
          <a:p>
            <a:pPr lvl="1"/>
            <a:r>
              <a:rPr lang="en-US" dirty="0"/>
              <a:t>Unlike the evaluation team and project decision makers, stakeholders do not participate in the entire exercise.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54C2EB-2A09-984C-641C-50B0AF12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 in the ATAM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F124F-9B43-B10A-4EDF-B87DD7DCB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83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885F70-84C0-B0E0-9B97-8371E55E32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ATAM produces a range of tangible and intangible outputs that support informed architectural decision-making and stakeholder alignment.</a:t>
            </a:r>
          </a:p>
          <a:p>
            <a:pPr marL="525780" lvl="1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Concise Presentation of the Architecture</a:t>
            </a:r>
          </a:p>
          <a:p>
            <a:pPr lvl="2"/>
            <a:r>
              <a:rPr lang="en-US" dirty="0"/>
              <a:t>architecture should be presented in one hour or less.</a:t>
            </a:r>
          </a:p>
          <a:p>
            <a:pPr marL="525780" lvl="1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Articulation of the Business Goals</a:t>
            </a:r>
          </a:p>
          <a:p>
            <a:pPr lvl="2"/>
            <a:r>
              <a:rPr lang="en-US" dirty="0"/>
              <a:t>During the ATAM session, some people may be hearing the business goals for the first time.</a:t>
            </a:r>
          </a:p>
          <a:p>
            <a:pPr marL="525780" lvl="1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Prioritized Quality Attribute Requirements</a:t>
            </a:r>
          </a:p>
          <a:p>
            <a:pPr lvl="2"/>
            <a:r>
              <a:rPr lang="en-US" dirty="0"/>
              <a:t>The ATAM uses </a:t>
            </a:r>
            <a:r>
              <a:rPr lang="en-US" dirty="0">
                <a:solidFill>
                  <a:schemeClr val="accent1"/>
                </a:solidFill>
              </a:rPr>
              <a:t>prioritized</a:t>
            </a:r>
            <a:r>
              <a:rPr lang="en-US" dirty="0"/>
              <a:t> quality attribute </a:t>
            </a:r>
            <a:r>
              <a:rPr lang="en-US" dirty="0">
                <a:solidFill>
                  <a:schemeClr val="accent1"/>
                </a:solidFill>
              </a:rPr>
              <a:t>scenarios</a:t>
            </a:r>
            <a:r>
              <a:rPr lang="en-US" dirty="0"/>
              <a:t> as the basis for evaluating the architecture.</a:t>
            </a:r>
          </a:p>
          <a:p>
            <a:pPr lvl="2"/>
            <a:r>
              <a:rPr lang="en-US" dirty="0"/>
              <a:t>Those scenarios may already exist but if not, they are generated by the participants.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0E2EBA-4ED1-3053-CAC6-48C00EEB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 of the ATAM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EDB53-D047-7191-FA40-D05930E2D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3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248F75-52B6-F9A6-106F-3DE1B5317E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25780" lvl="1" indent="-457200">
              <a:buFont typeface="+mj-lt"/>
              <a:buAutoNum type="arabicPeriod" startAt="4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Set of Risks and Non-Risks</a:t>
            </a:r>
          </a:p>
          <a:p>
            <a:pPr lvl="2"/>
            <a:r>
              <a:rPr lang="en-US" dirty="0"/>
              <a:t>An architectural risk is a decision that may lead to undesirable consequences.</a:t>
            </a:r>
          </a:p>
          <a:p>
            <a:pPr lvl="2"/>
            <a:r>
              <a:rPr lang="en-US" dirty="0"/>
              <a:t>The identified risks form the basis for an architectural risk mitigation plan.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marL="525780" lvl="1" indent="-457200">
              <a:buFont typeface="+mj-lt"/>
              <a:buAutoNum type="arabicPeriod" startAt="4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Set of Risk Themes </a:t>
            </a:r>
            <a:r>
              <a:rPr lang="en-US" dirty="0">
                <a:solidFill>
                  <a:schemeClr val="tx1"/>
                </a:solidFill>
              </a:rPr>
              <a:t>(group of related risks)</a:t>
            </a:r>
          </a:p>
          <a:p>
            <a:pPr lvl="2"/>
            <a:r>
              <a:rPr lang="en-US" dirty="0"/>
              <a:t>During an ATAM, the evaluation team reviews all the identified risks to find bigger patterns or common issues (called themes).</a:t>
            </a:r>
          </a:p>
          <a:p>
            <a:pPr lvl="2"/>
            <a:r>
              <a:rPr lang="en-US" dirty="0"/>
              <a:t>If these themes are not addressed, they could seriously harm the project’s ability to meet its business goals.</a:t>
            </a:r>
          </a:p>
          <a:p>
            <a:pPr marL="525780" lvl="1" indent="-457200">
              <a:buFont typeface="+mj-lt"/>
              <a:buAutoNum type="arabicPeriod" startAt="4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Mapping of Architectural Decisions to Quality Requirements</a:t>
            </a:r>
          </a:p>
          <a:p>
            <a:pPr lvl="2"/>
            <a:r>
              <a:rPr lang="en-US" dirty="0"/>
              <a:t>Architectural decisions are linked to the quality requirements they affect.</a:t>
            </a:r>
          </a:p>
          <a:p>
            <a:pPr lvl="2"/>
            <a:r>
              <a:rPr lang="en-US" dirty="0"/>
              <a:t>For </a:t>
            </a:r>
            <a:r>
              <a:rPr lang="en-US" dirty="0">
                <a:solidFill>
                  <a:schemeClr val="accent1"/>
                </a:solidFill>
              </a:rPr>
              <a:t>each quality scenario</a:t>
            </a:r>
            <a:r>
              <a:rPr lang="en-US" dirty="0"/>
              <a:t>, the team identifies which decisions support or block it.</a:t>
            </a:r>
          </a:p>
          <a:p>
            <a:pPr lvl="2"/>
            <a:r>
              <a:rPr lang="en-US" dirty="0"/>
              <a:t>These links help explain why certain design choices were made and show how they support the project's goals.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4DB3D1-1316-42BE-C7A6-918F84DD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 of the ATAM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7B031-1C61-544B-7E30-FDB01C18E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165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27FCFF-D72D-33F6-3DEE-E4E198D007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25780" lvl="1" indent="-457200">
              <a:buFont typeface="+mj-lt"/>
              <a:buAutoNum type="arabicPeriod" startAt="7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Identified Sensitivity Points and Tradeoff Points</a:t>
            </a:r>
          </a:p>
          <a:p>
            <a:pPr lvl="2"/>
            <a:r>
              <a:rPr lang="en-US" dirty="0"/>
              <a:t>Sensitivity points are architectural decisions that have a marked effect on a quality attribute response.</a:t>
            </a:r>
          </a:p>
          <a:p>
            <a:pPr lvl="2"/>
            <a:r>
              <a:rPr lang="en-US" dirty="0"/>
              <a:t>Tradeoffs occur when two or more quality attribute responses are sensitive to the same architectural decision, but one of them improves while the other degrades.</a:t>
            </a:r>
          </a:p>
          <a:p>
            <a:r>
              <a:rPr lang="en-US" dirty="0"/>
              <a:t>The outputs of the ATAM exercise can be used to build a final report that recaps the method, summarizes the proceedings, captures the scenarios and their analysis, and catalogs the findings.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F265FB-6688-E896-3F91-EE5FE702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 of the ATAM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E9B62-A843-2636-236C-E9C986F54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329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26625C8-0684-9B96-EF72-0F98D10AC2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548" b="-49548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C39F8-CDD0-7A10-2E62-8AD93045A4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phase 0, “</a:t>
            </a:r>
            <a:r>
              <a:rPr lang="en-US" dirty="0">
                <a:solidFill>
                  <a:schemeClr val="accent1"/>
                </a:solidFill>
              </a:rPr>
              <a:t>Partnership and Preparation</a:t>
            </a:r>
            <a:r>
              <a:rPr lang="en-US" dirty="0"/>
              <a:t>” the evaluation team leadership and the key project decision makers work out the details of the exercise.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B62A1-1CB7-483C-5165-65857BD7CEA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During Phases 1 and 2, collectively known as “</a:t>
            </a:r>
            <a:r>
              <a:rPr lang="en-US" dirty="0">
                <a:solidFill>
                  <a:schemeClr val="accent1"/>
                </a:solidFill>
              </a:rPr>
              <a:t>Evaluation</a:t>
            </a:r>
            <a:r>
              <a:rPr lang="en-US" dirty="0"/>
              <a:t>” everyone gets down to the business of analysis.</a:t>
            </a:r>
          </a:p>
          <a:p>
            <a:r>
              <a:rPr lang="en-US" dirty="0"/>
              <a:t>In Phase 3, “</a:t>
            </a:r>
            <a:r>
              <a:rPr lang="en-US" dirty="0">
                <a:solidFill>
                  <a:schemeClr val="accent1"/>
                </a:solidFill>
              </a:rPr>
              <a:t>Follow-up</a:t>
            </a:r>
            <a:r>
              <a:rPr lang="en-US" dirty="0"/>
              <a:t>” the evaluation team produces and delivers its final report.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70E349-7022-4028-3E33-47AC42B8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the ATAM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FF11D-1F29-67F4-B70F-25CD816D1B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35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C6FE05-F254-D28E-589E-91BC9E46BF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ATAM analysis phases (phases 1 and 2) consist of nine steps. </a:t>
            </a:r>
          </a:p>
          <a:p>
            <a:r>
              <a:rPr lang="en-US" dirty="0"/>
              <a:t>Steps 1–6 are carried out in phase 1 with the evaluation team and the project’s decision makers; typically, the architecture team, project manager, and client.</a:t>
            </a:r>
          </a:p>
          <a:p>
            <a:r>
              <a:rPr lang="en-US" dirty="0"/>
              <a:t>In phase 2, with all stakeholders involved, steps 1–6 are summarized and steps 7–9 are carried out.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2937D2-7652-092F-060D-334AFA9C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the Evaluation Phases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6AB52-C3F6-3597-832D-548443A7F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464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01BFC0-90AC-4FD8-B4E5-1177F8ED76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1: </a:t>
            </a:r>
            <a:r>
              <a:rPr lang="en-US" dirty="0"/>
              <a:t>Present the ATAM</a:t>
            </a:r>
          </a:p>
          <a:p>
            <a:pPr lvl="1"/>
            <a:r>
              <a:rPr lang="en-US" dirty="0"/>
              <a:t>The evaluation leader presents the ATAM to explain the process, answer questions, and set expectations.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2: </a:t>
            </a:r>
            <a:r>
              <a:rPr lang="en-US" dirty="0"/>
              <a:t>Present the Business Goals</a:t>
            </a:r>
          </a:p>
          <a:p>
            <a:pPr lvl="1"/>
            <a:r>
              <a:rPr lang="en-US" dirty="0"/>
              <a:t>A project decision maker presents a system overview from a business perspective.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3: </a:t>
            </a:r>
            <a:r>
              <a:rPr lang="en-US" dirty="0"/>
              <a:t>Present the Architecture</a:t>
            </a:r>
          </a:p>
          <a:p>
            <a:pPr lvl="1"/>
            <a:r>
              <a:rPr lang="en-US" dirty="0"/>
              <a:t>The lead architect presents the architecture at an appropriate level of detail based on time, documentation, and quality requirements.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7DC86F-95F6-9487-06B0-4D20800C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DA357-5C5E-74C6-AAFA-BAFADD24E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1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DBE47-077A-7D5A-D028-42118B7D1D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4: </a:t>
            </a:r>
            <a:r>
              <a:rPr lang="en-US" dirty="0"/>
              <a:t>Identify the Architectural Approaches</a:t>
            </a:r>
          </a:p>
          <a:p>
            <a:pPr lvl="1"/>
            <a:r>
              <a:rPr lang="en-US" dirty="0"/>
              <a:t>The team identifies the </a:t>
            </a:r>
            <a:r>
              <a:rPr lang="en-US" dirty="0">
                <a:solidFill>
                  <a:schemeClr val="accent1"/>
                </a:solidFill>
              </a:rPr>
              <a:t>architectural approaches</a:t>
            </a:r>
            <a:r>
              <a:rPr lang="en-US" dirty="0"/>
              <a:t> used, such as </a:t>
            </a:r>
            <a:r>
              <a:rPr lang="en-US" dirty="0">
                <a:solidFill>
                  <a:schemeClr val="accent1"/>
                </a:solidFill>
              </a:rPr>
              <a:t>patterns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tactics</a:t>
            </a:r>
            <a:r>
              <a:rPr lang="en-US" dirty="0"/>
              <a:t>, because these have known effects on quality attributes. For example:</a:t>
            </a:r>
          </a:p>
          <a:p>
            <a:pPr lvl="1"/>
            <a:r>
              <a:rPr lang="en-US" i="1" dirty="0"/>
              <a:t>A layered pattern tends to bring portability and maintainability, possibly at the expense of performance.</a:t>
            </a:r>
          </a:p>
          <a:p>
            <a:pPr lvl="1"/>
            <a:r>
              <a:rPr lang="en-US" i="1" dirty="0"/>
              <a:t>A publish-subscribe pattern is scalable, while active redundancy promotes high availability.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5: </a:t>
            </a:r>
            <a:r>
              <a:rPr lang="en-US" dirty="0"/>
              <a:t>Generate a Quality Attribute Utility Tree</a:t>
            </a:r>
            <a:endParaRPr lang="en-US" i="1" dirty="0"/>
          </a:p>
          <a:p>
            <a:pPr lvl="1"/>
            <a:r>
              <a:rPr lang="en-US" dirty="0"/>
              <a:t>A quality attribute utility tree is created to clearly define important quality. General goals from earlier steps are turned into detailed </a:t>
            </a:r>
            <a:r>
              <a:rPr lang="en-US" dirty="0">
                <a:solidFill>
                  <a:schemeClr val="accent1"/>
                </a:solidFill>
              </a:rPr>
              <a:t>QA scenarios.</a:t>
            </a:r>
            <a:endParaRPr lang="en-US" dirty="0"/>
          </a:p>
          <a:p>
            <a:pPr lvl="1"/>
            <a:r>
              <a:rPr lang="en-US" dirty="0"/>
              <a:t>The architect and decision-makers build the tree together, rating each scenario by: </a:t>
            </a:r>
            <a:r>
              <a:rPr lang="en-US" dirty="0">
                <a:solidFill>
                  <a:schemeClr val="accent1"/>
                </a:solidFill>
              </a:rPr>
              <a:t>Technical risk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Business importance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helps focus the evaluation on what matters most.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C7F5A9-5262-5CC2-CD68-43DC35E6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636B6-6878-565F-4B96-D2236AF7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2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C834C3-5CF8-8E07-5F33-84BDB5E40F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6: </a:t>
            </a:r>
            <a:r>
              <a:rPr lang="en-US" dirty="0"/>
              <a:t>Analyze the Architectural Approach</a:t>
            </a:r>
          </a:p>
          <a:p>
            <a:pPr lvl="1"/>
            <a:r>
              <a:rPr lang="en-US" dirty="0"/>
              <a:t>The evaluation team examines the highest-ranked scenarios, asking the architect to explain how the architecture supports each one.</a:t>
            </a:r>
          </a:p>
          <a:p>
            <a:pPr lvl="1"/>
            <a:r>
              <a:rPr lang="en-US" dirty="0"/>
              <a:t>The team documents relevant architectural decisions and identifies their risks, non-risks, and tradeoffs.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The frequency of heartbeats affects failure detection time, high frequency improves availability but increases processing and bandwidth use. This is a tradeoff.</a:t>
            </a:r>
          </a:p>
          <a:p>
            <a:r>
              <a:rPr lang="en-US" dirty="0"/>
              <a:t>At the end of step 6, the team should have a clear picture of the architecture’s key aspects, rationale for decisions, and a list of risks, non-risks, sensitivity points, and tradeoffs.</a:t>
            </a:r>
          </a:p>
          <a:p>
            <a:r>
              <a:rPr lang="en-US" dirty="0"/>
              <a:t>Phase 1 concludes at this point.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198459-2A16-24FD-0768-E5E04FFB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0131-F5DF-5DA9-60CA-A362D0B90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1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2961C7-88C5-C27E-000D-32384B5D5C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After Phase 1, there is a hiatus of about a week to summarize findings and clarify open questions.</a:t>
            </a:r>
          </a:p>
          <a:p>
            <a:r>
              <a:rPr lang="en-US" dirty="0"/>
              <a:t>Phase 1 is like testing your own code; Phase 2 is like giving it to QA for more varied testing. so, it includes more participants.</a:t>
            </a:r>
          </a:p>
          <a:p>
            <a:r>
              <a:rPr lang="en-US" dirty="0"/>
              <a:t>In Phase 2, step 1 is repeated to explain roles and methods to new stakeholders.</a:t>
            </a:r>
          </a:p>
          <a:p>
            <a:r>
              <a:rPr lang="en-US" dirty="0"/>
              <a:t>The evaluation leader recaps the results of steps 2–6 and presents current risks, non-risks, sensitivity points, and tradeoffs.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9C89EE-C38B-52AB-EC90-0507238A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Hiatus and Start of 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42F2D-1C36-3A9B-8FD0-DC2989AC5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25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19A25C-2044-3AD5-FA39-D27FBC61B0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7: </a:t>
            </a:r>
            <a:r>
              <a:rPr lang="en-US" dirty="0"/>
              <a:t>Brainstorm and Prioritize Scenarios</a:t>
            </a:r>
          </a:p>
          <a:p>
            <a:pPr lvl="1"/>
            <a:r>
              <a:rPr lang="en-US" dirty="0"/>
              <a:t>Stakeholders brainstorm quality attribute scenarios based on their roles.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A maintainer may suggest a modifiability scenario, while a user focuses on ease of operation.</a:t>
            </a:r>
          </a:p>
          <a:p>
            <a:pPr lvl="1"/>
            <a:r>
              <a:rPr lang="en-US" altLang="en-US" dirty="0">
                <a:latin typeface="+mj-lt"/>
              </a:rPr>
              <a:t>This step captures the stakeholder community’s view of what system success looks like.</a:t>
            </a:r>
          </a:p>
          <a:p>
            <a:pPr lvl="1"/>
            <a:r>
              <a:rPr lang="en-US" dirty="0"/>
              <a:t>Once collected, scenarios are prioritized to guide the evaluation team's focus.</a:t>
            </a:r>
          </a:p>
          <a:p>
            <a:pPr lvl="1"/>
            <a:r>
              <a:rPr lang="en-US" dirty="0"/>
              <a:t>The prioritized scenarios are compared with the utility tree results.</a:t>
            </a:r>
          </a:p>
          <a:p>
            <a:pPr lvl="1"/>
            <a:r>
              <a:rPr lang="en-US" dirty="0"/>
              <a:t>Agreement indicates alignment between architect intentions and stakeholder expectations.</a:t>
            </a:r>
            <a:endParaRPr lang="en-US" altLang="en-US" dirty="0">
              <a:latin typeface="+mj-lt"/>
            </a:endParaRPr>
          </a:p>
          <a:p>
            <a:pPr lvl="1"/>
            <a:r>
              <a:rPr lang="en-US" dirty="0"/>
              <a:t>If new important scenarios emerge, and the discrepancy is large, this may reveal risk due to misalignment.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956028-C508-A582-B798-221820ACB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91D9-275D-6A54-1A4C-3F99ABD47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009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3E60FB-3CB4-60A8-7A30-A9D87C16AE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8: </a:t>
            </a:r>
            <a:r>
              <a:rPr lang="en-US" dirty="0"/>
              <a:t>Analyze the Architectural Approaches</a:t>
            </a:r>
          </a:p>
          <a:p>
            <a:pPr lvl="1"/>
            <a:r>
              <a:rPr lang="en-US" dirty="0"/>
              <a:t>After the scenarios have been collected and prioritized, the evaluation team guides the architect in analyzing the highest-ranked scenarios.</a:t>
            </a:r>
          </a:p>
          <a:p>
            <a:pPr lvl="1"/>
            <a:r>
              <a:rPr lang="en-US" dirty="0"/>
              <a:t>The architect explains how architectural decisions contribute to realizing each scenario.</a:t>
            </a:r>
          </a:p>
          <a:p>
            <a:pPr lvl="1"/>
            <a:r>
              <a:rPr lang="en-US" dirty="0"/>
              <a:t>The evaluation team performs the same activities as in step 6, but now with the newly generated scenarios.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E562F4-3E60-95EE-93D4-060F151B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70C5-7DF5-56B1-AD96-E97CDBE5E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200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1E7BEB-FAF6-8CA2-22BA-7C3D9FDA03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Step 9: </a:t>
            </a:r>
            <a:r>
              <a:rPr lang="en-US" dirty="0"/>
              <a:t>Present the Results</a:t>
            </a:r>
          </a:p>
          <a:p>
            <a:pPr lvl="1"/>
            <a:r>
              <a:rPr lang="en-US" dirty="0"/>
              <a:t>The evaluation team groups risks into risk themes based on common concerns or systemic deficiencies.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Risks about outdated documentation may lead to a theme about insufficient attention to documentation.</a:t>
            </a:r>
          </a:p>
          <a:p>
            <a:pPr lvl="1"/>
            <a:r>
              <a:rPr lang="en-US" dirty="0"/>
              <a:t>This process highlights risks as threats to business concerns, elevating them for management attention.</a:t>
            </a:r>
          </a:p>
          <a:p>
            <a:pPr lvl="1"/>
            <a:r>
              <a:rPr lang="en-US" dirty="0"/>
              <a:t>The following results are presented to stakeholders:</a:t>
            </a:r>
          </a:p>
          <a:p>
            <a:pPr lvl="2"/>
            <a:r>
              <a:rPr lang="en-US" dirty="0"/>
              <a:t>Documented architectural approaches</a:t>
            </a:r>
          </a:p>
          <a:p>
            <a:pPr lvl="2"/>
            <a:r>
              <a:rPr lang="en-US" dirty="0"/>
              <a:t>Prioritized scenario list</a:t>
            </a:r>
          </a:p>
          <a:p>
            <a:pPr lvl="2"/>
            <a:r>
              <a:rPr lang="en-US" dirty="0"/>
              <a:t>Utility tree</a:t>
            </a:r>
          </a:p>
          <a:p>
            <a:pPr lvl="2"/>
            <a:r>
              <a:rPr lang="en-US" dirty="0"/>
              <a:t>Identified risks and non-risks</a:t>
            </a:r>
          </a:p>
          <a:p>
            <a:pPr lvl="2"/>
            <a:r>
              <a:rPr lang="en-US" dirty="0"/>
              <a:t>Sensitivity points and tradeoffs</a:t>
            </a:r>
          </a:p>
          <a:p>
            <a:pPr lvl="2"/>
            <a:r>
              <a:rPr lang="en-US" dirty="0"/>
              <a:t>Risk themes and affected business goals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FFFAF0-231B-0195-281C-F4E1F63C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B298-B879-502C-4A53-86F1C2C2C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009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A3C861-E313-6A6D-24E3-75428063C4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Lightweight Architecture Evaluation </a:t>
            </a:r>
            <a:r>
              <a:rPr lang="en-US" dirty="0"/>
              <a:t>(LAE) method is intended to be used in a project-internal context where the reviewing is carried out by peers on a regular basis.</a:t>
            </a:r>
          </a:p>
          <a:p>
            <a:r>
              <a:rPr lang="en-US" dirty="0"/>
              <a:t>It uses the same concepts as the ATAM and is meant to be performed regularly.</a:t>
            </a:r>
          </a:p>
          <a:p>
            <a:r>
              <a:rPr lang="en-US" dirty="0"/>
              <a:t>An LAE session may focus on what has changed since the prior review or examine a previously unexamined portion of the architecture.</a:t>
            </a:r>
          </a:p>
          <a:p>
            <a:r>
              <a:rPr lang="en-US" dirty="0"/>
              <a:t>Because of this limited scope, many of the ATAM’s steps can be omitted or shortened.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A1BC22-C132-3E97-30B3-3C4B40FC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Lightweight Architecture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BF8EF-103D-06E9-AD80-9F7607902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92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828C80-5879-1F80-936F-6ECDAF73BA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LAE involves </a:t>
            </a:r>
            <a:r>
              <a:rPr lang="en-US" dirty="0">
                <a:solidFill>
                  <a:schemeClr val="accent1"/>
                </a:solidFill>
              </a:rPr>
              <a:t>fewer participants </a:t>
            </a:r>
            <a:r>
              <a:rPr lang="en-US" dirty="0"/>
              <a:t>than ATAM, making it quicker to reach shared understanding.</a:t>
            </a:r>
          </a:p>
          <a:p>
            <a:r>
              <a:rPr lang="en-US" dirty="0"/>
              <a:t>There is no final report, but a scribe captures results to guide risk remediation.</a:t>
            </a:r>
          </a:p>
          <a:p>
            <a:r>
              <a:rPr lang="en-US" dirty="0"/>
              <a:t>It is carried out entirely by members internal to the organization.</a:t>
            </a:r>
          </a:p>
          <a:p>
            <a:r>
              <a:rPr lang="en-US" dirty="0"/>
              <a:t>The internal team may be less objective, leading to fewer new ideas or dissenting opinions.</a:t>
            </a:r>
          </a:p>
          <a:p>
            <a:r>
              <a:rPr lang="en-US" dirty="0"/>
              <a:t>Nevertheless, LAE is inexpensive, easy to organize, and provides fast, low-ceremony architecture quality assurance.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37F2CC-FDD2-1B33-B281-9D2234B1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Lightweight Architecture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C490-70D9-0594-D6BF-C3F4562F2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85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5DB6E-45C0-34E0-80F6-8BABE57096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If a system is important enough for you to explicitly design its architecture, then that architecture should be evaluated.</a:t>
            </a:r>
          </a:p>
          <a:p>
            <a:r>
              <a:rPr lang="en-US" dirty="0"/>
              <a:t>The ATAM is a comprehensive method for evaluating software architectures. </a:t>
            </a:r>
          </a:p>
          <a:p>
            <a:pPr lvl="1"/>
            <a:r>
              <a:rPr lang="en-US" dirty="0"/>
              <a:t>It works by having project decision makers and stakeholders articulate a precise list of quality attribute requirements and by illuminating the architectural decisions relevant to analyzing each high-priority scenario.</a:t>
            </a:r>
          </a:p>
          <a:p>
            <a:r>
              <a:rPr lang="en-US" dirty="0"/>
              <a:t>The decisions can then be understood in terms of risks or non-risks to find any trouble spots in the architecture.</a:t>
            </a:r>
          </a:p>
          <a:p>
            <a:r>
              <a:rPr lang="en-US" dirty="0"/>
              <a:t>Lightweight evaluations can be performed regularly as part of a project’s internal peer review activities. Lightweight Architecture Evaluation, based on the ATAM, provides an inexpensive, low-ceremony architecture evaluation that can be carried out in less than a day.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A90C3D-CF56-AF56-B401-5B22CC0D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79F55-78C6-D687-E40D-0A93FDD5E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4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2849</TotalTime>
  <Words>2684</Words>
  <Application>Microsoft Office PowerPoint</Application>
  <PresentationFormat>Widescreen</PresentationFormat>
  <Paragraphs>224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Introduction</vt:lpstr>
      <vt:lpstr>Evaluation as a Risk Reduction Activity</vt:lpstr>
      <vt:lpstr>What Are the Key Evaluation Activities?</vt:lpstr>
      <vt:lpstr>Who Can Perform the Evaluation?</vt:lpstr>
      <vt:lpstr>Who Can Perform the Evaluation?</vt:lpstr>
      <vt:lpstr>Contextual Factors</vt:lpstr>
      <vt:lpstr>Contextual Factors</vt:lpstr>
      <vt:lpstr>The Architecture Tradeoff Analysis Method</vt:lpstr>
      <vt:lpstr>Participants in the ATAM</vt:lpstr>
      <vt:lpstr>Participants in the ATAM</vt:lpstr>
      <vt:lpstr>Outputs of the ATAM</vt:lpstr>
      <vt:lpstr>Outputs of the ATAM</vt:lpstr>
      <vt:lpstr>Outputs of the ATAM</vt:lpstr>
      <vt:lpstr>Phases of the ATAM</vt:lpstr>
      <vt:lpstr>Steps of the Evaluation Phases</vt:lpstr>
      <vt:lpstr>Phase 1</vt:lpstr>
      <vt:lpstr>Phase 1</vt:lpstr>
      <vt:lpstr>Phase 1</vt:lpstr>
      <vt:lpstr>Hiatus and Start of Phase 2</vt:lpstr>
      <vt:lpstr>Phase 2</vt:lpstr>
      <vt:lpstr>Phase 2</vt:lpstr>
      <vt:lpstr>Phase 2</vt:lpstr>
      <vt:lpstr>Lightweight Architecture Evaluation</vt:lpstr>
      <vt:lpstr>Lightweight Architecture Evaluation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53</cp:revision>
  <dcterms:created xsi:type="dcterms:W3CDTF">2025-05-02T12:16:21Z</dcterms:created>
  <dcterms:modified xsi:type="dcterms:W3CDTF">2025-07-26T05:13:59Z</dcterms:modified>
</cp:coreProperties>
</file>