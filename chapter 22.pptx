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handoutMasterIdLst>
    <p:handoutMasterId r:id="rId37"/>
  </p:handoutMasterIdLst>
  <p:sldIdLst>
    <p:sldId id="259" r:id="rId2"/>
    <p:sldId id="264" r:id="rId3"/>
    <p:sldId id="268" r:id="rId4"/>
    <p:sldId id="266" r:id="rId5"/>
    <p:sldId id="269" r:id="rId6"/>
    <p:sldId id="299" r:id="rId7"/>
    <p:sldId id="270" r:id="rId8"/>
    <p:sldId id="271" r:id="rId9"/>
    <p:sldId id="272" r:id="rId10"/>
    <p:sldId id="273" r:id="rId11"/>
    <p:sldId id="274" r:id="rId12"/>
    <p:sldId id="275" r:id="rId13"/>
    <p:sldId id="300" r:id="rId14"/>
    <p:sldId id="276" r:id="rId15"/>
    <p:sldId id="277" r:id="rId16"/>
    <p:sldId id="280" r:id="rId17"/>
    <p:sldId id="301" r:id="rId18"/>
    <p:sldId id="279" r:id="rId19"/>
    <p:sldId id="302" r:id="rId20"/>
    <p:sldId id="282" r:id="rId21"/>
    <p:sldId id="283" r:id="rId22"/>
    <p:sldId id="303" r:id="rId23"/>
    <p:sldId id="284" r:id="rId24"/>
    <p:sldId id="285" r:id="rId25"/>
    <p:sldId id="286" r:id="rId26"/>
    <p:sldId id="288" r:id="rId27"/>
    <p:sldId id="289" r:id="rId28"/>
    <p:sldId id="290" r:id="rId29"/>
    <p:sldId id="293" r:id="rId30"/>
    <p:sldId id="294" r:id="rId31"/>
    <p:sldId id="295" r:id="rId32"/>
    <p:sldId id="296" r:id="rId33"/>
    <p:sldId id="297" r:id="rId34"/>
    <p:sldId id="298"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59" autoAdjust="0"/>
    <p:restoredTop sz="94677" autoAdjust="0"/>
  </p:normalViewPr>
  <p:slideViewPr>
    <p:cSldViewPr snapToGrid="0">
      <p:cViewPr varScale="1">
        <p:scale>
          <a:sx n="50" d="100"/>
          <a:sy n="50" d="100"/>
        </p:scale>
        <p:origin x="48" y="81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25/07/26</a:t>
            </a:fld>
            <a:endParaRPr lang="en-US" dirty="0"/>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dirty="0"/>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dirty="0"/>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3509" y="886414"/>
            <a:ext cx="3884007" cy="5085173"/>
          </a:xfrm>
          <a:prstGeom prst="rect">
            <a:avLst/>
          </a:prstGeom>
        </p:spPr>
      </p:pic>
      <p:sp>
        <p:nvSpPr>
          <p:cNvPr id="3" name="TextBox 3">
            <a:extLst>
              <a:ext uri="{FF2B5EF4-FFF2-40B4-BE49-F238E27FC236}">
                <a16:creationId xmlns:a16="http://schemas.microsoft.com/office/drawing/2014/main" id="{CA2AF927-30AA-7708-FA45-DC09B6C7A633}"/>
              </a:ext>
            </a:extLst>
          </p:cNvPr>
          <p:cNvSpPr txBox="1"/>
          <p:nvPr userDrawn="1"/>
        </p:nvSpPr>
        <p:spPr>
          <a:xfrm>
            <a:off x="4889288" y="1701625"/>
            <a:ext cx="6649203"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4">
            <a:extLst>
              <a:ext uri="{FF2B5EF4-FFF2-40B4-BE49-F238E27FC236}">
                <a16:creationId xmlns:a16="http://schemas.microsoft.com/office/drawing/2014/main" id="{0A107B7A-E65E-6134-1507-F92CE52BA14D}"/>
              </a:ext>
            </a:extLst>
          </p:cNvPr>
          <p:cNvSpPr txBox="1"/>
          <p:nvPr userDrawn="1"/>
        </p:nvSpPr>
        <p:spPr>
          <a:xfrm>
            <a:off x="5241066" y="886414"/>
            <a:ext cx="5945653" cy="9541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5">
            <a:extLst>
              <a:ext uri="{FF2B5EF4-FFF2-40B4-BE49-F238E27FC236}">
                <a16:creationId xmlns:a16="http://schemas.microsoft.com/office/drawing/2014/main" id="{81D675CA-92B6-F987-200D-6735AB7A67AE}"/>
              </a:ext>
            </a:extLst>
          </p:cNvPr>
          <p:cNvSpPr txBox="1"/>
          <p:nvPr userDrawn="1"/>
        </p:nvSpPr>
        <p:spPr>
          <a:xfrm>
            <a:off x="5174480" y="5432903"/>
            <a:ext cx="6078818"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معرفی کتاب مرجع">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b="1"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690354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Clr>
                <a:schemeClr val="tx1"/>
              </a:buClr>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dirty="0"/>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Clr>
                <a:schemeClr val="tx1"/>
              </a:buClr>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buClr>
                <a:schemeClr val="tx1"/>
              </a:buClr>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650709" y="518312"/>
            <a:ext cx="8890581" cy="5000952"/>
          </a:xfrm>
          <a:prstGeom prst="rect">
            <a:avLst/>
          </a:prstGeom>
        </p:spPr>
        <p:txBody>
          <a:bodyPr/>
          <a:lstStyle/>
          <a:p>
            <a:endParaRPr lang="en-US" dirty="0"/>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5" r:id="rId3"/>
    <p:sldLayoutId id="2147483650" r:id="rId4"/>
    <p:sldLayoutId id="2147483651" r:id="rId5"/>
    <p:sldLayoutId id="2147483652" r:id="rId6"/>
    <p:sldLayoutId id="2147483653"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Documenting an Architecture</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22</a:t>
            </a:r>
          </a:p>
        </p:txBody>
      </p:sp>
    </p:spTree>
    <p:extLst>
      <p:ext uri="{BB962C8B-B14F-4D97-AF65-F5344CB8AC3E}">
        <p14:creationId xmlns:p14="http://schemas.microsoft.com/office/powerpoint/2010/main" val="702636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508ED7A-E858-9048-A2EE-70B0CAEFB216}"/>
              </a:ext>
            </a:extLst>
          </p:cNvPr>
          <p:cNvSpPr>
            <a:spLocks noGrp="1"/>
          </p:cNvSpPr>
          <p:nvPr>
            <p:ph type="sldNum" sz="quarter" idx="10"/>
          </p:nvPr>
        </p:nvSpPr>
        <p:spPr/>
        <p:txBody>
          <a:bodyPr/>
          <a:lstStyle/>
          <a:p>
            <a:fld id="{AE311D09-C3D9-45E8-99CE-78E12234EEAD}" type="slidenum">
              <a:rPr lang="en-US" smtClean="0"/>
              <a:pPr/>
              <a:t>3</a:t>
            </a:fld>
            <a:endParaRPr lang="en-US" dirty="0"/>
          </a:p>
        </p:txBody>
      </p:sp>
      <p:sp>
        <p:nvSpPr>
          <p:cNvPr id="3" name="Text Placeholder 2">
            <a:extLst>
              <a:ext uri="{FF2B5EF4-FFF2-40B4-BE49-F238E27FC236}">
                <a16:creationId xmlns:a16="http://schemas.microsoft.com/office/drawing/2014/main" id="{7009505E-138C-BEFA-F1DA-E22DF7575B82}"/>
              </a:ext>
            </a:extLst>
          </p:cNvPr>
          <p:cNvSpPr>
            <a:spLocks noGrp="1"/>
          </p:cNvSpPr>
          <p:nvPr>
            <p:ph type="body" sz="quarter" idx="11"/>
          </p:nvPr>
        </p:nvSpPr>
        <p:spPr/>
        <p:txBody>
          <a:bodyPr/>
          <a:lstStyle/>
          <a:p>
            <a:r>
              <a:rPr lang="en-US" sz="3200" b="0" dirty="0"/>
              <a:t>Documentation is a love letter that you write to your future self.</a:t>
            </a:r>
          </a:p>
        </p:txBody>
      </p:sp>
      <p:sp>
        <p:nvSpPr>
          <p:cNvPr id="4" name="Text Placeholder 3">
            <a:extLst>
              <a:ext uri="{FF2B5EF4-FFF2-40B4-BE49-F238E27FC236}">
                <a16:creationId xmlns:a16="http://schemas.microsoft.com/office/drawing/2014/main" id="{B2B87A4A-CF6B-713C-5025-563FAA777324}"/>
              </a:ext>
            </a:extLst>
          </p:cNvPr>
          <p:cNvSpPr>
            <a:spLocks noGrp="1"/>
          </p:cNvSpPr>
          <p:nvPr>
            <p:ph type="body" sz="quarter" idx="12"/>
          </p:nvPr>
        </p:nvSpPr>
        <p:spPr/>
        <p:txBody>
          <a:bodyPr/>
          <a:lstStyle/>
          <a:p>
            <a:r>
              <a:rPr lang="en-US" dirty="0"/>
              <a:t>—Damian Conway</a:t>
            </a:r>
          </a:p>
        </p:txBody>
      </p:sp>
    </p:spTree>
    <p:extLst>
      <p:ext uri="{BB962C8B-B14F-4D97-AF65-F5344CB8AC3E}">
        <p14:creationId xmlns:p14="http://schemas.microsoft.com/office/powerpoint/2010/main" val="1562113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482658-2BE8-68DC-2E49-3E16AB1B08DB}"/>
              </a:ext>
            </a:extLst>
          </p:cNvPr>
          <p:cNvSpPr>
            <a:spLocks noGrp="1"/>
          </p:cNvSpPr>
          <p:nvPr>
            <p:ph sz="half" idx="2"/>
          </p:nvPr>
        </p:nvSpPr>
        <p:spPr/>
        <p:txBody>
          <a:bodyPr/>
          <a:lstStyle/>
          <a:p>
            <a:pPr marL="118872">
              <a:spcBef>
                <a:spcPts val="1200"/>
              </a:spcBef>
            </a:pPr>
            <a:r>
              <a:rPr lang="en-US" dirty="0"/>
              <a:t>Introduction</a:t>
            </a:r>
          </a:p>
          <a:p>
            <a:pPr marL="118872">
              <a:spcBef>
                <a:spcPts val="1200"/>
              </a:spcBef>
            </a:pPr>
            <a:r>
              <a:rPr lang="en-US" dirty="0"/>
              <a:t>Audiences for Architecture Documentation</a:t>
            </a:r>
          </a:p>
          <a:p>
            <a:pPr marL="118872">
              <a:spcBef>
                <a:spcPts val="1200"/>
              </a:spcBef>
            </a:pPr>
            <a:r>
              <a:rPr lang="en-US" dirty="0"/>
              <a:t>Notations</a:t>
            </a:r>
          </a:p>
          <a:p>
            <a:pPr marL="118872">
              <a:spcBef>
                <a:spcPts val="1200"/>
              </a:spcBef>
            </a:pPr>
            <a:r>
              <a:rPr lang="en-US" dirty="0"/>
              <a:t>Views</a:t>
            </a:r>
          </a:p>
          <a:p>
            <a:pPr lvl="1">
              <a:spcBef>
                <a:spcPts val="300"/>
              </a:spcBef>
            </a:pPr>
            <a:r>
              <a:rPr lang="en-US" dirty="0"/>
              <a:t>Module Views</a:t>
            </a:r>
          </a:p>
          <a:p>
            <a:pPr lvl="1">
              <a:spcBef>
                <a:spcPts val="300"/>
              </a:spcBef>
            </a:pPr>
            <a:r>
              <a:rPr lang="en-US" dirty="0"/>
              <a:t>C&amp;C Views</a:t>
            </a:r>
          </a:p>
          <a:p>
            <a:pPr lvl="1">
              <a:spcBef>
                <a:spcPts val="300"/>
              </a:spcBef>
            </a:pPr>
            <a:r>
              <a:rPr lang="en-US" dirty="0"/>
              <a:t>Allocation Views</a:t>
            </a:r>
          </a:p>
          <a:p>
            <a:pPr lvl="1">
              <a:spcBef>
                <a:spcPts val="300"/>
              </a:spcBef>
            </a:pPr>
            <a:r>
              <a:rPr lang="en-US" dirty="0"/>
              <a:t>Quality Views</a:t>
            </a:r>
          </a:p>
          <a:p>
            <a:pPr marL="118872">
              <a:spcBef>
                <a:spcPts val="1200"/>
              </a:spcBef>
            </a:pPr>
            <a:r>
              <a:rPr lang="en-US" dirty="0"/>
              <a:t>Combining Views</a:t>
            </a:r>
          </a:p>
          <a:p>
            <a:pPr marL="118872">
              <a:spcBef>
                <a:spcPts val="1200"/>
              </a:spcBef>
            </a:pPr>
            <a:r>
              <a:rPr lang="en-US" dirty="0"/>
              <a:t>Documenting Behavior</a:t>
            </a:r>
          </a:p>
          <a:p>
            <a:pPr lvl="1">
              <a:spcBef>
                <a:spcPts val="300"/>
              </a:spcBef>
            </a:pPr>
            <a:r>
              <a:rPr lang="en-US" dirty="0"/>
              <a:t>Trace-Oriented Notation</a:t>
            </a:r>
          </a:p>
          <a:p>
            <a:pPr lvl="1">
              <a:spcBef>
                <a:spcPts val="300"/>
              </a:spcBef>
            </a:pPr>
            <a:r>
              <a:rPr lang="en-US" dirty="0"/>
              <a:t>Comprehensive Behavior Notation</a:t>
            </a:r>
          </a:p>
          <a:p>
            <a:pPr>
              <a:spcBef>
                <a:spcPts val="600"/>
              </a:spcBef>
            </a:pPr>
            <a:r>
              <a:rPr lang="en-US" dirty="0"/>
              <a:t>Summary</a:t>
            </a:r>
          </a:p>
          <a:p>
            <a:endParaRPr lang="en-US" dirty="0"/>
          </a:p>
        </p:txBody>
      </p:sp>
      <p:sp>
        <p:nvSpPr>
          <p:cNvPr id="3" name="Title 2">
            <a:extLst>
              <a:ext uri="{FF2B5EF4-FFF2-40B4-BE49-F238E27FC236}">
                <a16:creationId xmlns:a16="http://schemas.microsoft.com/office/drawing/2014/main" id="{DEA50FF4-3542-AD6D-6F54-5EF273AB4BF6}"/>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CF7B9C1B-F8C3-F07B-728F-B0949F03145A}"/>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Tree>
    <p:extLst>
      <p:ext uri="{BB962C8B-B14F-4D97-AF65-F5344CB8AC3E}">
        <p14:creationId xmlns:p14="http://schemas.microsoft.com/office/powerpoint/2010/main" val="23558266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3ED8DE-7D44-DB8F-3ABF-1C40B58B2676}"/>
              </a:ext>
            </a:extLst>
          </p:cNvPr>
          <p:cNvSpPr>
            <a:spLocks noGrp="1"/>
          </p:cNvSpPr>
          <p:nvPr>
            <p:ph sz="half" idx="2"/>
          </p:nvPr>
        </p:nvSpPr>
        <p:spPr/>
        <p:txBody>
          <a:bodyPr/>
          <a:lstStyle/>
          <a:p>
            <a:r>
              <a:rPr lang="en-US" dirty="0"/>
              <a:t>Creating an architecture isn’t enough.</a:t>
            </a:r>
          </a:p>
          <a:p>
            <a:r>
              <a:rPr lang="en-US" dirty="0"/>
              <a:t>Documentation speaks for the architect.</a:t>
            </a:r>
          </a:p>
          <a:p>
            <a:r>
              <a:rPr lang="en-US" dirty="0"/>
              <a:t>It speaks for the architect today, when the architect should be doing other things besides answering a hundred questions about the architecture.</a:t>
            </a:r>
          </a:p>
          <a:p>
            <a:r>
              <a:rPr lang="en-US" dirty="0"/>
              <a:t>And it speaks for the architect tomorrow, who has forgotten the details of what the architecture includes, or when that person has left the project and someone else is now the architect.</a:t>
            </a:r>
          </a:p>
        </p:txBody>
      </p:sp>
      <p:sp>
        <p:nvSpPr>
          <p:cNvPr id="3" name="Title 2">
            <a:extLst>
              <a:ext uri="{FF2B5EF4-FFF2-40B4-BE49-F238E27FC236}">
                <a16:creationId xmlns:a16="http://schemas.microsoft.com/office/drawing/2014/main" id="{7F5EFD45-62C0-98DC-87BD-9CE9F70E9847}"/>
              </a:ext>
            </a:extLst>
          </p:cNvPr>
          <p:cNvSpPr>
            <a:spLocks noGrp="1"/>
          </p:cNvSpPr>
          <p:nvPr>
            <p:ph type="title"/>
          </p:nvPr>
        </p:nvSpPr>
        <p:spPr/>
        <p:txBody>
          <a:bodyPr/>
          <a:lstStyle/>
          <a:p>
            <a:r>
              <a:rPr lang="en-US" dirty="0"/>
              <a:t>Introduction</a:t>
            </a:r>
          </a:p>
        </p:txBody>
      </p:sp>
      <p:sp>
        <p:nvSpPr>
          <p:cNvPr id="4" name="Slide Number Placeholder 3">
            <a:extLst>
              <a:ext uri="{FF2B5EF4-FFF2-40B4-BE49-F238E27FC236}">
                <a16:creationId xmlns:a16="http://schemas.microsoft.com/office/drawing/2014/main" id="{9C7C8EE7-DF53-7020-F173-D19F79D75722}"/>
              </a:ext>
            </a:extLst>
          </p:cNvPr>
          <p:cNvSpPr>
            <a:spLocks noGrp="1"/>
          </p:cNvSpPr>
          <p:nvPr>
            <p:ph type="sldNum" sz="quarter" idx="10"/>
          </p:nvPr>
        </p:nvSpPr>
        <p:spPr/>
        <p:txBody>
          <a:bodyPr/>
          <a:lstStyle/>
          <a:p>
            <a:fld id="{AE311D09-C3D9-45E8-99CE-78E12234EEAD}" type="slidenum">
              <a:rPr lang="en-US" smtClean="0"/>
              <a:pPr/>
              <a:t>5</a:t>
            </a:fld>
            <a:endParaRPr lang="en-US" dirty="0"/>
          </a:p>
        </p:txBody>
      </p:sp>
    </p:spTree>
    <p:extLst>
      <p:ext uri="{BB962C8B-B14F-4D97-AF65-F5344CB8AC3E}">
        <p14:creationId xmlns:p14="http://schemas.microsoft.com/office/powerpoint/2010/main" val="2994014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4DAD8959-04BC-7176-A292-13E4B3B5B4DE}"/>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28802" r="-28802"/>
          <a:stretch>
            <a:fillRect/>
          </a:stretch>
        </p:blipFill>
        <p:spPr/>
      </p:pic>
      <p:sp>
        <p:nvSpPr>
          <p:cNvPr id="3" name="Content Placeholder 2">
            <a:extLst>
              <a:ext uri="{FF2B5EF4-FFF2-40B4-BE49-F238E27FC236}">
                <a16:creationId xmlns:a16="http://schemas.microsoft.com/office/drawing/2014/main" id="{5EE1680E-6729-F922-1A9B-45BAFDC66BFA}"/>
              </a:ext>
            </a:extLst>
          </p:cNvPr>
          <p:cNvSpPr>
            <a:spLocks noGrp="1"/>
          </p:cNvSpPr>
          <p:nvPr>
            <p:ph sz="half" idx="2"/>
          </p:nvPr>
        </p:nvSpPr>
        <p:spPr/>
        <p:txBody>
          <a:bodyPr/>
          <a:lstStyle/>
          <a:p>
            <a:r>
              <a:rPr lang="en-US" dirty="0"/>
              <a:t>Documentation also serves as the receptacle to hold the results of major design decisions as they are confirmed.</a:t>
            </a:r>
          </a:p>
          <a:p>
            <a:r>
              <a:rPr lang="en-US" dirty="0"/>
              <a:t>don’t think of documentation as a step that is distinct from and follows design.</a:t>
            </a:r>
          </a:p>
          <a:p>
            <a:endParaRPr lang="en-US" dirty="0"/>
          </a:p>
        </p:txBody>
      </p:sp>
      <p:sp>
        <p:nvSpPr>
          <p:cNvPr id="4" name="Content Placeholder 3">
            <a:extLst>
              <a:ext uri="{FF2B5EF4-FFF2-40B4-BE49-F238E27FC236}">
                <a16:creationId xmlns:a16="http://schemas.microsoft.com/office/drawing/2014/main" id="{1D8C1922-4A79-9317-5492-0E28DF13B610}"/>
              </a:ext>
            </a:extLst>
          </p:cNvPr>
          <p:cNvSpPr>
            <a:spLocks noGrp="1"/>
          </p:cNvSpPr>
          <p:nvPr>
            <p:ph sz="half" idx="12"/>
          </p:nvPr>
        </p:nvSpPr>
        <p:spPr/>
        <p:txBody>
          <a:bodyPr/>
          <a:lstStyle/>
          <a:p>
            <a:r>
              <a:rPr lang="en-US" dirty="0"/>
              <a:t>Design and documentation are, ideally, the same piece of work.</a:t>
            </a:r>
          </a:p>
          <a:p>
            <a:endParaRPr lang="en-US" dirty="0"/>
          </a:p>
        </p:txBody>
      </p:sp>
      <p:sp>
        <p:nvSpPr>
          <p:cNvPr id="5" name="Title 4">
            <a:extLst>
              <a:ext uri="{FF2B5EF4-FFF2-40B4-BE49-F238E27FC236}">
                <a16:creationId xmlns:a16="http://schemas.microsoft.com/office/drawing/2014/main" id="{856C9134-561F-45F9-36F6-28C3C8139F89}"/>
              </a:ext>
            </a:extLst>
          </p:cNvPr>
          <p:cNvSpPr>
            <a:spLocks noGrp="1"/>
          </p:cNvSpPr>
          <p:nvPr>
            <p:ph type="title"/>
          </p:nvPr>
        </p:nvSpPr>
        <p:spPr/>
        <p:txBody>
          <a:bodyPr/>
          <a:lstStyle/>
          <a:p>
            <a:r>
              <a:rPr lang="en-US" dirty="0"/>
              <a:t>Introduction</a:t>
            </a:r>
          </a:p>
        </p:txBody>
      </p:sp>
      <p:sp>
        <p:nvSpPr>
          <p:cNvPr id="6" name="Slide Number Placeholder 5">
            <a:extLst>
              <a:ext uri="{FF2B5EF4-FFF2-40B4-BE49-F238E27FC236}">
                <a16:creationId xmlns:a16="http://schemas.microsoft.com/office/drawing/2014/main" id="{6B05D6A1-B33D-CAD3-D128-E54D453D645A}"/>
              </a:ext>
            </a:extLst>
          </p:cNvPr>
          <p:cNvSpPr>
            <a:spLocks noGrp="1"/>
          </p:cNvSpPr>
          <p:nvPr>
            <p:ph type="sldNum" sz="quarter" idx="13"/>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1680345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BA5E71-BBF3-DDCB-7F33-9BB2D6667705}"/>
              </a:ext>
            </a:extLst>
          </p:cNvPr>
          <p:cNvSpPr>
            <a:spLocks noGrp="1"/>
          </p:cNvSpPr>
          <p:nvPr>
            <p:ph sz="half" idx="2"/>
          </p:nvPr>
        </p:nvSpPr>
        <p:spPr/>
        <p:txBody>
          <a:bodyPr/>
          <a:lstStyle/>
          <a:p>
            <a:r>
              <a:rPr lang="en-US" dirty="0"/>
              <a:t>Many different kinds of people will have an interest </a:t>
            </a:r>
            <a:r>
              <a:rPr lang="en-US" dirty="0">
                <a:solidFill>
                  <a:schemeClr val="accent1"/>
                </a:solidFill>
              </a:rPr>
              <a:t>in architecture documentation</a:t>
            </a:r>
            <a:r>
              <a:rPr lang="en-US" dirty="0"/>
              <a:t>. </a:t>
            </a:r>
          </a:p>
          <a:p>
            <a:r>
              <a:rPr lang="en-US" dirty="0"/>
              <a:t>Understanding the uses of architecture documentation is essential, as those uses determine what information to capture. </a:t>
            </a:r>
          </a:p>
          <a:p>
            <a:r>
              <a:rPr lang="en-US" dirty="0"/>
              <a:t>Architecture documentation has four uses:</a:t>
            </a:r>
          </a:p>
          <a:p>
            <a:pPr marL="228600" indent="-457200">
              <a:buFont typeface="+mj-lt"/>
              <a:buAutoNum type="arabicPeriod"/>
            </a:pPr>
            <a:r>
              <a:rPr lang="en-US" dirty="0">
                <a:solidFill>
                  <a:schemeClr val="accent4">
                    <a:lumMod val="50000"/>
                  </a:schemeClr>
                </a:solidFill>
              </a:rPr>
              <a:t>As a mean of education</a:t>
            </a:r>
          </a:p>
          <a:p>
            <a:pPr lvl="1"/>
            <a:r>
              <a:rPr lang="en-US" dirty="0"/>
              <a:t>For introducing people new members of the team to the system.</a:t>
            </a:r>
          </a:p>
          <a:p>
            <a:pPr lvl="1"/>
            <a:r>
              <a:rPr lang="en-US" dirty="0"/>
              <a:t>For presenting your solution for the first time to a customer.</a:t>
            </a:r>
          </a:p>
          <a:p>
            <a:pPr marL="228600" indent="-457200">
              <a:buFont typeface="+mj-lt"/>
              <a:buAutoNum type="arabicPeriod"/>
            </a:pPr>
            <a:r>
              <a:rPr lang="en-US" dirty="0">
                <a:solidFill>
                  <a:schemeClr val="accent4">
                    <a:lumMod val="50000"/>
                  </a:schemeClr>
                </a:solidFill>
              </a:rPr>
              <a:t>For communication among stakeholders</a:t>
            </a:r>
          </a:p>
          <a:p>
            <a:endParaRPr lang="en-US" dirty="0"/>
          </a:p>
        </p:txBody>
      </p:sp>
      <p:sp>
        <p:nvSpPr>
          <p:cNvPr id="3" name="Title 2">
            <a:extLst>
              <a:ext uri="{FF2B5EF4-FFF2-40B4-BE49-F238E27FC236}">
                <a16:creationId xmlns:a16="http://schemas.microsoft.com/office/drawing/2014/main" id="{A15669FD-577F-0A1D-8DD1-11539782895E}"/>
              </a:ext>
            </a:extLst>
          </p:cNvPr>
          <p:cNvSpPr>
            <a:spLocks noGrp="1"/>
          </p:cNvSpPr>
          <p:nvPr>
            <p:ph type="title"/>
          </p:nvPr>
        </p:nvSpPr>
        <p:spPr/>
        <p:txBody>
          <a:bodyPr>
            <a:normAutofit/>
          </a:bodyPr>
          <a:lstStyle/>
          <a:p>
            <a:r>
              <a:rPr lang="en-US" dirty="0"/>
              <a:t>Audiences for Architecture Documentation</a:t>
            </a:r>
          </a:p>
        </p:txBody>
      </p:sp>
      <p:sp>
        <p:nvSpPr>
          <p:cNvPr id="4" name="Slide Number Placeholder 3">
            <a:extLst>
              <a:ext uri="{FF2B5EF4-FFF2-40B4-BE49-F238E27FC236}">
                <a16:creationId xmlns:a16="http://schemas.microsoft.com/office/drawing/2014/main" id="{BD0CF0A2-79BF-04DD-8AEF-C0EC44D3ED6D}"/>
              </a:ext>
            </a:extLst>
          </p:cNvPr>
          <p:cNvSpPr>
            <a:spLocks noGrp="1"/>
          </p:cNvSpPr>
          <p:nvPr>
            <p:ph type="sldNum" sz="quarter" idx="10"/>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4699966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8F7DC8-B28E-5FA6-0EF2-BA20564995B1}"/>
              </a:ext>
            </a:extLst>
          </p:cNvPr>
          <p:cNvSpPr>
            <a:spLocks noGrp="1"/>
          </p:cNvSpPr>
          <p:nvPr>
            <p:ph sz="half" idx="2"/>
          </p:nvPr>
        </p:nvSpPr>
        <p:spPr/>
        <p:txBody>
          <a:bodyPr/>
          <a:lstStyle/>
          <a:p>
            <a:pPr marL="228600" indent="-457200">
              <a:buFont typeface="+mj-lt"/>
              <a:buAutoNum type="arabicPeriod" startAt="3"/>
            </a:pPr>
            <a:r>
              <a:rPr lang="en-US" dirty="0">
                <a:solidFill>
                  <a:schemeClr val="accent4">
                    <a:lumMod val="50000"/>
                  </a:schemeClr>
                </a:solidFill>
              </a:rPr>
              <a:t>The basis for system analysis and construction</a:t>
            </a:r>
          </a:p>
          <a:p>
            <a:pPr lvl="1"/>
            <a:r>
              <a:rPr lang="en-US" dirty="0"/>
              <a:t>Architecture tells implementers which modules to implement and how those modules are wired together.</a:t>
            </a:r>
          </a:p>
          <a:p>
            <a:pPr marL="228600" indent="-457200">
              <a:buFont typeface="+mj-lt"/>
              <a:buAutoNum type="arabicPeriod" startAt="3"/>
            </a:pPr>
            <a:r>
              <a:rPr lang="en-US" dirty="0">
                <a:solidFill>
                  <a:schemeClr val="accent4">
                    <a:lumMod val="50000"/>
                  </a:schemeClr>
                </a:solidFill>
              </a:rPr>
              <a:t>The basis for forensics when an incident occurs</a:t>
            </a:r>
          </a:p>
          <a:p>
            <a:pPr lvl="1"/>
            <a:r>
              <a:rPr lang="en-US" dirty="0"/>
              <a:t>When an incident occurs, someone is responsible for tracking down cause of the incident and immediate information about the flow of control will be helpful.</a:t>
            </a:r>
          </a:p>
          <a:p>
            <a:pPr lvl="1"/>
            <a:r>
              <a:rPr lang="en-US" dirty="0"/>
              <a:t>For example, information of interface specifications will provide context for the flow of control. </a:t>
            </a:r>
          </a:p>
          <a:p>
            <a:pPr lvl="1"/>
            <a:r>
              <a:rPr lang="en-US" dirty="0"/>
              <a:t>And component descriptions will indicate what should have happened in each component on the trace of events.</a:t>
            </a:r>
          </a:p>
          <a:p>
            <a:endParaRPr lang="en-US" dirty="0"/>
          </a:p>
        </p:txBody>
      </p:sp>
      <p:sp>
        <p:nvSpPr>
          <p:cNvPr id="3" name="Title 2">
            <a:extLst>
              <a:ext uri="{FF2B5EF4-FFF2-40B4-BE49-F238E27FC236}">
                <a16:creationId xmlns:a16="http://schemas.microsoft.com/office/drawing/2014/main" id="{1557EA21-1CC0-9018-A2AF-EF3CDCA25AD2}"/>
              </a:ext>
            </a:extLst>
          </p:cNvPr>
          <p:cNvSpPr>
            <a:spLocks noGrp="1"/>
          </p:cNvSpPr>
          <p:nvPr>
            <p:ph type="title"/>
          </p:nvPr>
        </p:nvSpPr>
        <p:spPr/>
        <p:txBody>
          <a:bodyPr/>
          <a:lstStyle/>
          <a:p>
            <a:r>
              <a:rPr lang="en-US" dirty="0"/>
              <a:t>Audiences for Architecture Documentation</a:t>
            </a:r>
          </a:p>
        </p:txBody>
      </p:sp>
      <p:sp>
        <p:nvSpPr>
          <p:cNvPr id="4" name="Slide Number Placeholder 3">
            <a:extLst>
              <a:ext uri="{FF2B5EF4-FFF2-40B4-BE49-F238E27FC236}">
                <a16:creationId xmlns:a16="http://schemas.microsoft.com/office/drawing/2014/main" id="{71802C7A-BFD1-AA0A-B640-1C7CA3270818}"/>
              </a:ext>
            </a:extLst>
          </p:cNvPr>
          <p:cNvSpPr>
            <a:spLocks noGrp="1"/>
          </p:cNvSpPr>
          <p:nvPr>
            <p:ph type="sldNum" sz="quarter" idx="10"/>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28460304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544F30-89E8-CE81-4892-FE47229D42F9}"/>
              </a:ext>
            </a:extLst>
          </p:cNvPr>
          <p:cNvSpPr>
            <a:spLocks noGrp="1"/>
          </p:cNvSpPr>
          <p:nvPr>
            <p:ph sz="half" idx="2"/>
          </p:nvPr>
        </p:nvSpPr>
        <p:spPr/>
        <p:txBody>
          <a:bodyPr/>
          <a:lstStyle/>
          <a:p>
            <a:r>
              <a:rPr lang="en-US" dirty="0"/>
              <a:t>Notations for documenting views differ considerably in their degree of formality. Roughly speaking, there are three main categories of notation:</a:t>
            </a:r>
          </a:p>
          <a:p>
            <a:r>
              <a:rPr lang="en-US" dirty="0">
                <a:solidFill>
                  <a:schemeClr val="accent4">
                    <a:lumMod val="50000"/>
                  </a:schemeClr>
                </a:solidFill>
              </a:rPr>
              <a:t>Informal notations</a:t>
            </a:r>
          </a:p>
          <a:p>
            <a:pPr lvl="1"/>
            <a:r>
              <a:rPr lang="en-US" dirty="0"/>
              <a:t>Most box-and-line drawings you’ve probably seen fall into this category</a:t>
            </a:r>
          </a:p>
          <a:p>
            <a:pPr lvl="1"/>
            <a:r>
              <a:rPr lang="en-US" dirty="0"/>
              <a:t>Like Power Point or some similar tool, or hand-drawn sketches on a whiteboard.</a:t>
            </a:r>
          </a:p>
          <a:p>
            <a:pPr lvl="1"/>
            <a:r>
              <a:rPr lang="en-US" dirty="0"/>
              <a:t>The description are in natural language, and cannot be formally analyzed.</a:t>
            </a:r>
            <a:endParaRPr lang="en-US" dirty="0">
              <a:solidFill>
                <a:schemeClr val="accent4">
                  <a:lumMod val="50000"/>
                </a:schemeClr>
              </a:solidFill>
            </a:endParaRPr>
          </a:p>
          <a:p>
            <a:r>
              <a:rPr lang="en-US" dirty="0">
                <a:solidFill>
                  <a:schemeClr val="accent4">
                    <a:lumMod val="50000"/>
                  </a:schemeClr>
                </a:solidFill>
              </a:rPr>
              <a:t>Semiformal notations</a:t>
            </a:r>
          </a:p>
          <a:p>
            <a:pPr lvl="1"/>
            <a:r>
              <a:rPr lang="en-US" dirty="0"/>
              <a:t>Views may be expressed in a standardized notation that prescribes graphical elements and rules of construction, but does not provide a complete semantic treatment of the meaning of those elements.</a:t>
            </a:r>
          </a:p>
          <a:p>
            <a:pPr lvl="1"/>
            <a:r>
              <a:rPr lang="en-US" dirty="0"/>
              <a:t>UML and its system engineering adjunct </a:t>
            </a:r>
            <a:r>
              <a:rPr lang="en-US" dirty="0" err="1"/>
              <a:t>SysML</a:t>
            </a:r>
            <a:r>
              <a:rPr lang="en-US" dirty="0"/>
              <a:t> are semiformal notations.</a:t>
            </a:r>
            <a:endParaRPr lang="en-US" dirty="0">
              <a:solidFill>
                <a:schemeClr val="accent4">
                  <a:lumMod val="50000"/>
                </a:schemeClr>
              </a:solidFill>
            </a:endParaRPr>
          </a:p>
        </p:txBody>
      </p:sp>
      <p:sp>
        <p:nvSpPr>
          <p:cNvPr id="3" name="Title 2">
            <a:extLst>
              <a:ext uri="{FF2B5EF4-FFF2-40B4-BE49-F238E27FC236}">
                <a16:creationId xmlns:a16="http://schemas.microsoft.com/office/drawing/2014/main" id="{90FABA4B-BE41-E0C1-3C70-31869B29177E}"/>
              </a:ext>
            </a:extLst>
          </p:cNvPr>
          <p:cNvSpPr>
            <a:spLocks noGrp="1"/>
          </p:cNvSpPr>
          <p:nvPr>
            <p:ph type="title"/>
          </p:nvPr>
        </p:nvSpPr>
        <p:spPr/>
        <p:txBody>
          <a:bodyPr/>
          <a:lstStyle/>
          <a:p>
            <a:r>
              <a:rPr lang="en-US" dirty="0"/>
              <a:t>Notations</a:t>
            </a:r>
          </a:p>
        </p:txBody>
      </p:sp>
      <p:sp>
        <p:nvSpPr>
          <p:cNvPr id="4" name="Slide Number Placeholder 3">
            <a:extLst>
              <a:ext uri="{FF2B5EF4-FFF2-40B4-BE49-F238E27FC236}">
                <a16:creationId xmlns:a16="http://schemas.microsoft.com/office/drawing/2014/main" id="{4F8E314B-078A-038D-D1BD-BC8AB5E8D2E3}"/>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234720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14FB5C-FDF3-3083-DD7B-AEFABE151603}"/>
              </a:ext>
            </a:extLst>
          </p:cNvPr>
          <p:cNvSpPr>
            <a:spLocks noGrp="1"/>
          </p:cNvSpPr>
          <p:nvPr>
            <p:ph sz="half" idx="2"/>
          </p:nvPr>
        </p:nvSpPr>
        <p:spPr/>
        <p:txBody>
          <a:bodyPr/>
          <a:lstStyle/>
          <a:p>
            <a:r>
              <a:rPr lang="en-US" dirty="0">
                <a:solidFill>
                  <a:schemeClr val="accent4">
                    <a:lumMod val="50000"/>
                  </a:schemeClr>
                </a:solidFill>
              </a:rPr>
              <a:t>Formal notations</a:t>
            </a:r>
          </a:p>
          <a:p>
            <a:pPr lvl="1"/>
            <a:r>
              <a:rPr lang="en-US" dirty="0"/>
              <a:t>Views may be described in a notation that has a precise (usually mathematically based) semantics. </a:t>
            </a:r>
          </a:p>
          <a:p>
            <a:pPr lvl="1"/>
            <a:r>
              <a:rPr lang="en-US" dirty="0"/>
              <a:t>Formal analysis of both syntax and semantics is possible.</a:t>
            </a:r>
            <a:endParaRPr lang="en-US" dirty="0">
              <a:solidFill>
                <a:schemeClr val="accent4">
                  <a:lumMod val="50000"/>
                </a:schemeClr>
              </a:solidFill>
            </a:endParaRPr>
          </a:p>
          <a:p>
            <a:pPr lvl="1"/>
            <a:r>
              <a:rPr lang="en-US" dirty="0"/>
              <a:t>A variety of formal notations for software architecture are available. Generally referred to as architecture description languages (</a:t>
            </a:r>
            <a:r>
              <a:rPr lang="en-US" dirty="0">
                <a:solidFill>
                  <a:schemeClr val="accent1"/>
                </a:solidFill>
              </a:rPr>
              <a:t>ADLs</a:t>
            </a:r>
            <a:r>
              <a:rPr lang="en-US" dirty="0"/>
              <a:t>)</a:t>
            </a:r>
          </a:p>
          <a:p>
            <a:pPr lvl="1"/>
            <a:r>
              <a:rPr lang="en-US" dirty="0"/>
              <a:t>The usefulness of ADLs lies in supporting automation through associated tools like analysis or code generation.</a:t>
            </a:r>
          </a:p>
          <a:p>
            <a:pPr lvl="1"/>
            <a:r>
              <a:rPr lang="en-US" dirty="0"/>
              <a:t>In practice, the use of formal notations is rare.</a:t>
            </a:r>
          </a:p>
          <a:p>
            <a:r>
              <a:rPr lang="en-US" dirty="0"/>
              <a:t>Typically, more formal notations take more effort to create and understand, but repay this effort with reduced ambiguity and more opportunities for analysis.</a:t>
            </a:r>
          </a:p>
        </p:txBody>
      </p:sp>
      <p:sp>
        <p:nvSpPr>
          <p:cNvPr id="3" name="Title 2">
            <a:extLst>
              <a:ext uri="{FF2B5EF4-FFF2-40B4-BE49-F238E27FC236}">
                <a16:creationId xmlns:a16="http://schemas.microsoft.com/office/drawing/2014/main" id="{A9383A90-27BA-A7DB-5F35-67B30A9A9193}"/>
              </a:ext>
            </a:extLst>
          </p:cNvPr>
          <p:cNvSpPr>
            <a:spLocks noGrp="1"/>
          </p:cNvSpPr>
          <p:nvPr>
            <p:ph type="title"/>
          </p:nvPr>
        </p:nvSpPr>
        <p:spPr/>
        <p:txBody>
          <a:bodyPr/>
          <a:lstStyle/>
          <a:p>
            <a:r>
              <a:rPr lang="en-US" dirty="0"/>
              <a:t>Notations</a:t>
            </a:r>
          </a:p>
        </p:txBody>
      </p:sp>
      <p:sp>
        <p:nvSpPr>
          <p:cNvPr id="4" name="Slide Number Placeholder 3">
            <a:extLst>
              <a:ext uri="{FF2B5EF4-FFF2-40B4-BE49-F238E27FC236}">
                <a16:creationId xmlns:a16="http://schemas.microsoft.com/office/drawing/2014/main" id="{A62A33CF-83FE-F5C8-4093-FE85DA7CE257}"/>
              </a:ext>
            </a:extLst>
          </p:cNvPr>
          <p:cNvSpPr>
            <a:spLocks noGrp="1"/>
          </p:cNvSpPr>
          <p:nvPr>
            <p:ph type="sldNum" sz="quarter" idx="10"/>
          </p:nvPr>
        </p:nvSpPr>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34996499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4FA859-D0A3-835F-021E-3EA07A972E7A}"/>
              </a:ext>
            </a:extLst>
          </p:cNvPr>
          <p:cNvSpPr>
            <a:spLocks noGrp="1"/>
          </p:cNvSpPr>
          <p:nvPr>
            <p:ph sz="half" idx="2"/>
          </p:nvPr>
        </p:nvSpPr>
        <p:spPr/>
        <p:txBody>
          <a:bodyPr/>
          <a:lstStyle/>
          <a:p>
            <a:r>
              <a:rPr lang="en-US" dirty="0"/>
              <a:t>A software architecture is a complex entity that cannot be described in a simple one-dimensional fashion.</a:t>
            </a:r>
          </a:p>
          <a:p>
            <a:r>
              <a:rPr lang="en-US" dirty="0"/>
              <a:t>A </a:t>
            </a:r>
            <a:r>
              <a:rPr lang="en-US" dirty="0">
                <a:solidFill>
                  <a:schemeClr val="accent1"/>
                </a:solidFill>
              </a:rPr>
              <a:t>view</a:t>
            </a:r>
            <a:r>
              <a:rPr lang="en-US" dirty="0"/>
              <a:t> is a representation of a set of system elements and relations among them. (not all system elements, but those of a particular type.)</a:t>
            </a:r>
          </a:p>
          <a:p>
            <a:r>
              <a:rPr lang="en-US" dirty="0"/>
              <a:t>For example, a layered view of a system would show elements of type “layer”; that is, it would show the system’s decomposition into layers, along with the relations among those layers.</a:t>
            </a:r>
          </a:p>
          <a:p>
            <a:pPr lvl="1"/>
            <a:r>
              <a:rPr lang="en-US" dirty="0"/>
              <a:t>A pure layered view would not show the system’s services, or clients and servers, or data model, etc.</a:t>
            </a:r>
          </a:p>
          <a:p>
            <a:r>
              <a:rPr lang="en-US" dirty="0"/>
              <a:t>Thus, views let us divide a multidimensional entity like software architecture, into a number of representations of the system.</a:t>
            </a:r>
          </a:p>
        </p:txBody>
      </p:sp>
      <p:sp>
        <p:nvSpPr>
          <p:cNvPr id="3" name="Title 2">
            <a:extLst>
              <a:ext uri="{FF2B5EF4-FFF2-40B4-BE49-F238E27FC236}">
                <a16:creationId xmlns:a16="http://schemas.microsoft.com/office/drawing/2014/main" id="{2E27B2C7-9114-656C-7160-F4DA7F59FD12}"/>
              </a:ext>
            </a:extLst>
          </p:cNvPr>
          <p:cNvSpPr>
            <a:spLocks noGrp="1"/>
          </p:cNvSpPr>
          <p:nvPr>
            <p:ph type="title"/>
          </p:nvPr>
        </p:nvSpPr>
        <p:spPr/>
        <p:txBody>
          <a:bodyPr/>
          <a:lstStyle/>
          <a:p>
            <a:r>
              <a:rPr lang="en-US" dirty="0"/>
              <a:t>Views</a:t>
            </a:r>
          </a:p>
        </p:txBody>
      </p:sp>
      <p:sp>
        <p:nvSpPr>
          <p:cNvPr id="4" name="Slide Number Placeholder 3">
            <a:extLst>
              <a:ext uri="{FF2B5EF4-FFF2-40B4-BE49-F238E27FC236}">
                <a16:creationId xmlns:a16="http://schemas.microsoft.com/office/drawing/2014/main" id="{66B70106-32BB-DCF5-1F46-E1002E7F3EF7}"/>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27021363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F9C1014-E1EB-4366-7FA3-B94B21ABD753}"/>
              </a:ext>
            </a:extLst>
          </p:cNvPr>
          <p:cNvSpPr>
            <a:spLocks noGrp="1"/>
          </p:cNvSpPr>
          <p:nvPr>
            <p:ph sz="half" idx="2"/>
          </p:nvPr>
        </p:nvSpPr>
        <p:spPr/>
        <p:txBody>
          <a:bodyPr/>
          <a:lstStyle/>
          <a:p>
            <a:r>
              <a:rPr lang="en-US" dirty="0"/>
              <a:t>Documenting an architecture is a matter of documenting the relevant views and then adding documentation that applies to more than one view.</a:t>
            </a:r>
          </a:p>
          <a:p>
            <a:r>
              <a:rPr lang="en-US" dirty="0"/>
              <a:t>Different views expose different quality attributes to different degrees.</a:t>
            </a:r>
          </a:p>
          <a:p>
            <a:r>
              <a:rPr lang="en-US" dirty="0"/>
              <a:t>The views you should document depend on the uses you expect to make of the documentation.</a:t>
            </a:r>
          </a:p>
          <a:p>
            <a:r>
              <a:rPr lang="en-US" dirty="0"/>
              <a:t>Each view has a cost and a benefit, and you should ensure that the expected benefits outweigh the costs.</a:t>
            </a:r>
          </a:p>
          <a:p>
            <a:r>
              <a:rPr lang="en-US" dirty="0">
                <a:solidFill>
                  <a:schemeClr val="accent1"/>
                </a:solidFill>
              </a:rPr>
              <a:t>Module views</a:t>
            </a:r>
            <a:r>
              <a:rPr lang="en-US" dirty="0"/>
              <a:t>, </a:t>
            </a:r>
            <a:r>
              <a:rPr lang="en-US" dirty="0">
                <a:solidFill>
                  <a:schemeClr val="accent1"/>
                </a:solidFill>
              </a:rPr>
              <a:t>C&amp;C views</a:t>
            </a:r>
            <a:r>
              <a:rPr lang="en-US" dirty="0"/>
              <a:t>, and </a:t>
            </a:r>
            <a:r>
              <a:rPr lang="en-US" dirty="0">
                <a:solidFill>
                  <a:schemeClr val="accent1"/>
                </a:solidFill>
              </a:rPr>
              <a:t>allocation views </a:t>
            </a:r>
            <a:r>
              <a:rPr lang="en-US" dirty="0"/>
              <a:t>are the appropriate mechanism for representing different design patterns.</a:t>
            </a:r>
          </a:p>
          <a:p>
            <a:r>
              <a:rPr lang="en-US" dirty="0"/>
              <a:t>The choice and number of views should be guided by the documentation's intended purpose, quality concerns, and architectural patterns.</a:t>
            </a:r>
            <a:endParaRPr lang="en-US" b="1" dirty="0"/>
          </a:p>
        </p:txBody>
      </p:sp>
      <p:sp>
        <p:nvSpPr>
          <p:cNvPr id="3" name="Title 2">
            <a:extLst>
              <a:ext uri="{FF2B5EF4-FFF2-40B4-BE49-F238E27FC236}">
                <a16:creationId xmlns:a16="http://schemas.microsoft.com/office/drawing/2014/main" id="{892B3E67-1F0F-489D-34F4-E1C1B6D52621}"/>
              </a:ext>
            </a:extLst>
          </p:cNvPr>
          <p:cNvSpPr>
            <a:spLocks noGrp="1"/>
          </p:cNvSpPr>
          <p:nvPr>
            <p:ph type="title"/>
          </p:nvPr>
        </p:nvSpPr>
        <p:spPr/>
        <p:txBody>
          <a:bodyPr/>
          <a:lstStyle/>
          <a:p>
            <a:r>
              <a:rPr lang="en-US" dirty="0"/>
              <a:t>Views</a:t>
            </a:r>
          </a:p>
        </p:txBody>
      </p:sp>
      <p:sp>
        <p:nvSpPr>
          <p:cNvPr id="4" name="Slide Number Placeholder 3">
            <a:extLst>
              <a:ext uri="{FF2B5EF4-FFF2-40B4-BE49-F238E27FC236}">
                <a16:creationId xmlns:a16="http://schemas.microsoft.com/office/drawing/2014/main" id="{E6302A38-A317-3408-B033-80E947012044}"/>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1306622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2905ACB2-4DF3-5F31-07D8-7170F9D3C6B5}"/>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11164" r="-11164"/>
          <a:stretch>
            <a:fillRect/>
          </a:stretch>
        </p:blipFill>
        <p:spPr/>
      </p:pic>
      <p:sp>
        <p:nvSpPr>
          <p:cNvPr id="3" name="Text Placeholder 2">
            <a:extLst>
              <a:ext uri="{FF2B5EF4-FFF2-40B4-BE49-F238E27FC236}">
                <a16:creationId xmlns:a16="http://schemas.microsoft.com/office/drawing/2014/main" id="{355BA0CA-AA9A-3D75-394F-2E70E379A75E}"/>
              </a:ext>
            </a:extLst>
          </p:cNvPr>
          <p:cNvSpPr>
            <a:spLocks noGrp="1"/>
          </p:cNvSpPr>
          <p:nvPr>
            <p:ph type="body" sz="quarter" idx="12"/>
          </p:nvPr>
        </p:nvSpPr>
        <p:spPr/>
        <p:txBody>
          <a:bodyPr/>
          <a:lstStyle/>
          <a:p>
            <a:r>
              <a:rPr lang="en-US" dirty="0"/>
              <a:t>View is about seeing a complex system in several simpler figures</a:t>
            </a:r>
          </a:p>
        </p:txBody>
      </p:sp>
      <p:sp>
        <p:nvSpPr>
          <p:cNvPr id="4" name="Slide Number Placeholder 3">
            <a:extLst>
              <a:ext uri="{FF2B5EF4-FFF2-40B4-BE49-F238E27FC236}">
                <a16:creationId xmlns:a16="http://schemas.microsoft.com/office/drawing/2014/main" id="{DC64D4C3-8DFD-174A-A138-3F388EC86A02}"/>
              </a:ext>
            </a:extLst>
          </p:cNvPr>
          <p:cNvSpPr>
            <a:spLocks noGrp="1"/>
          </p:cNvSpPr>
          <p:nvPr>
            <p:ph type="sldNum" sz="quarter" idx="13"/>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22062335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637D1D-49DB-5F38-E620-99BDCEAFB07E}"/>
              </a:ext>
            </a:extLst>
          </p:cNvPr>
          <p:cNvSpPr>
            <a:spLocks noGrp="1"/>
          </p:cNvSpPr>
          <p:nvPr>
            <p:ph sz="half" idx="2"/>
          </p:nvPr>
        </p:nvSpPr>
        <p:spPr/>
        <p:txBody>
          <a:bodyPr/>
          <a:lstStyle/>
          <a:p>
            <a:r>
              <a:rPr lang="en-US" dirty="0"/>
              <a:t>A module is a part of the system that handles a clear set of tasks. It can be a class, a group of classes, a layer, or other code structures. Modules are shown in views like decomposition, uses, or layers.</a:t>
            </a:r>
          </a:p>
          <a:p>
            <a:r>
              <a:rPr lang="en-US" dirty="0"/>
              <a:t>Each module has properties, such as its responsibilities, who can access it, and its change history. Modules can relate to each other in different ways, like </a:t>
            </a:r>
            <a:r>
              <a:rPr lang="en-US" dirty="0">
                <a:solidFill>
                  <a:schemeClr val="accent1"/>
                </a:solidFill>
              </a:rPr>
              <a:t>is-part-of</a:t>
            </a:r>
            <a:r>
              <a:rPr lang="en-US" dirty="0"/>
              <a:t>, </a:t>
            </a:r>
            <a:r>
              <a:rPr lang="en-US" dirty="0">
                <a:solidFill>
                  <a:schemeClr val="accent1"/>
                </a:solidFill>
              </a:rPr>
              <a:t>depends-on</a:t>
            </a:r>
            <a:r>
              <a:rPr lang="en-US" dirty="0"/>
              <a:t>, and </a:t>
            </a:r>
            <a:r>
              <a:rPr lang="en-US" dirty="0">
                <a:solidFill>
                  <a:schemeClr val="accent1"/>
                </a:solidFill>
              </a:rPr>
              <a:t>is-a</a:t>
            </a:r>
            <a:r>
              <a:rPr lang="en-US" dirty="0"/>
              <a:t>. </a:t>
            </a:r>
          </a:p>
          <a:p>
            <a:r>
              <a:rPr lang="en-US" dirty="0">
                <a:solidFill>
                  <a:schemeClr val="accent1"/>
                </a:solidFill>
              </a:rPr>
              <a:t>Module views </a:t>
            </a:r>
            <a:r>
              <a:rPr lang="en-US" dirty="0"/>
              <a:t>document static structures and help with understanding code structure, planning work, and ensuring modifiability.</a:t>
            </a:r>
          </a:p>
          <a:p>
            <a:r>
              <a:rPr lang="en-US" dirty="0"/>
              <a:t>The documentation of any software architecture is unlikely to be complete without at least one module view.</a:t>
            </a:r>
          </a:p>
        </p:txBody>
      </p:sp>
      <p:sp>
        <p:nvSpPr>
          <p:cNvPr id="3" name="Title 2">
            <a:extLst>
              <a:ext uri="{FF2B5EF4-FFF2-40B4-BE49-F238E27FC236}">
                <a16:creationId xmlns:a16="http://schemas.microsoft.com/office/drawing/2014/main" id="{C440F229-B78F-24C4-C20D-682229D4445B}"/>
              </a:ext>
            </a:extLst>
          </p:cNvPr>
          <p:cNvSpPr>
            <a:spLocks noGrp="1"/>
          </p:cNvSpPr>
          <p:nvPr>
            <p:ph type="title"/>
          </p:nvPr>
        </p:nvSpPr>
        <p:spPr/>
        <p:txBody>
          <a:bodyPr/>
          <a:lstStyle/>
          <a:p>
            <a:r>
              <a:rPr lang="en-US" dirty="0"/>
              <a:t>Module Views</a:t>
            </a:r>
          </a:p>
        </p:txBody>
      </p:sp>
      <p:sp>
        <p:nvSpPr>
          <p:cNvPr id="4" name="Slide Number Placeholder 3">
            <a:extLst>
              <a:ext uri="{FF2B5EF4-FFF2-40B4-BE49-F238E27FC236}">
                <a16:creationId xmlns:a16="http://schemas.microsoft.com/office/drawing/2014/main" id="{733927ED-CCBB-8652-4BFC-225131DE12BF}"/>
              </a:ext>
            </a:extLst>
          </p:cNvPr>
          <p:cNvSpPr>
            <a:spLocks noGrp="1"/>
          </p:cNvSpPr>
          <p:nvPr>
            <p:ph type="sldNum" sz="quarter" idx="10"/>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18866371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55745DC-91FF-545D-F20C-5FAB25561763}"/>
              </a:ext>
            </a:extLst>
          </p:cNvPr>
          <p:cNvSpPr>
            <a:spLocks noGrp="1"/>
          </p:cNvSpPr>
          <p:nvPr>
            <p:ph sz="half" idx="2"/>
          </p:nvPr>
        </p:nvSpPr>
        <p:spPr/>
        <p:txBody>
          <a:bodyPr/>
          <a:lstStyle/>
          <a:p>
            <a:r>
              <a:rPr lang="en-US" dirty="0"/>
              <a:t>Properties of module that help with building and understanding the system should be written down in the documentation for that module. Like:</a:t>
            </a:r>
          </a:p>
          <a:p>
            <a:r>
              <a:rPr lang="en-US" b="1" dirty="0">
                <a:solidFill>
                  <a:schemeClr val="accent1"/>
                </a:solidFill>
              </a:rPr>
              <a:t>Name: </a:t>
            </a:r>
            <a:r>
              <a:rPr lang="en-US" dirty="0"/>
              <a:t>Identifies the module, often shows its role and position.</a:t>
            </a:r>
          </a:p>
          <a:p>
            <a:r>
              <a:rPr lang="en-US" b="1" dirty="0">
                <a:solidFill>
                  <a:schemeClr val="accent1"/>
                </a:solidFill>
              </a:rPr>
              <a:t>Responsibilities: </a:t>
            </a:r>
            <a:r>
              <a:rPr lang="en-US" dirty="0"/>
              <a:t>Describes what the module does in detail.</a:t>
            </a:r>
          </a:p>
          <a:p>
            <a:r>
              <a:rPr lang="en-US" b="1" dirty="0">
                <a:solidFill>
                  <a:schemeClr val="accent1"/>
                </a:solidFill>
              </a:rPr>
              <a:t>Implementation info: </a:t>
            </a:r>
            <a:r>
              <a:rPr lang="en-US" dirty="0"/>
              <a:t>Includes code files, tests, constraints, and links to test plans.</a:t>
            </a:r>
          </a:p>
          <a:p>
            <a:pPr lvl="1"/>
            <a:r>
              <a:rPr lang="en-US" b="1" dirty="0">
                <a:solidFill>
                  <a:schemeClr val="tx1"/>
                </a:solidFill>
              </a:rPr>
              <a:t>Source code mapping: </a:t>
            </a:r>
            <a:r>
              <a:rPr lang="en-US" dirty="0"/>
              <a:t>Which files make up the module </a:t>
            </a:r>
          </a:p>
          <a:p>
            <a:pPr lvl="1"/>
            <a:r>
              <a:rPr lang="en-US" b="1" dirty="0">
                <a:solidFill>
                  <a:schemeClr val="tx1"/>
                </a:solidFill>
              </a:rPr>
              <a:t>Test information: </a:t>
            </a:r>
            <a:r>
              <a:rPr lang="en-US" dirty="0"/>
              <a:t>Test plans, cases, and tools, or at least where to find them.</a:t>
            </a:r>
          </a:p>
          <a:p>
            <a:pPr lvl="1"/>
            <a:r>
              <a:rPr lang="en-US" b="1" dirty="0">
                <a:solidFill>
                  <a:schemeClr val="tx1"/>
                </a:solidFill>
              </a:rPr>
              <a:t>Management info: </a:t>
            </a:r>
            <a:r>
              <a:rPr lang="en-US" dirty="0"/>
              <a:t>Expected schedule and budget, or a reference to where this info is stored.</a:t>
            </a:r>
          </a:p>
          <a:p>
            <a:pPr lvl="1"/>
            <a:r>
              <a:rPr lang="en-US" b="1" dirty="0">
                <a:solidFill>
                  <a:schemeClr val="tx1"/>
                </a:solidFill>
              </a:rPr>
              <a:t>Constraints: </a:t>
            </a:r>
            <a:r>
              <a:rPr lang="en-US" dirty="0"/>
              <a:t>Any rules or strategies that must be followed during implementation.</a:t>
            </a:r>
          </a:p>
          <a:p>
            <a:r>
              <a:rPr lang="en-US" b="1" dirty="0">
                <a:solidFill>
                  <a:schemeClr val="accent1"/>
                </a:solidFill>
              </a:rPr>
              <a:t>Revision history: </a:t>
            </a:r>
            <a:r>
              <a:rPr lang="en-US" dirty="0"/>
              <a:t>Tracks who changed what and when, useful for maintenance.</a:t>
            </a:r>
          </a:p>
        </p:txBody>
      </p:sp>
      <p:sp>
        <p:nvSpPr>
          <p:cNvPr id="3" name="Title 2">
            <a:extLst>
              <a:ext uri="{FF2B5EF4-FFF2-40B4-BE49-F238E27FC236}">
                <a16:creationId xmlns:a16="http://schemas.microsoft.com/office/drawing/2014/main" id="{0F344EFD-8E1B-16A5-6105-37F5C03859F3}"/>
              </a:ext>
            </a:extLst>
          </p:cNvPr>
          <p:cNvSpPr>
            <a:spLocks noGrp="1"/>
          </p:cNvSpPr>
          <p:nvPr>
            <p:ph type="title"/>
          </p:nvPr>
        </p:nvSpPr>
        <p:spPr/>
        <p:txBody>
          <a:bodyPr/>
          <a:lstStyle/>
          <a:p>
            <a:r>
              <a:rPr lang="en-US" dirty="0"/>
              <a:t>Module Views</a:t>
            </a:r>
          </a:p>
        </p:txBody>
      </p:sp>
      <p:sp>
        <p:nvSpPr>
          <p:cNvPr id="4" name="Slide Number Placeholder 3">
            <a:extLst>
              <a:ext uri="{FF2B5EF4-FFF2-40B4-BE49-F238E27FC236}">
                <a16:creationId xmlns:a16="http://schemas.microsoft.com/office/drawing/2014/main" id="{E939A31F-FBFD-7E7C-683B-DD5E428F9E2D}"/>
              </a:ext>
            </a:extLst>
          </p:cNvPr>
          <p:cNvSpPr>
            <a:spLocks noGrp="1"/>
          </p:cNvSpPr>
          <p:nvPr>
            <p:ph type="sldNum" sz="quarter" idx="10"/>
          </p:nvPr>
        </p:nvSpPr>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24925468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DE438B4A-E633-C5CB-82F1-944D5C9504E3}"/>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t="-8296" b="-8296"/>
          <a:stretch>
            <a:fillRect/>
          </a:stretch>
        </p:blipFill>
        <p:spPr/>
      </p:pic>
      <p:sp>
        <p:nvSpPr>
          <p:cNvPr id="3" name="Text Placeholder 2">
            <a:extLst>
              <a:ext uri="{FF2B5EF4-FFF2-40B4-BE49-F238E27FC236}">
                <a16:creationId xmlns:a16="http://schemas.microsoft.com/office/drawing/2014/main" id="{6A9A881B-7E59-E6E1-212B-DD0ED1FD3D41}"/>
              </a:ext>
            </a:extLst>
          </p:cNvPr>
          <p:cNvSpPr>
            <a:spLocks noGrp="1"/>
          </p:cNvSpPr>
          <p:nvPr>
            <p:ph type="body" sz="quarter" idx="12"/>
          </p:nvPr>
        </p:nvSpPr>
        <p:spPr/>
        <p:txBody>
          <a:bodyPr/>
          <a:lstStyle/>
          <a:p>
            <a:r>
              <a:rPr lang="en-US" dirty="0"/>
              <a:t>The above picture summarizes the characteristics of module views.</a:t>
            </a:r>
          </a:p>
        </p:txBody>
      </p:sp>
      <p:sp>
        <p:nvSpPr>
          <p:cNvPr id="4" name="Slide Number Placeholder 3">
            <a:extLst>
              <a:ext uri="{FF2B5EF4-FFF2-40B4-BE49-F238E27FC236}">
                <a16:creationId xmlns:a16="http://schemas.microsoft.com/office/drawing/2014/main" id="{E7CFACF3-03F1-7497-A00A-0970F8BBE49D}"/>
              </a:ext>
            </a:extLst>
          </p:cNvPr>
          <p:cNvSpPr>
            <a:spLocks noGrp="1"/>
          </p:cNvSpPr>
          <p:nvPr>
            <p:ph type="sldNum" sz="quarter" idx="13"/>
          </p:nvPr>
        </p:nvSpPr>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311023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AABF2B-EBDC-A0B2-1532-719F347C2505}"/>
              </a:ext>
            </a:extLst>
          </p:cNvPr>
          <p:cNvSpPr>
            <a:spLocks noGrp="1"/>
          </p:cNvSpPr>
          <p:nvPr>
            <p:ph sz="half" idx="2"/>
          </p:nvPr>
        </p:nvSpPr>
        <p:spPr/>
        <p:txBody>
          <a:bodyPr/>
          <a:lstStyle/>
          <a:p>
            <a:r>
              <a:rPr lang="en-US" dirty="0"/>
              <a:t>C&amp;C views describe the runtime structure of a system by showing its </a:t>
            </a:r>
            <a:r>
              <a:rPr lang="en-US" dirty="0">
                <a:solidFill>
                  <a:schemeClr val="accent1"/>
                </a:solidFill>
              </a:rPr>
              <a:t>components</a:t>
            </a:r>
            <a:r>
              <a:rPr lang="en-US" dirty="0"/>
              <a:t> (e.g., processes, services, clients, servers, data stores) and how they interact through </a:t>
            </a:r>
            <a:r>
              <a:rPr lang="en-US" dirty="0">
                <a:solidFill>
                  <a:schemeClr val="accent1"/>
                </a:solidFill>
              </a:rPr>
              <a:t>connectors</a:t>
            </a:r>
            <a:r>
              <a:rPr lang="en-US" dirty="0"/>
              <a:t> (e.g., message queues, service calls, event broadcasts).</a:t>
            </a:r>
          </a:p>
          <a:p>
            <a:r>
              <a:rPr lang="en-US" dirty="0"/>
              <a:t>The main relationship in C&amp;C views is </a:t>
            </a:r>
            <a:r>
              <a:rPr lang="en-US" dirty="0">
                <a:solidFill>
                  <a:schemeClr val="accent1"/>
                </a:solidFill>
              </a:rPr>
              <a:t>attachment</a:t>
            </a:r>
            <a:r>
              <a:rPr lang="en-US" dirty="0"/>
              <a:t>, which connects components and connectors. The system is seen as a graph of these connections. For the system to work properly, connected elements must be compatible (e.g., matching data types or encryption expectations).</a:t>
            </a:r>
          </a:p>
          <a:p>
            <a:r>
              <a:rPr lang="en-US" b="1" dirty="0">
                <a:solidFill>
                  <a:schemeClr val="accent4">
                    <a:lumMod val="50000"/>
                  </a:schemeClr>
                </a:solidFill>
              </a:rPr>
              <a:t>Uses of C&amp;C Views:</a:t>
            </a:r>
          </a:p>
          <a:p>
            <a:pPr lvl="1"/>
            <a:r>
              <a:rPr lang="en-US" dirty="0"/>
              <a:t>Help </a:t>
            </a:r>
            <a:r>
              <a:rPr lang="en-US" b="1" dirty="0">
                <a:solidFill>
                  <a:schemeClr val="accent1"/>
                </a:solidFill>
              </a:rPr>
              <a:t>developers and stakeholders</a:t>
            </a:r>
            <a:r>
              <a:rPr lang="en-US" dirty="0">
                <a:solidFill>
                  <a:schemeClr val="accent1"/>
                </a:solidFill>
              </a:rPr>
              <a:t> </a:t>
            </a:r>
            <a:r>
              <a:rPr lang="en-US" dirty="0"/>
              <a:t>understand how the system behaves at runtime</a:t>
            </a:r>
          </a:p>
          <a:p>
            <a:pPr lvl="1"/>
            <a:r>
              <a:rPr lang="en-US" dirty="0"/>
              <a:t>Enable </a:t>
            </a:r>
            <a:r>
              <a:rPr lang="en-US" dirty="0">
                <a:solidFill>
                  <a:schemeClr val="accent1"/>
                </a:solidFill>
              </a:rPr>
              <a:t>performance</a:t>
            </a:r>
            <a:r>
              <a:rPr lang="en-US" dirty="0"/>
              <a:t> and quality </a:t>
            </a:r>
            <a:r>
              <a:rPr lang="en-US" dirty="0">
                <a:solidFill>
                  <a:schemeClr val="accent1"/>
                </a:solidFill>
              </a:rPr>
              <a:t>analysis</a:t>
            </a:r>
            <a:r>
              <a:rPr lang="en-US" dirty="0"/>
              <a:t>, like predicting latency, reliability, or identifying bottlenecks.</a:t>
            </a:r>
          </a:p>
          <a:p>
            <a:pPr lvl="1"/>
            <a:r>
              <a:rPr lang="en-US" dirty="0"/>
              <a:t>Allow animation or </a:t>
            </a:r>
            <a:r>
              <a:rPr lang="en-US" dirty="0">
                <a:solidFill>
                  <a:schemeClr val="accent1"/>
                </a:solidFill>
              </a:rPr>
              <a:t>walkthroughs</a:t>
            </a:r>
            <a:r>
              <a:rPr lang="en-US" dirty="0"/>
              <a:t> of activities across components</a:t>
            </a:r>
          </a:p>
          <a:p>
            <a:endParaRPr lang="en-US" dirty="0"/>
          </a:p>
          <a:p>
            <a:pPr marL="0" indent="0">
              <a:buNone/>
            </a:pPr>
            <a:endParaRPr lang="en-US" dirty="0"/>
          </a:p>
        </p:txBody>
      </p:sp>
      <p:sp>
        <p:nvSpPr>
          <p:cNvPr id="3" name="Title 2">
            <a:extLst>
              <a:ext uri="{FF2B5EF4-FFF2-40B4-BE49-F238E27FC236}">
                <a16:creationId xmlns:a16="http://schemas.microsoft.com/office/drawing/2014/main" id="{F311DD82-E802-CE43-9573-F0E6D17AE6CB}"/>
              </a:ext>
            </a:extLst>
          </p:cNvPr>
          <p:cNvSpPr>
            <a:spLocks noGrp="1"/>
          </p:cNvSpPr>
          <p:nvPr>
            <p:ph type="title"/>
          </p:nvPr>
        </p:nvSpPr>
        <p:spPr/>
        <p:txBody>
          <a:bodyPr/>
          <a:lstStyle/>
          <a:p>
            <a:r>
              <a:rPr lang="en-US" dirty="0"/>
              <a:t>C&amp;C Views</a:t>
            </a:r>
          </a:p>
        </p:txBody>
      </p:sp>
      <p:sp>
        <p:nvSpPr>
          <p:cNvPr id="4" name="Slide Number Placeholder 3">
            <a:extLst>
              <a:ext uri="{FF2B5EF4-FFF2-40B4-BE49-F238E27FC236}">
                <a16:creationId xmlns:a16="http://schemas.microsoft.com/office/drawing/2014/main" id="{CDD870CD-C205-6D9A-C18E-765D6FB0DD01}"/>
              </a:ext>
            </a:extLst>
          </p:cNvPr>
          <p:cNvSpPr>
            <a:spLocks noGrp="1"/>
          </p:cNvSpPr>
          <p:nvPr>
            <p:ph type="sldNum" sz="quarter" idx="10"/>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4412274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93A73D-5F7F-D64A-9934-69A34700CD4D}"/>
              </a:ext>
            </a:extLst>
          </p:cNvPr>
          <p:cNvSpPr>
            <a:spLocks noGrp="1"/>
          </p:cNvSpPr>
          <p:nvPr>
            <p:ph sz="half" idx="2"/>
          </p:nvPr>
        </p:nvSpPr>
        <p:spPr/>
        <p:txBody>
          <a:bodyPr/>
          <a:lstStyle/>
          <a:p>
            <a:r>
              <a:rPr lang="en-US" dirty="0"/>
              <a:t>Every component or connector should have a </a:t>
            </a:r>
            <a:r>
              <a:rPr lang="en-US" dirty="0">
                <a:solidFill>
                  <a:schemeClr val="accent1"/>
                </a:solidFill>
              </a:rPr>
              <a:t>name</a:t>
            </a:r>
            <a:r>
              <a:rPr lang="en-US" b="1" dirty="0"/>
              <a:t>, </a:t>
            </a:r>
            <a:r>
              <a:rPr lang="en-US" dirty="0">
                <a:solidFill>
                  <a:schemeClr val="accent1"/>
                </a:solidFill>
              </a:rPr>
              <a:t>type</a:t>
            </a:r>
            <a:r>
              <a:rPr lang="en-US" dirty="0"/>
              <a:t>, and may include additional properties to support analysis:</a:t>
            </a:r>
          </a:p>
          <a:p>
            <a:pPr lvl="1"/>
            <a:r>
              <a:rPr lang="en-US" dirty="0"/>
              <a:t>Reliability: Likelihood of failure</a:t>
            </a:r>
          </a:p>
          <a:p>
            <a:pPr lvl="1"/>
            <a:r>
              <a:rPr lang="en-US" dirty="0"/>
              <a:t>Performance: Response times, bandwidth, latency</a:t>
            </a:r>
          </a:p>
          <a:p>
            <a:pPr lvl="1"/>
            <a:r>
              <a:rPr lang="en-US" dirty="0"/>
              <a:t>Resource Requirements: Processing, memory, energy needs</a:t>
            </a:r>
          </a:p>
          <a:p>
            <a:pPr lvl="1"/>
            <a:r>
              <a:rPr lang="en-US" dirty="0"/>
              <a:t>Functionality: What tasks it performs</a:t>
            </a:r>
          </a:p>
          <a:p>
            <a:pPr lvl="1"/>
            <a:r>
              <a:rPr lang="en-US" dirty="0"/>
              <a:t>Security: Encryption, authentication, etc.</a:t>
            </a:r>
          </a:p>
          <a:p>
            <a:pPr lvl="1"/>
            <a:r>
              <a:rPr lang="en-US" dirty="0"/>
              <a:t>Concurrency: Thread or process execution</a:t>
            </a:r>
          </a:p>
          <a:p>
            <a:pPr lvl="1"/>
            <a:r>
              <a:rPr lang="en-US" dirty="0"/>
              <a:t>Runtime Extensibility: Ability to handle evolving message types</a:t>
            </a:r>
          </a:p>
          <a:p>
            <a:endParaRPr lang="en-US" dirty="0"/>
          </a:p>
          <a:p>
            <a:endParaRPr lang="en-US" dirty="0"/>
          </a:p>
        </p:txBody>
      </p:sp>
      <p:sp>
        <p:nvSpPr>
          <p:cNvPr id="3" name="Title 2">
            <a:extLst>
              <a:ext uri="{FF2B5EF4-FFF2-40B4-BE49-F238E27FC236}">
                <a16:creationId xmlns:a16="http://schemas.microsoft.com/office/drawing/2014/main" id="{7B7DDC31-E0F6-F325-8840-680D8F218D4C}"/>
              </a:ext>
            </a:extLst>
          </p:cNvPr>
          <p:cNvSpPr>
            <a:spLocks noGrp="1"/>
          </p:cNvSpPr>
          <p:nvPr>
            <p:ph type="title"/>
          </p:nvPr>
        </p:nvSpPr>
        <p:spPr/>
        <p:txBody>
          <a:bodyPr/>
          <a:lstStyle/>
          <a:p>
            <a:r>
              <a:rPr lang="en-US" dirty="0"/>
              <a:t>C&amp;C Views</a:t>
            </a:r>
          </a:p>
        </p:txBody>
      </p:sp>
      <p:sp>
        <p:nvSpPr>
          <p:cNvPr id="4" name="Slide Number Placeholder 3">
            <a:extLst>
              <a:ext uri="{FF2B5EF4-FFF2-40B4-BE49-F238E27FC236}">
                <a16:creationId xmlns:a16="http://schemas.microsoft.com/office/drawing/2014/main" id="{ED962F80-6A07-3D2D-BD8E-54DCFF9FCDAF}"/>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21418202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9B2A7EE4-3624-F13C-A62C-F33DD15431F4}"/>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t="-21916" b="-21916"/>
          <a:stretch>
            <a:fillRect/>
          </a:stretch>
        </p:blipFill>
        <p:spPr/>
      </p:pic>
      <p:sp>
        <p:nvSpPr>
          <p:cNvPr id="3" name="Text Placeholder 2">
            <a:extLst>
              <a:ext uri="{FF2B5EF4-FFF2-40B4-BE49-F238E27FC236}">
                <a16:creationId xmlns:a16="http://schemas.microsoft.com/office/drawing/2014/main" id="{2B092F15-8B60-8C64-A74E-6F7F645562E1}"/>
              </a:ext>
            </a:extLst>
          </p:cNvPr>
          <p:cNvSpPr>
            <a:spLocks noGrp="1"/>
          </p:cNvSpPr>
          <p:nvPr>
            <p:ph type="body" sz="quarter" idx="12"/>
          </p:nvPr>
        </p:nvSpPr>
        <p:spPr/>
        <p:txBody>
          <a:bodyPr/>
          <a:lstStyle/>
          <a:p>
            <a:r>
              <a:rPr lang="en-US" dirty="0"/>
              <a:t>Summary of C&amp;C Views</a:t>
            </a:r>
          </a:p>
        </p:txBody>
      </p:sp>
      <p:sp>
        <p:nvSpPr>
          <p:cNvPr id="4" name="Slide Number Placeholder 3">
            <a:extLst>
              <a:ext uri="{FF2B5EF4-FFF2-40B4-BE49-F238E27FC236}">
                <a16:creationId xmlns:a16="http://schemas.microsoft.com/office/drawing/2014/main" id="{C64D08D1-452B-33EF-1A6F-1C3D0DD0E3CD}"/>
              </a:ext>
            </a:extLst>
          </p:cNvPr>
          <p:cNvSpPr>
            <a:spLocks noGrp="1"/>
          </p:cNvSpPr>
          <p:nvPr>
            <p:ph type="sldNum" sz="quarter" idx="13"/>
          </p:nvPr>
        </p:nvSpPr>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33357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E50874-7C64-47F5-0546-81B46C82DDB1}"/>
              </a:ext>
            </a:extLst>
          </p:cNvPr>
          <p:cNvSpPr>
            <a:spLocks noGrp="1"/>
          </p:cNvSpPr>
          <p:nvPr>
            <p:ph sz="half" idx="2"/>
          </p:nvPr>
        </p:nvSpPr>
        <p:spPr/>
        <p:txBody>
          <a:bodyPr/>
          <a:lstStyle/>
          <a:p>
            <a:r>
              <a:rPr lang="en-US" dirty="0"/>
              <a:t>Allocation views describe how </a:t>
            </a:r>
            <a:r>
              <a:rPr lang="en-US" dirty="0">
                <a:solidFill>
                  <a:schemeClr val="accent1"/>
                </a:solidFill>
              </a:rPr>
              <a:t>software elements </a:t>
            </a:r>
            <a:r>
              <a:rPr lang="en-US" dirty="0"/>
              <a:t>are mapped to </a:t>
            </a:r>
            <a:r>
              <a:rPr lang="en-US" dirty="0">
                <a:solidFill>
                  <a:schemeClr val="accent1"/>
                </a:solidFill>
              </a:rPr>
              <a:t>environmental elements</a:t>
            </a:r>
            <a:r>
              <a:rPr lang="en-US" dirty="0"/>
              <a:t> such as hardware, operating systems, files, or teams.</a:t>
            </a:r>
          </a:p>
          <a:p>
            <a:r>
              <a:rPr lang="en-US" dirty="0"/>
              <a:t>The </a:t>
            </a:r>
            <a:r>
              <a:rPr lang="en-US" dirty="0">
                <a:solidFill>
                  <a:schemeClr val="accent1"/>
                </a:solidFill>
              </a:rPr>
              <a:t>software elements </a:t>
            </a:r>
            <a:r>
              <a:rPr lang="en-US" dirty="0"/>
              <a:t>come from a module or C&amp;C view.</a:t>
            </a:r>
          </a:p>
          <a:p>
            <a:r>
              <a:rPr lang="en-US" dirty="0"/>
              <a:t>The relation in an allocation view is </a:t>
            </a:r>
            <a:r>
              <a:rPr lang="en-US" dirty="0">
                <a:solidFill>
                  <a:schemeClr val="accent1"/>
                </a:solidFill>
              </a:rPr>
              <a:t>allocated-to</a:t>
            </a:r>
            <a:r>
              <a:rPr lang="en-US" dirty="0"/>
              <a:t>.</a:t>
            </a:r>
          </a:p>
          <a:p>
            <a:r>
              <a:rPr lang="en-US" dirty="0"/>
              <a:t>A single software element can be allocated to multiple environmental elements, and multiple software elements can be allocated to a single environmental element.</a:t>
            </a:r>
          </a:p>
          <a:p>
            <a:r>
              <a:rPr lang="en-US" dirty="0"/>
              <a:t>Software elements and environmental elements have properties in allocation views.</a:t>
            </a:r>
          </a:p>
        </p:txBody>
      </p:sp>
      <p:sp>
        <p:nvSpPr>
          <p:cNvPr id="3" name="Title 2">
            <a:extLst>
              <a:ext uri="{FF2B5EF4-FFF2-40B4-BE49-F238E27FC236}">
                <a16:creationId xmlns:a16="http://schemas.microsoft.com/office/drawing/2014/main" id="{5308D7F6-3B4F-AD40-202D-3E8C6269D024}"/>
              </a:ext>
            </a:extLst>
          </p:cNvPr>
          <p:cNvSpPr>
            <a:spLocks noGrp="1"/>
          </p:cNvSpPr>
          <p:nvPr>
            <p:ph type="title"/>
          </p:nvPr>
        </p:nvSpPr>
        <p:spPr/>
        <p:txBody>
          <a:bodyPr/>
          <a:lstStyle/>
          <a:p>
            <a:r>
              <a:rPr lang="en-US" dirty="0"/>
              <a:t>Allocation Views</a:t>
            </a:r>
          </a:p>
        </p:txBody>
      </p:sp>
      <p:sp>
        <p:nvSpPr>
          <p:cNvPr id="4" name="Slide Number Placeholder 3">
            <a:extLst>
              <a:ext uri="{FF2B5EF4-FFF2-40B4-BE49-F238E27FC236}">
                <a16:creationId xmlns:a16="http://schemas.microsoft.com/office/drawing/2014/main" id="{885B96F2-AD49-773C-3E15-50EE2CBFF5F1}"/>
              </a:ext>
            </a:extLst>
          </p:cNvPr>
          <p:cNvSpPr>
            <a:spLocks noGrp="1"/>
          </p:cNvSpPr>
          <p:nvPr>
            <p:ph type="sldNum" sz="quarter" idx="10"/>
          </p:nvPr>
        </p:nvSpPr>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32247914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E1491C-7E04-8A7D-FF0D-1F2028A8F72B}"/>
              </a:ext>
            </a:extLst>
          </p:cNvPr>
          <p:cNvSpPr>
            <a:spLocks noGrp="1"/>
          </p:cNvSpPr>
          <p:nvPr>
            <p:ph sz="half" idx="2"/>
          </p:nvPr>
        </p:nvSpPr>
        <p:spPr/>
        <p:txBody>
          <a:bodyPr/>
          <a:lstStyle/>
          <a:p>
            <a:r>
              <a:rPr lang="en-US" dirty="0"/>
              <a:t>With allocation view you can check if the software's needs (like memory, speed, or security) match what the hardware or environment can provide. </a:t>
            </a:r>
          </a:p>
          <a:p>
            <a:r>
              <a:rPr lang="en-US" dirty="0"/>
              <a:t>Allocation views can depict either static or dynamic views.</a:t>
            </a:r>
          </a:p>
          <a:p>
            <a:r>
              <a:rPr lang="en-US" dirty="0"/>
              <a:t>A static view illustrates a fixed allocation of resources in an environment.</a:t>
            </a:r>
          </a:p>
          <a:p>
            <a:r>
              <a:rPr lang="en-US" dirty="0"/>
              <a:t>A dynamic view shows the conditions and the triggers for which allocation of resources changes.</a:t>
            </a:r>
          </a:p>
          <a:p>
            <a:pPr lvl="1"/>
            <a:r>
              <a:rPr lang="en-US" dirty="0"/>
              <a:t>For example, a load-balancing system might create new processes or threads on another machine to handle more work and keep performance steady.</a:t>
            </a:r>
          </a:p>
        </p:txBody>
      </p:sp>
      <p:sp>
        <p:nvSpPr>
          <p:cNvPr id="3" name="Title 2">
            <a:extLst>
              <a:ext uri="{FF2B5EF4-FFF2-40B4-BE49-F238E27FC236}">
                <a16:creationId xmlns:a16="http://schemas.microsoft.com/office/drawing/2014/main" id="{725919F1-4013-769A-D910-D1DE05A85453}"/>
              </a:ext>
            </a:extLst>
          </p:cNvPr>
          <p:cNvSpPr>
            <a:spLocks noGrp="1"/>
          </p:cNvSpPr>
          <p:nvPr>
            <p:ph type="title"/>
          </p:nvPr>
        </p:nvSpPr>
        <p:spPr/>
        <p:txBody>
          <a:bodyPr/>
          <a:lstStyle/>
          <a:p>
            <a:r>
              <a:rPr lang="en-US" dirty="0"/>
              <a:t>Allocation Views</a:t>
            </a:r>
          </a:p>
        </p:txBody>
      </p:sp>
      <p:sp>
        <p:nvSpPr>
          <p:cNvPr id="4" name="Slide Number Placeholder 3">
            <a:extLst>
              <a:ext uri="{FF2B5EF4-FFF2-40B4-BE49-F238E27FC236}">
                <a16:creationId xmlns:a16="http://schemas.microsoft.com/office/drawing/2014/main" id="{C9BD43DC-1A44-AA47-9C10-226171A48FD3}"/>
              </a:ext>
            </a:extLst>
          </p:cNvPr>
          <p:cNvSpPr>
            <a:spLocks noGrp="1"/>
          </p:cNvSpPr>
          <p:nvPr>
            <p:ph type="sldNum" sz="quarter" idx="10"/>
          </p:nvPr>
        </p:nvSpPr>
        <p:spPr/>
        <p:txBody>
          <a:bodyPr/>
          <a:lstStyle/>
          <a:p>
            <a:fld id="{AE311D09-C3D9-45E8-99CE-78E12234EEAD}" type="slidenum">
              <a:rPr lang="en-US" smtClean="0"/>
              <a:pPr/>
              <a:t>21</a:t>
            </a:fld>
            <a:endParaRPr lang="en-US" dirty="0"/>
          </a:p>
        </p:txBody>
      </p:sp>
    </p:spTree>
    <p:extLst>
      <p:ext uri="{BB962C8B-B14F-4D97-AF65-F5344CB8AC3E}">
        <p14:creationId xmlns:p14="http://schemas.microsoft.com/office/powerpoint/2010/main" val="21298310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3AC7D24C-DF37-EFD3-187E-F72273511179}"/>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t="-56749" b="-56749"/>
          <a:stretch>
            <a:fillRect/>
          </a:stretch>
        </p:blipFill>
        <p:spPr/>
      </p:pic>
      <p:sp>
        <p:nvSpPr>
          <p:cNvPr id="3" name="Text Placeholder 2">
            <a:extLst>
              <a:ext uri="{FF2B5EF4-FFF2-40B4-BE49-F238E27FC236}">
                <a16:creationId xmlns:a16="http://schemas.microsoft.com/office/drawing/2014/main" id="{249E8DF8-99FA-0A59-1971-54F3112114D7}"/>
              </a:ext>
            </a:extLst>
          </p:cNvPr>
          <p:cNvSpPr>
            <a:spLocks noGrp="1"/>
          </p:cNvSpPr>
          <p:nvPr>
            <p:ph type="body" sz="quarter" idx="12"/>
          </p:nvPr>
        </p:nvSpPr>
        <p:spPr/>
        <p:txBody>
          <a:bodyPr/>
          <a:lstStyle/>
          <a:p>
            <a:r>
              <a:rPr lang="en-US" dirty="0"/>
              <a:t>Summary of C&amp;C Views</a:t>
            </a:r>
          </a:p>
        </p:txBody>
      </p:sp>
      <p:sp>
        <p:nvSpPr>
          <p:cNvPr id="4" name="Slide Number Placeholder 3">
            <a:extLst>
              <a:ext uri="{FF2B5EF4-FFF2-40B4-BE49-F238E27FC236}">
                <a16:creationId xmlns:a16="http://schemas.microsoft.com/office/drawing/2014/main" id="{685B8E34-BF86-C7D6-60B2-27AAF7DB64B7}"/>
              </a:ext>
            </a:extLst>
          </p:cNvPr>
          <p:cNvSpPr>
            <a:spLocks noGrp="1"/>
          </p:cNvSpPr>
          <p:nvPr>
            <p:ph type="sldNum" sz="quarter" idx="13"/>
          </p:nvPr>
        </p:nvSpPr>
        <p:spPr/>
        <p:txBody>
          <a:bodyPr/>
          <a:lstStyle/>
          <a:p>
            <a:fld id="{AE311D09-C3D9-45E8-99CE-78E12234EEAD}" type="slidenum">
              <a:rPr lang="en-US" smtClean="0"/>
              <a:pPr/>
              <a:t>22</a:t>
            </a:fld>
            <a:endParaRPr lang="en-US" dirty="0"/>
          </a:p>
        </p:txBody>
      </p:sp>
    </p:spTree>
    <p:extLst>
      <p:ext uri="{BB962C8B-B14F-4D97-AF65-F5344CB8AC3E}">
        <p14:creationId xmlns:p14="http://schemas.microsoft.com/office/powerpoint/2010/main" val="15806716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889FCA-5DAA-5B1B-AC65-1C0F7B60549F}"/>
              </a:ext>
            </a:extLst>
          </p:cNvPr>
          <p:cNvSpPr>
            <a:spLocks noGrp="1"/>
          </p:cNvSpPr>
          <p:nvPr>
            <p:ph sz="half" idx="2"/>
          </p:nvPr>
        </p:nvSpPr>
        <p:spPr/>
        <p:txBody>
          <a:bodyPr/>
          <a:lstStyle/>
          <a:p>
            <a:r>
              <a:rPr lang="en-US" dirty="0">
                <a:solidFill>
                  <a:schemeClr val="accent1"/>
                </a:solidFill>
              </a:rPr>
              <a:t>Structural views </a:t>
            </a:r>
            <a:r>
              <a:rPr lang="en-US" dirty="0"/>
              <a:t>help with building the system, but when quality aspects like performance or security are very important, special views focused on those qualities may explain the design choices more clearly.</a:t>
            </a:r>
          </a:p>
          <a:p>
            <a:r>
              <a:rPr lang="en-US" dirty="0"/>
              <a:t>Module, C&amp;C, and allocation views are all </a:t>
            </a:r>
            <a:r>
              <a:rPr lang="en-US" dirty="0">
                <a:solidFill>
                  <a:schemeClr val="accent1"/>
                </a:solidFill>
              </a:rPr>
              <a:t>structural views</a:t>
            </a:r>
            <a:r>
              <a:rPr lang="en-US" dirty="0"/>
              <a:t>: They primarily show the structures that the architect has designed into the architecture to satisfy functional and quality attribute requirements.</a:t>
            </a:r>
          </a:p>
          <a:p>
            <a:r>
              <a:rPr lang="en-US" dirty="0">
                <a:solidFill>
                  <a:schemeClr val="accent1"/>
                </a:solidFill>
              </a:rPr>
              <a:t>Quality views </a:t>
            </a:r>
            <a:r>
              <a:rPr lang="en-US" dirty="0"/>
              <a:t>are formed by extracting the relevant pieces of structural views and packaging them together.</a:t>
            </a:r>
          </a:p>
        </p:txBody>
      </p:sp>
      <p:sp>
        <p:nvSpPr>
          <p:cNvPr id="3" name="Title 2">
            <a:extLst>
              <a:ext uri="{FF2B5EF4-FFF2-40B4-BE49-F238E27FC236}">
                <a16:creationId xmlns:a16="http://schemas.microsoft.com/office/drawing/2014/main" id="{230BEF31-1E61-F36C-A87D-45719A99B5C8}"/>
              </a:ext>
            </a:extLst>
          </p:cNvPr>
          <p:cNvSpPr>
            <a:spLocks noGrp="1"/>
          </p:cNvSpPr>
          <p:nvPr>
            <p:ph type="title"/>
          </p:nvPr>
        </p:nvSpPr>
        <p:spPr/>
        <p:txBody>
          <a:bodyPr/>
          <a:lstStyle/>
          <a:p>
            <a:r>
              <a:rPr lang="en-US" dirty="0"/>
              <a:t>Quality Views</a:t>
            </a:r>
          </a:p>
        </p:txBody>
      </p:sp>
      <p:sp>
        <p:nvSpPr>
          <p:cNvPr id="4" name="Slide Number Placeholder 3">
            <a:extLst>
              <a:ext uri="{FF2B5EF4-FFF2-40B4-BE49-F238E27FC236}">
                <a16:creationId xmlns:a16="http://schemas.microsoft.com/office/drawing/2014/main" id="{33F0257F-6467-8915-59A5-BCBD93100053}"/>
              </a:ext>
            </a:extLst>
          </p:cNvPr>
          <p:cNvSpPr>
            <a:spLocks noGrp="1"/>
          </p:cNvSpPr>
          <p:nvPr>
            <p:ph type="sldNum" sz="quarter" idx="10"/>
          </p:nvPr>
        </p:nvSpPr>
        <p:spPr/>
        <p:txBody>
          <a:bodyPr/>
          <a:lstStyle/>
          <a:p>
            <a:fld id="{AE311D09-C3D9-45E8-99CE-78E12234EEAD}" type="slidenum">
              <a:rPr lang="en-US" smtClean="0"/>
              <a:pPr/>
              <a:t>23</a:t>
            </a:fld>
            <a:endParaRPr lang="en-US" dirty="0"/>
          </a:p>
        </p:txBody>
      </p:sp>
    </p:spTree>
    <p:extLst>
      <p:ext uri="{BB962C8B-B14F-4D97-AF65-F5344CB8AC3E}">
        <p14:creationId xmlns:p14="http://schemas.microsoft.com/office/powerpoint/2010/main" val="9091127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16FE50F-806E-5C97-C2E7-ACBA7EF5D6F6}"/>
              </a:ext>
            </a:extLst>
          </p:cNvPr>
          <p:cNvSpPr>
            <a:spLocks noGrp="1"/>
          </p:cNvSpPr>
          <p:nvPr>
            <p:ph sz="half" idx="2"/>
          </p:nvPr>
        </p:nvSpPr>
        <p:spPr/>
        <p:txBody>
          <a:bodyPr/>
          <a:lstStyle/>
          <a:p>
            <a:r>
              <a:rPr lang="en-US" b="1" dirty="0">
                <a:solidFill>
                  <a:schemeClr val="accent1"/>
                </a:solidFill>
              </a:rPr>
              <a:t>Security view</a:t>
            </a:r>
            <a:r>
              <a:rPr lang="en-US" dirty="0">
                <a:solidFill>
                  <a:schemeClr val="accent1"/>
                </a:solidFill>
              </a:rPr>
              <a:t>: </a:t>
            </a:r>
            <a:r>
              <a:rPr lang="en-US" dirty="0"/>
              <a:t>Shows architectural security measures, involved components, communication paths, repositories, protocols, and responses to threats.</a:t>
            </a:r>
          </a:p>
          <a:p>
            <a:r>
              <a:rPr lang="en-US" b="1" dirty="0">
                <a:solidFill>
                  <a:schemeClr val="accent1"/>
                </a:solidFill>
              </a:rPr>
              <a:t>Communications view</a:t>
            </a:r>
            <a:r>
              <a:rPr lang="en-US" dirty="0">
                <a:solidFill>
                  <a:schemeClr val="accent1"/>
                </a:solidFill>
              </a:rPr>
              <a:t>: </a:t>
            </a:r>
            <a:r>
              <a:rPr lang="en-US" dirty="0"/>
              <a:t>Shows component-to-component channels, network channels, quality-of-service parameters, and areas of concurrency.</a:t>
            </a:r>
          </a:p>
          <a:p>
            <a:r>
              <a:rPr lang="en-US" b="1" dirty="0">
                <a:solidFill>
                  <a:schemeClr val="accent1"/>
                </a:solidFill>
              </a:rPr>
              <a:t>Exception/Error-handling view</a:t>
            </a:r>
            <a:r>
              <a:rPr lang="en-US" dirty="0">
                <a:solidFill>
                  <a:schemeClr val="accent1"/>
                </a:solidFill>
              </a:rPr>
              <a:t>: </a:t>
            </a:r>
            <a:r>
              <a:rPr lang="en-US" dirty="0"/>
              <a:t>Shows how components detect, report, and resolve errors, and supports root-cause analysis.</a:t>
            </a:r>
          </a:p>
          <a:p>
            <a:r>
              <a:rPr lang="en-US" b="1" dirty="0">
                <a:solidFill>
                  <a:schemeClr val="accent1"/>
                </a:solidFill>
              </a:rPr>
              <a:t>Reliability view</a:t>
            </a:r>
            <a:r>
              <a:rPr lang="en-US" dirty="0">
                <a:solidFill>
                  <a:schemeClr val="accent1"/>
                </a:solidFill>
              </a:rPr>
              <a:t>: </a:t>
            </a:r>
            <a:r>
              <a:rPr lang="en-US" dirty="0"/>
              <a:t>Models mechanisms such as replication, switchover, timing issues, and transaction integrity.</a:t>
            </a:r>
          </a:p>
          <a:p>
            <a:r>
              <a:rPr lang="en-US" b="1" dirty="0">
                <a:solidFill>
                  <a:schemeClr val="accent1"/>
                </a:solidFill>
              </a:rPr>
              <a:t>Performance view</a:t>
            </a:r>
            <a:r>
              <a:rPr lang="en-US" dirty="0">
                <a:solidFill>
                  <a:schemeClr val="accent1"/>
                </a:solidFill>
              </a:rPr>
              <a:t>: </a:t>
            </a:r>
            <a:r>
              <a:rPr lang="en-US" dirty="0"/>
              <a:t>Includes models for traffic, latency, and other performance-relevant aspects.</a:t>
            </a:r>
          </a:p>
        </p:txBody>
      </p:sp>
      <p:sp>
        <p:nvSpPr>
          <p:cNvPr id="3" name="Title 2">
            <a:extLst>
              <a:ext uri="{FF2B5EF4-FFF2-40B4-BE49-F238E27FC236}">
                <a16:creationId xmlns:a16="http://schemas.microsoft.com/office/drawing/2014/main" id="{D5622D94-EC18-C414-200D-1E9E18278FB8}"/>
              </a:ext>
            </a:extLst>
          </p:cNvPr>
          <p:cNvSpPr>
            <a:spLocks noGrp="1"/>
          </p:cNvSpPr>
          <p:nvPr>
            <p:ph type="title"/>
          </p:nvPr>
        </p:nvSpPr>
        <p:spPr/>
        <p:txBody>
          <a:bodyPr/>
          <a:lstStyle/>
          <a:p>
            <a:r>
              <a:rPr lang="en-US" dirty="0"/>
              <a:t>Quality Views: Examples</a:t>
            </a:r>
          </a:p>
        </p:txBody>
      </p:sp>
      <p:sp>
        <p:nvSpPr>
          <p:cNvPr id="4" name="Slide Number Placeholder 3">
            <a:extLst>
              <a:ext uri="{FF2B5EF4-FFF2-40B4-BE49-F238E27FC236}">
                <a16:creationId xmlns:a16="http://schemas.microsoft.com/office/drawing/2014/main" id="{23BE21B3-5151-4957-CF43-994688E71250}"/>
              </a:ext>
            </a:extLst>
          </p:cNvPr>
          <p:cNvSpPr>
            <a:spLocks noGrp="1"/>
          </p:cNvSpPr>
          <p:nvPr>
            <p:ph type="sldNum" sz="quarter" idx="10"/>
          </p:nvPr>
        </p:nvSpPr>
        <p:spPr/>
        <p:txBody>
          <a:bodyPr/>
          <a:lstStyle/>
          <a:p>
            <a:fld id="{AE311D09-C3D9-45E8-99CE-78E12234EEAD}" type="slidenum">
              <a:rPr lang="en-US" smtClean="0"/>
              <a:pPr/>
              <a:t>24</a:t>
            </a:fld>
            <a:endParaRPr lang="en-US" dirty="0"/>
          </a:p>
        </p:txBody>
      </p:sp>
    </p:spTree>
    <p:extLst>
      <p:ext uri="{BB962C8B-B14F-4D97-AF65-F5344CB8AC3E}">
        <p14:creationId xmlns:p14="http://schemas.microsoft.com/office/powerpoint/2010/main" val="39487228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0E3719-577E-082D-BECE-1006F93AD68E}"/>
              </a:ext>
            </a:extLst>
          </p:cNvPr>
          <p:cNvSpPr>
            <a:spLocks noGrp="1"/>
          </p:cNvSpPr>
          <p:nvPr>
            <p:ph sz="half" idx="2"/>
          </p:nvPr>
        </p:nvSpPr>
        <p:spPr/>
        <p:txBody>
          <a:bodyPr/>
          <a:lstStyle/>
          <a:p>
            <a:r>
              <a:rPr lang="en-US" dirty="0"/>
              <a:t>The basic principle of documenting an architecture as a set of separate views brings a </a:t>
            </a:r>
            <a:r>
              <a:rPr lang="en-US" dirty="0">
                <a:solidFill>
                  <a:schemeClr val="accent1"/>
                </a:solidFill>
              </a:rPr>
              <a:t>divide-and-conquer</a:t>
            </a:r>
            <a:r>
              <a:rPr lang="en-US" dirty="0"/>
              <a:t> advantage to the task of documentation.</a:t>
            </a:r>
          </a:p>
          <a:p>
            <a:r>
              <a:rPr lang="en-US" dirty="0"/>
              <a:t>However, because all structures in an architecture are part of the same architecture and exist to achieve a common purpose, many of them have </a:t>
            </a:r>
            <a:r>
              <a:rPr lang="en-US" dirty="0">
                <a:solidFill>
                  <a:schemeClr val="accent1"/>
                </a:solidFill>
              </a:rPr>
              <a:t>strong associations </a:t>
            </a:r>
            <a:r>
              <a:rPr lang="en-US" dirty="0"/>
              <a:t>with each other.</a:t>
            </a:r>
          </a:p>
          <a:p>
            <a:r>
              <a:rPr lang="en-US" dirty="0"/>
              <a:t>While separate views simplify documentation, understanding the system as a whole often requires connecting or combining related views.</a:t>
            </a:r>
          </a:p>
        </p:txBody>
      </p:sp>
      <p:sp>
        <p:nvSpPr>
          <p:cNvPr id="3" name="Title 2">
            <a:extLst>
              <a:ext uri="{FF2B5EF4-FFF2-40B4-BE49-F238E27FC236}">
                <a16:creationId xmlns:a16="http://schemas.microsoft.com/office/drawing/2014/main" id="{6A2C9A9B-14BB-B41A-F169-679D96A40499}"/>
              </a:ext>
            </a:extLst>
          </p:cNvPr>
          <p:cNvSpPr>
            <a:spLocks noGrp="1"/>
          </p:cNvSpPr>
          <p:nvPr>
            <p:ph type="title"/>
          </p:nvPr>
        </p:nvSpPr>
        <p:spPr/>
        <p:txBody>
          <a:bodyPr/>
          <a:lstStyle/>
          <a:p>
            <a:r>
              <a:rPr lang="en-US" dirty="0"/>
              <a:t>Combining Views</a:t>
            </a:r>
          </a:p>
        </p:txBody>
      </p:sp>
      <p:sp>
        <p:nvSpPr>
          <p:cNvPr id="4" name="Slide Number Placeholder 3">
            <a:extLst>
              <a:ext uri="{FF2B5EF4-FFF2-40B4-BE49-F238E27FC236}">
                <a16:creationId xmlns:a16="http://schemas.microsoft.com/office/drawing/2014/main" id="{2D0FEEBC-642D-FF44-EF39-8BE5F119D414}"/>
              </a:ext>
            </a:extLst>
          </p:cNvPr>
          <p:cNvSpPr>
            <a:spLocks noGrp="1"/>
          </p:cNvSpPr>
          <p:nvPr>
            <p:ph type="sldNum" sz="quarter" idx="10"/>
          </p:nvPr>
        </p:nvSpPr>
        <p:spPr/>
        <p:txBody>
          <a:bodyPr/>
          <a:lstStyle/>
          <a:p>
            <a:fld id="{AE311D09-C3D9-45E8-99CE-78E12234EEAD}" type="slidenum">
              <a:rPr lang="en-US" smtClean="0"/>
              <a:pPr/>
              <a:t>25</a:t>
            </a:fld>
            <a:endParaRPr lang="en-US" dirty="0"/>
          </a:p>
        </p:txBody>
      </p:sp>
    </p:spTree>
    <p:extLst>
      <p:ext uri="{BB962C8B-B14F-4D97-AF65-F5344CB8AC3E}">
        <p14:creationId xmlns:p14="http://schemas.microsoft.com/office/powerpoint/2010/main" val="348418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F70636AD-1949-3BE6-5B58-46AB73A10D37}"/>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10982" r="-10982"/>
          <a:stretch>
            <a:fillRect/>
          </a:stretch>
        </p:blipFill>
        <p:spPr/>
      </p:pic>
      <p:sp>
        <p:nvSpPr>
          <p:cNvPr id="3" name="Content Placeholder 2">
            <a:extLst>
              <a:ext uri="{FF2B5EF4-FFF2-40B4-BE49-F238E27FC236}">
                <a16:creationId xmlns:a16="http://schemas.microsoft.com/office/drawing/2014/main" id="{741D9CC7-C0D5-52ED-2A30-373D511C5213}"/>
              </a:ext>
            </a:extLst>
          </p:cNvPr>
          <p:cNvSpPr>
            <a:spLocks noGrp="1"/>
          </p:cNvSpPr>
          <p:nvPr>
            <p:ph sz="half" idx="2"/>
          </p:nvPr>
        </p:nvSpPr>
        <p:spPr/>
        <p:txBody>
          <a:bodyPr/>
          <a:lstStyle/>
          <a:p>
            <a:r>
              <a:rPr lang="en-US" dirty="0"/>
              <a:t>A </a:t>
            </a:r>
            <a:r>
              <a:rPr lang="en-US" dirty="0">
                <a:solidFill>
                  <a:schemeClr val="accent1"/>
                </a:solidFill>
              </a:rPr>
              <a:t>combined view </a:t>
            </a:r>
            <a:r>
              <a:rPr lang="en-US" dirty="0"/>
              <a:t>contains elements and relations that come from two or more other views.</a:t>
            </a:r>
          </a:p>
          <a:p>
            <a:r>
              <a:rPr lang="en-US" dirty="0"/>
              <a:t>This figure  shows an example of a combined view that is an overlay of client-server, multi-tier, and deployment views.</a:t>
            </a:r>
          </a:p>
        </p:txBody>
      </p:sp>
      <p:sp>
        <p:nvSpPr>
          <p:cNvPr id="4" name="Content Placeholder 3">
            <a:extLst>
              <a:ext uri="{FF2B5EF4-FFF2-40B4-BE49-F238E27FC236}">
                <a16:creationId xmlns:a16="http://schemas.microsoft.com/office/drawing/2014/main" id="{6A3AEF97-18A4-2C4D-53A0-CFB75891D54E}"/>
              </a:ext>
            </a:extLst>
          </p:cNvPr>
          <p:cNvSpPr>
            <a:spLocks noGrp="1"/>
          </p:cNvSpPr>
          <p:nvPr>
            <p:ph sz="half" idx="12"/>
          </p:nvPr>
        </p:nvSpPr>
        <p:spPr/>
        <p:txBody>
          <a:bodyPr/>
          <a:lstStyle/>
          <a:p>
            <a:r>
              <a:rPr lang="en-US" dirty="0"/>
              <a:t>This example illustrates how different perspectives can be unified to offer a holistic understanding of system architecture.</a:t>
            </a:r>
          </a:p>
          <a:p>
            <a:endParaRPr lang="en-US" dirty="0"/>
          </a:p>
        </p:txBody>
      </p:sp>
      <p:sp>
        <p:nvSpPr>
          <p:cNvPr id="5" name="Title 4">
            <a:extLst>
              <a:ext uri="{FF2B5EF4-FFF2-40B4-BE49-F238E27FC236}">
                <a16:creationId xmlns:a16="http://schemas.microsoft.com/office/drawing/2014/main" id="{8CF8A634-8065-231C-2B50-A1B08BCE73AC}"/>
              </a:ext>
            </a:extLst>
          </p:cNvPr>
          <p:cNvSpPr>
            <a:spLocks noGrp="1"/>
          </p:cNvSpPr>
          <p:nvPr>
            <p:ph type="title"/>
          </p:nvPr>
        </p:nvSpPr>
        <p:spPr/>
        <p:txBody>
          <a:bodyPr/>
          <a:lstStyle/>
          <a:p>
            <a:r>
              <a:rPr lang="en-US" dirty="0"/>
              <a:t>Combining Views</a:t>
            </a:r>
          </a:p>
        </p:txBody>
      </p:sp>
      <p:sp>
        <p:nvSpPr>
          <p:cNvPr id="6" name="Slide Number Placeholder 5">
            <a:extLst>
              <a:ext uri="{FF2B5EF4-FFF2-40B4-BE49-F238E27FC236}">
                <a16:creationId xmlns:a16="http://schemas.microsoft.com/office/drawing/2014/main" id="{02CDF1CE-C637-BBFE-1BA9-E14CB359CBB1}"/>
              </a:ext>
            </a:extLst>
          </p:cNvPr>
          <p:cNvSpPr>
            <a:spLocks noGrp="1"/>
          </p:cNvSpPr>
          <p:nvPr>
            <p:ph type="sldNum" sz="quarter" idx="13"/>
          </p:nvPr>
        </p:nvSpPr>
        <p:spPr/>
        <p:txBody>
          <a:bodyPr/>
          <a:lstStyle/>
          <a:p>
            <a:fld id="{AE311D09-C3D9-45E8-99CE-78E12234EEAD}" type="slidenum">
              <a:rPr lang="en-US" smtClean="0"/>
              <a:pPr/>
              <a:t>26</a:t>
            </a:fld>
            <a:endParaRPr lang="en-US" dirty="0"/>
          </a:p>
        </p:txBody>
      </p:sp>
    </p:spTree>
    <p:extLst>
      <p:ext uri="{BB962C8B-B14F-4D97-AF65-F5344CB8AC3E}">
        <p14:creationId xmlns:p14="http://schemas.microsoft.com/office/powerpoint/2010/main" val="24762816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885FCF4-18CA-4576-A9B9-D83D1DF1EB5F}"/>
              </a:ext>
            </a:extLst>
          </p:cNvPr>
          <p:cNvSpPr>
            <a:spLocks noGrp="1"/>
          </p:cNvSpPr>
          <p:nvPr>
            <p:ph sz="half" idx="2"/>
          </p:nvPr>
        </p:nvSpPr>
        <p:spPr/>
        <p:txBody>
          <a:bodyPr/>
          <a:lstStyle/>
          <a:p>
            <a:r>
              <a:rPr lang="en-US" dirty="0"/>
              <a:t>Documenting an architecture requires </a:t>
            </a:r>
            <a:r>
              <a:rPr lang="en-US" dirty="0">
                <a:solidFill>
                  <a:schemeClr val="accent1"/>
                </a:solidFill>
              </a:rPr>
              <a:t>behavior documentation </a:t>
            </a:r>
            <a:r>
              <a:rPr lang="en-US" dirty="0"/>
              <a:t>that complements the structural views by describing how architecture elements interact with each other.</a:t>
            </a:r>
          </a:p>
          <a:p>
            <a:r>
              <a:rPr lang="en-US" dirty="0"/>
              <a:t>Reasoning about characteristics such as a system’s potential to deadlock, its ability to complete a task in the desired amount of time, or maximum memory consumption requires information about individual elements and their </a:t>
            </a:r>
            <a:r>
              <a:rPr lang="en-US" dirty="0">
                <a:solidFill>
                  <a:schemeClr val="accent1"/>
                </a:solidFill>
              </a:rPr>
              <a:t>patterns of interaction</a:t>
            </a:r>
            <a:r>
              <a:rPr lang="en-US" dirty="0"/>
              <a:t>.</a:t>
            </a:r>
          </a:p>
          <a:p>
            <a:r>
              <a:rPr lang="en-US" dirty="0"/>
              <a:t>Behavior documentation helps analyze how system components work together under different runtime conditions.</a:t>
            </a:r>
          </a:p>
          <a:p>
            <a:r>
              <a:rPr lang="en-US" dirty="0"/>
              <a:t>Two kinds of notations are available for documenting behavior: </a:t>
            </a:r>
            <a:r>
              <a:rPr lang="en-US" dirty="0">
                <a:solidFill>
                  <a:schemeClr val="accent1"/>
                </a:solidFill>
              </a:rPr>
              <a:t>trace-oriented</a:t>
            </a:r>
            <a:r>
              <a:rPr lang="en-US" dirty="0"/>
              <a:t> and </a:t>
            </a:r>
            <a:r>
              <a:rPr lang="en-US" dirty="0">
                <a:solidFill>
                  <a:schemeClr val="accent1"/>
                </a:solidFill>
              </a:rPr>
              <a:t>comprehensive</a:t>
            </a:r>
            <a:r>
              <a:rPr lang="en-US" dirty="0"/>
              <a:t>.</a:t>
            </a:r>
          </a:p>
          <a:p>
            <a:pPr marL="0" indent="0">
              <a:buNone/>
            </a:pPr>
            <a:endParaRPr lang="en-US" dirty="0"/>
          </a:p>
        </p:txBody>
      </p:sp>
      <p:sp>
        <p:nvSpPr>
          <p:cNvPr id="3" name="Title 2">
            <a:extLst>
              <a:ext uri="{FF2B5EF4-FFF2-40B4-BE49-F238E27FC236}">
                <a16:creationId xmlns:a16="http://schemas.microsoft.com/office/drawing/2014/main" id="{6C51FB09-55E7-180B-B5E4-F740548F5A1B}"/>
              </a:ext>
            </a:extLst>
          </p:cNvPr>
          <p:cNvSpPr>
            <a:spLocks noGrp="1"/>
          </p:cNvSpPr>
          <p:nvPr>
            <p:ph type="title"/>
          </p:nvPr>
        </p:nvSpPr>
        <p:spPr/>
        <p:txBody>
          <a:bodyPr/>
          <a:lstStyle/>
          <a:p>
            <a:r>
              <a:rPr lang="en-US" dirty="0"/>
              <a:t>Documenting Behavior</a:t>
            </a:r>
          </a:p>
        </p:txBody>
      </p:sp>
      <p:sp>
        <p:nvSpPr>
          <p:cNvPr id="4" name="Slide Number Placeholder 3">
            <a:extLst>
              <a:ext uri="{FF2B5EF4-FFF2-40B4-BE49-F238E27FC236}">
                <a16:creationId xmlns:a16="http://schemas.microsoft.com/office/drawing/2014/main" id="{17271BEA-B93B-20EC-2104-2ACA142EF1AC}"/>
              </a:ext>
            </a:extLst>
          </p:cNvPr>
          <p:cNvSpPr>
            <a:spLocks noGrp="1"/>
          </p:cNvSpPr>
          <p:nvPr>
            <p:ph type="sldNum" sz="quarter" idx="10"/>
          </p:nvPr>
        </p:nvSpPr>
        <p:spPr/>
        <p:txBody>
          <a:bodyPr/>
          <a:lstStyle/>
          <a:p>
            <a:fld id="{AE311D09-C3D9-45E8-99CE-78E12234EEAD}" type="slidenum">
              <a:rPr lang="en-US" smtClean="0"/>
              <a:pPr/>
              <a:t>27</a:t>
            </a:fld>
            <a:endParaRPr lang="en-US" dirty="0"/>
          </a:p>
        </p:txBody>
      </p:sp>
    </p:spTree>
    <p:extLst>
      <p:ext uri="{BB962C8B-B14F-4D97-AF65-F5344CB8AC3E}">
        <p14:creationId xmlns:p14="http://schemas.microsoft.com/office/powerpoint/2010/main" val="27541987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4797E5-69ED-3CB3-B054-FD3297332491}"/>
              </a:ext>
            </a:extLst>
          </p:cNvPr>
          <p:cNvSpPr>
            <a:spLocks noGrp="1"/>
          </p:cNvSpPr>
          <p:nvPr>
            <p:ph sz="half" idx="2"/>
          </p:nvPr>
        </p:nvSpPr>
        <p:spPr/>
        <p:txBody>
          <a:bodyPr/>
          <a:lstStyle/>
          <a:p>
            <a:r>
              <a:rPr lang="en-US" dirty="0"/>
              <a:t>Traces are </a:t>
            </a:r>
            <a:r>
              <a:rPr lang="en-US" dirty="0">
                <a:solidFill>
                  <a:schemeClr val="accent1"/>
                </a:solidFill>
              </a:rPr>
              <a:t>sequences of activities </a:t>
            </a:r>
            <a:r>
              <a:rPr lang="en-US" dirty="0"/>
              <a:t>or interactions that describe the system’s response to a specific stimulus when the system is in a specific state.</a:t>
            </a:r>
          </a:p>
          <a:p>
            <a:r>
              <a:rPr lang="en-US" dirty="0">
                <a:solidFill>
                  <a:schemeClr val="accent1"/>
                </a:solidFill>
              </a:rPr>
              <a:t>Trace-oriented documentation </a:t>
            </a:r>
            <a:r>
              <a:rPr lang="en-US" dirty="0"/>
              <a:t>does not seek to describe all possible behaviors but focuses on </a:t>
            </a:r>
            <a:r>
              <a:rPr lang="en-US" dirty="0">
                <a:solidFill>
                  <a:schemeClr val="accent1"/>
                </a:solidFill>
              </a:rPr>
              <a:t>specific scenarios</a:t>
            </a:r>
            <a:r>
              <a:rPr lang="en-US" dirty="0"/>
              <a:t>.</a:t>
            </a:r>
          </a:p>
          <a:p>
            <a:r>
              <a:rPr lang="en-US" dirty="0"/>
              <a:t>Four common trace-oriented notations are </a:t>
            </a:r>
            <a:r>
              <a:rPr lang="en-US" dirty="0">
                <a:solidFill>
                  <a:schemeClr val="accent1"/>
                </a:solidFill>
              </a:rPr>
              <a:t>use cases</a:t>
            </a:r>
            <a:r>
              <a:rPr lang="en-US" dirty="0"/>
              <a:t>, </a:t>
            </a:r>
            <a:r>
              <a:rPr lang="en-US" dirty="0">
                <a:solidFill>
                  <a:schemeClr val="accent1"/>
                </a:solidFill>
              </a:rPr>
              <a:t>sequence diagrams</a:t>
            </a:r>
            <a:r>
              <a:rPr lang="en-US" dirty="0"/>
              <a:t>, </a:t>
            </a:r>
            <a:r>
              <a:rPr lang="en-US" dirty="0">
                <a:solidFill>
                  <a:schemeClr val="accent1"/>
                </a:solidFill>
              </a:rPr>
              <a:t>communication diagrams</a:t>
            </a:r>
            <a:r>
              <a:rPr lang="en-US" dirty="0"/>
              <a:t>, and </a:t>
            </a:r>
            <a:r>
              <a:rPr lang="en-US" dirty="0">
                <a:solidFill>
                  <a:schemeClr val="accent1"/>
                </a:solidFill>
              </a:rPr>
              <a:t>activity diagrams</a:t>
            </a:r>
            <a:r>
              <a:rPr lang="en-US" dirty="0"/>
              <a:t>.</a:t>
            </a:r>
          </a:p>
        </p:txBody>
      </p:sp>
      <p:sp>
        <p:nvSpPr>
          <p:cNvPr id="3" name="Title 2">
            <a:extLst>
              <a:ext uri="{FF2B5EF4-FFF2-40B4-BE49-F238E27FC236}">
                <a16:creationId xmlns:a16="http://schemas.microsoft.com/office/drawing/2014/main" id="{0CFCE493-6F37-F211-3EAE-052751C44AD4}"/>
              </a:ext>
            </a:extLst>
          </p:cNvPr>
          <p:cNvSpPr>
            <a:spLocks noGrp="1"/>
          </p:cNvSpPr>
          <p:nvPr>
            <p:ph type="title"/>
          </p:nvPr>
        </p:nvSpPr>
        <p:spPr/>
        <p:txBody>
          <a:bodyPr/>
          <a:lstStyle/>
          <a:p>
            <a:r>
              <a:rPr lang="en-US" dirty="0"/>
              <a:t>Trace-Oriented Notation</a:t>
            </a:r>
          </a:p>
        </p:txBody>
      </p:sp>
      <p:sp>
        <p:nvSpPr>
          <p:cNvPr id="4" name="Slide Number Placeholder 3">
            <a:extLst>
              <a:ext uri="{FF2B5EF4-FFF2-40B4-BE49-F238E27FC236}">
                <a16:creationId xmlns:a16="http://schemas.microsoft.com/office/drawing/2014/main" id="{E44FB6B0-0390-5BF8-10D8-A0E570C1B8D1}"/>
              </a:ext>
            </a:extLst>
          </p:cNvPr>
          <p:cNvSpPr>
            <a:spLocks noGrp="1"/>
          </p:cNvSpPr>
          <p:nvPr>
            <p:ph type="sldNum" sz="quarter" idx="10"/>
          </p:nvPr>
        </p:nvSpPr>
        <p:spPr/>
        <p:txBody>
          <a:bodyPr/>
          <a:lstStyle/>
          <a:p>
            <a:fld id="{AE311D09-C3D9-45E8-99CE-78E12234EEAD}" type="slidenum">
              <a:rPr lang="en-US" smtClean="0"/>
              <a:pPr/>
              <a:t>28</a:t>
            </a:fld>
            <a:endParaRPr lang="en-US" dirty="0"/>
          </a:p>
        </p:txBody>
      </p:sp>
    </p:spTree>
    <p:extLst>
      <p:ext uri="{BB962C8B-B14F-4D97-AF65-F5344CB8AC3E}">
        <p14:creationId xmlns:p14="http://schemas.microsoft.com/office/powerpoint/2010/main" val="22972046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EBBB34-E368-2435-0A1B-107F33B39C43}"/>
              </a:ext>
            </a:extLst>
          </p:cNvPr>
          <p:cNvSpPr>
            <a:spLocks noGrp="1"/>
          </p:cNvSpPr>
          <p:nvPr>
            <p:ph sz="half" idx="2"/>
          </p:nvPr>
        </p:nvSpPr>
        <p:spPr/>
        <p:txBody>
          <a:bodyPr/>
          <a:lstStyle/>
          <a:p>
            <a:r>
              <a:rPr lang="en-US" dirty="0">
                <a:solidFill>
                  <a:schemeClr val="accent1"/>
                </a:solidFill>
              </a:rPr>
              <a:t>Use cases </a:t>
            </a:r>
            <a:r>
              <a:rPr lang="en-US" dirty="0"/>
              <a:t>describe how actors can use a system to accomplish their goals; they are frequently used to capture the functional requirements for a system.</a:t>
            </a:r>
          </a:p>
          <a:p>
            <a:pPr lvl="1"/>
            <a:r>
              <a:rPr lang="en-US" dirty="0"/>
              <a:t>The description should include the use case name and brief description, primary and secondary actors, the flow of events, alternative flows, and non-success cases.</a:t>
            </a:r>
          </a:p>
          <a:p>
            <a:r>
              <a:rPr lang="en-US" dirty="0"/>
              <a:t>A UML </a:t>
            </a:r>
            <a:r>
              <a:rPr lang="en-US" dirty="0">
                <a:solidFill>
                  <a:schemeClr val="accent1"/>
                </a:solidFill>
              </a:rPr>
              <a:t>sequence diagram </a:t>
            </a:r>
            <a:r>
              <a:rPr lang="en-US" dirty="0"/>
              <a:t>shows a sequence of interactions among instances of elements pulled from the structural documentation.</a:t>
            </a:r>
          </a:p>
          <a:p>
            <a:r>
              <a:rPr lang="en-US" dirty="0"/>
              <a:t>A UML </a:t>
            </a:r>
            <a:r>
              <a:rPr lang="en-US" dirty="0">
                <a:solidFill>
                  <a:schemeClr val="accent1"/>
                </a:solidFill>
              </a:rPr>
              <a:t>communication diagram </a:t>
            </a:r>
            <a:r>
              <a:rPr lang="en-US" dirty="0"/>
              <a:t>shows a graph of interacting elements and annotates each interaction with a number denoting its order.</a:t>
            </a:r>
          </a:p>
          <a:p>
            <a:pPr lvl="1"/>
            <a:r>
              <a:rPr lang="en-US" dirty="0"/>
              <a:t>Communication diagrams are useful when the task is to verify that an architecture can fulfill the functional requirements.</a:t>
            </a:r>
          </a:p>
          <a:p>
            <a:r>
              <a:rPr lang="en-US" dirty="0"/>
              <a:t>UML </a:t>
            </a:r>
            <a:r>
              <a:rPr lang="en-US" dirty="0">
                <a:solidFill>
                  <a:schemeClr val="accent1"/>
                </a:solidFill>
              </a:rPr>
              <a:t>activity diagrams </a:t>
            </a:r>
            <a:r>
              <a:rPr lang="en-US" dirty="0"/>
              <a:t>show a business process as a sequence of steps (called actions) and include notation to express conditional branching and concurrency.</a:t>
            </a:r>
          </a:p>
        </p:txBody>
      </p:sp>
      <p:sp>
        <p:nvSpPr>
          <p:cNvPr id="3" name="Title 2">
            <a:extLst>
              <a:ext uri="{FF2B5EF4-FFF2-40B4-BE49-F238E27FC236}">
                <a16:creationId xmlns:a16="http://schemas.microsoft.com/office/drawing/2014/main" id="{C8E486FF-CCE6-5EED-5FEE-1010F4FCDDE5}"/>
              </a:ext>
            </a:extLst>
          </p:cNvPr>
          <p:cNvSpPr>
            <a:spLocks noGrp="1"/>
          </p:cNvSpPr>
          <p:nvPr>
            <p:ph type="title"/>
          </p:nvPr>
        </p:nvSpPr>
        <p:spPr/>
        <p:txBody>
          <a:bodyPr/>
          <a:lstStyle/>
          <a:p>
            <a:r>
              <a:rPr lang="en-US" dirty="0"/>
              <a:t>Trace-Oriented Notation</a:t>
            </a:r>
          </a:p>
        </p:txBody>
      </p:sp>
      <p:sp>
        <p:nvSpPr>
          <p:cNvPr id="4" name="Slide Number Placeholder 3">
            <a:extLst>
              <a:ext uri="{FF2B5EF4-FFF2-40B4-BE49-F238E27FC236}">
                <a16:creationId xmlns:a16="http://schemas.microsoft.com/office/drawing/2014/main" id="{8E39DF99-D32B-A598-6159-028964EDCFBA}"/>
              </a:ext>
            </a:extLst>
          </p:cNvPr>
          <p:cNvSpPr>
            <a:spLocks noGrp="1"/>
          </p:cNvSpPr>
          <p:nvPr>
            <p:ph type="sldNum" sz="quarter" idx="10"/>
          </p:nvPr>
        </p:nvSpPr>
        <p:spPr/>
        <p:txBody>
          <a:bodyPr/>
          <a:lstStyle/>
          <a:p>
            <a:fld id="{AE311D09-C3D9-45E8-99CE-78E12234EEAD}" type="slidenum">
              <a:rPr lang="en-US" smtClean="0"/>
              <a:pPr/>
              <a:t>29</a:t>
            </a:fld>
            <a:endParaRPr lang="en-US" dirty="0"/>
          </a:p>
        </p:txBody>
      </p:sp>
    </p:spTree>
    <p:extLst>
      <p:ext uri="{BB962C8B-B14F-4D97-AF65-F5344CB8AC3E}">
        <p14:creationId xmlns:p14="http://schemas.microsoft.com/office/powerpoint/2010/main" val="32477507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EF8993C6-1D12-4E89-F0EC-1548006FAD39}"/>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30682" r="-30682"/>
          <a:stretch>
            <a:fillRect/>
          </a:stretch>
        </p:blipFill>
        <p:spPr/>
      </p:pic>
      <p:sp>
        <p:nvSpPr>
          <p:cNvPr id="3" name="Text Placeholder 2">
            <a:extLst>
              <a:ext uri="{FF2B5EF4-FFF2-40B4-BE49-F238E27FC236}">
                <a16:creationId xmlns:a16="http://schemas.microsoft.com/office/drawing/2014/main" id="{013E55F1-2AFB-4217-157D-410477018610}"/>
              </a:ext>
            </a:extLst>
          </p:cNvPr>
          <p:cNvSpPr>
            <a:spLocks noGrp="1"/>
          </p:cNvSpPr>
          <p:nvPr>
            <p:ph type="body" sz="quarter" idx="12"/>
          </p:nvPr>
        </p:nvSpPr>
        <p:spPr/>
        <p:txBody>
          <a:bodyPr/>
          <a:lstStyle/>
          <a:p>
            <a:r>
              <a:rPr lang="en-US" dirty="0"/>
              <a:t>A simple example of a UML sequence diagram</a:t>
            </a:r>
          </a:p>
        </p:txBody>
      </p:sp>
      <p:sp>
        <p:nvSpPr>
          <p:cNvPr id="4" name="Slide Number Placeholder 3">
            <a:extLst>
              <a:ext uri="{FF2B5EF4-FFF2-40B4-BE49-F238E27FC236}">
                <a16:creationId xmlns:a16="http://schemas.microsoft.com/office/drawing/2014/main" id="{728AA024-855A-A512-28F0-71EF74C1BC63}"/>
              </a:ext>
            </a:extLst>
          </p:cNvPr>
          <p:cNvSpPr>
            <a:spLocks noGrp="1"/>
          </p:cNvSpPr>
          <p:nvPr>
            <p:ph type="sldNum" sz="quarter" idx="13"/>
          </p:nvPr>
        </p:nvSpPr>
        <p:spPr/>
        <p:txBody>
          <a:bodyPr/>
          <a:lstStyle/>
          <a:p>
            <a:fld id="{AE311D09-C3D9-45E8-99CE-78E12234EEAD}" type="slidenum">
              <a:rPr lang="en-US" smtClean="0"/>
              <a:pPr/>
              <a:t>30</a:t>
            </a:fld>
            <a:endParaRPr lang="en-US" dirty="0"/>
          </a:p>
        </p:txBody>
      </p:sp>
    </p:spTree>
    <p:extLst>
      <p:ext uri="{BB962C8B-B14F-4D97-AF65-F5344CB8AC3E}">
        <p14:creationId xmlns:p14="http://schemas.microsoft.com/office/powerpoint/2010/main" val="16284965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F6B266E7-8E16-DE7B-4297-167AD8C8547B}"/>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57982" r="-57982"/>
          <a:stretch>
            <a:fillRect/>
          </a:stretch>
        </p:blipFill>
        <p:spPr/>
      </p:pic>
      <p:sp>
        <p:nvSpPr>
          <p:cNvPr id="3" name="Text Placeholder 2">
            <a:extLst>
              <a:ext uri="{FF2B5EF4-FFF2-40B4-BE49-F238E27FC236}">
                <a16:creationId xmlns:a16="http://schemas.microsoft.com/office/drawing/2014/main" id="{4AB27719-532C-536D-83EE-A5F5516DCA2C}"/>
              </a:ext>
            </a:extLst>
          </p:cNvPr>
          <p:cNvSpPr>
            <a:spLocks noGrp="1"/>
          </p:cNvSpPr>
          <p:nvPr>
            <p:ph type="body" sz="quarter" idx="12"/>
          </p:nvPr>
        </p:nvSpPr>
        <p:spPr/>
        <p:txBody>
          <a:bodyPr/>
          <a:lstStyle/>
          <a:p>
            <a:r>
              <a:rPr lang="en-US" dirty="0"/>
              <a:t>An example of activity diagram</a:t>
            </a:r>
          </a:p>
        </p:txBody>
      </p:sp>
      <p:sp>
        <p:nvSpPr>
          <p:cNvPr id="4" name="Slide Number Placeholder 3">
            <a:extLst>
              <a:ext uri="{FF2B5EF4-FFF2-40B4-BE49-F238E27FC236}">
                <a16:creationId xmlns:a16="http://schemas.microsoft.com/office/drawing/2014/main" id="{6F53E509-FE0C-9B2E-B7EE-96AA7B9C9A61}"/>
              </a:ext>
            </a:extLst>
          </p:cNvPr>
          <p:cNvSpPr>
            <a:spLocks noGrp="1"/>
          </p:cNvSpPr>
          <p:nvPr>
            <p:ph type="sldNum" sz="quarter" idx="13"/>
          </p:nvPr>
        </p:nvSpPr>
        <p:spPr/>
        <p:txBody>
          <a:bodyPr/>
          <a:lstStyle/>
          <a:p>
            <a:fld id="{AE311D09-C3D9-45E8-99CE-78E12234EEAD}" type="slidenum">
              <a:rPr lang="en-US" smtClean="0"/>
              <a:pPr/>
              <a:t>31</a:t>
            </a:fld>
            <a:endParaRPr lang="en-US" dirty="0"/>
          </a:p>
        </p:txBody>
      </p:sp>
    </p:spTree>
    <p:extLst>
      <p:ext uri="{BB962C8B-B14F-4D97-AF65-F5344CB8AC3E}">
        <p14:creationId xmlns:p14="http://schemas.microsoft.com/office/powerpoint/2010/main" val="4130998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3BCA14-C75A-5A9D-8932-CA3B7E2DFC18}"/>
              </a:ext>
            </a:extLst>
          </p:cNvPr>
          <p:cNvSpPr>
            <a:spLocks noGrp="1"/>
          </p:cNvSpPr>
          <p:nvPr>
            <p:ph sz="half" idx="2"/>
          </p:nvPr>
        </p:nvSpPr>
        <p:spPr/>
        <p:txBody>
          <a:bodyPr/>
          <a:lstStyle/>
          <a:p>
            <a:r>
              <a:rPr lang="en-US" dirty="0">
                <a:solidFill>
                  <a:schemeClr val="accent1"/>
                </a:solidFill>
              </a:rPr>
              <a:t>Comprehensive notations </a:t>
            </a:r>
            <a:r>
              <a:rPr lang="en-US" dirty="0"/>
              <a:t>show the </a:t>
            </a:r>
            <a:r>
              <a:rPr lang="en-US" dirty="0">
                <a:solidFill>
                  <a:schemeClr val="accent1"/>
                </a:solidFill>
              </a:rPr>
              <a:t>complete behavior </a:t>
            </a:r>
            <a:r>
              <a:rPr lang="en-US" dirty="0"/>
              <a:t>of structural elements.</a:t>
            </a:r>
          </a:p>
          <a:p>
            <a:r>
              <a:rPr lang="en-US" dirty="0"/>
              <a:t>Given this type of documentation, it is possible to infer all possible paths from the initial state to the final state.</a:t>
            </a:r>
          </a:p>
          <a:p>
            <a:r>
              <a:rPr lang="en-US" dirty="0"/>
              <a:t>State machines are a common formalism for comprehensive behavior modeling.</a:t>
            </a:r>
          </a:p>
        </p:txBody>
      </p:sp>
      <p:sp>
        <p:nvSpPr>
          <p:cNvPr id="3" name="Title 2">
            <a:extLst>
              <a:ext uri="{FF2B5EF4-FFF2-40B4-BE49-F238E27FC236}">
                <a16:creationId xmlns:a16="http://schemas.microsoft.com/office/drawing/2014/main" id="{6C7CC67F-DC18-A64D-3A04-125814B75255}"/>
              </a:ext>
            </a:extLst>
          </p:cNvPr>
          <p:cNvSpPr>
            <a:spLocks noGrp="1"/>
          </p:cNvSpPr>
          <p:nvPr>
            <p:ph type="title"/>
          </p:nvPr>
        </p:nvSpPr>
        <p:spPr/>
        <p:txBody>
          <a:bodyPr/>
          <a:lstStyle/>
          <a:p>
            <a:r>
              <a:rPr lang="en-US" dirty="0"/>
              <a:t>Comprehensive Behavior Notation</a:t>
            </a:r>
          </a:p>
        </p:txBody>
      </p:sp>
      <p:sp>
        <p:nvSpPr>
          <p:cNvPr id="4" name="Slide Number Placeholder 3">
            <a:extLst>
              <a:ext uri="{FF2B5EF4-FFF2-40B4-BE49-F238E27FC236}">
                <a16:creationId xmlns:a16="http://schemas.microsoft.com/office/drawing/2014/main" id="{A9C2E4D3-F685-88DB-9E18-D09B0F1D6CDA}"/>
              </a:ext>
            </a:extLst>
          </p:cNvPr>
          <p:cNvSpPr>
            <a:spLocks noGrp="1"/>
          </p:cNvSpPr>
          <p:nvPr>
            <p:ph type="sldNum" sz="quarter" idx="10"/>
          </p:nvPr>
        </p:nvSpPr>
        <p:spPr/>
        <p:txBody>
          <a:bodyPr/>
          <a:lstStyle/>
          <a:p>
            <a:fld id="{AE311D09-C3D9-45E8-99CE-78E12234EEAD}" type="slidenum">
              <a:rPr lang="en-US" smtClean="0"/>
              <a:pPr/>
              <a:t>32</a:t>
            </a:fld>
            <a:endParaRPr lang="en-US" dirty="0"/>
          </a:p>
        </p:txBody>
      </p:sp>
    </p:spTree>
    <p:extLst>
      <p:ext uri="{BB962C8B-B14F-4D97-AF65-F5344CB8AC3E}">
        <p14:creationId xmlns:p14="http://schemas.microsoft.com/office/powerpoint/2010/main" val="15778468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57482D82-798F-A75C-D388-17961E99302F}"/>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40761" r="-40761"/>
          <a:stretch>
            <a:fillRect/>
          </a:stretch>
        </p:blipFill>
        <p:spPr/>
      </p:pic>
      <p:sp>
        <p:nvSpPr>
          <p:cNvPr id="3" name="Content Placeholder 2">
            <a:extLst>
              <a:ext uri="{FF2B5EF4-FFF2-40B4-BE49-F238E27FC236}">
                <a16:creationId xmlns:a16="http://schemas.microsoft.com/office/drawing/2014/main" id="{0C321E0A-BDE5-AD82-5C2F-FC87BAD410D2}"/>
              </a:ext>
            </a:extLst>
          </p:cNvPr>
          <p:cNvSpPr>
            <a:spLocks noGrp="1"/>
          </p:cNvSpPr>
          <p:nvPr>
            <p:ph sz="half" idx="2"/>
          </p:nvPr>
        </p:nvSpPr>
        <p:spPr/>
        <p:txBody>
          <a:bodyPr/>
          <a:lstStyle/>
          <a:p>
            <a:r>
              <a:rPr lang="en-US" dirty="0">
                <a:solidFill>
                  <a:schemeClr val="accent1"/>
                </a:solidFill>
              </a:rPr>
              <a:t>State machine </a:t>
            </a:r>
            <a:r>
              <a:rPr lang="en-US" dirty="0"/>
              <a:t>languages complement structural descriptions with constraints on interactions and timed reactions.</a:t>
            </a:r>
          </a:p>
          <a:p>
            <a:r>
              <a:rPr lang="en-US" dirty="0"/>
              <a:t>UML state machine diagrams represent states using boxes and transitions using arrows.</a:t>
            </a:r>
          </a:p>
        </p:txBody>
      </p:sp>
      <p:sp>
        <p:nvSpPr>
          <p:cNvPr id="4" name="Content Placeholder 3">
            <a:extLst>
              <a:ext uri="{FF2B5EF4-FFF2-40B4-BE49-F238E27FC236}">
                <a16:creationId xmlns:a16="http://schemas.microsoft.com/office/drawing/2014/main" id="{ACAF6353-5754-9D1B-F0DC-C7801C6EE9E0}"/>
              </a:ext>
            </a:extLst>
          </p:cNvPr>
          <p:cNvSpPr>
            <a:spLocks noGrp="1"/>
          </p:cNvSpPr>
          <p:nvPr>
            <p:ph sz="half" idx="12"/>
          </p:nvPr>
        </p:nvSpPr>
        <p:spPr/>
        <p:txBody>
          <a:bodyPr/>
          <a:lstStyle/>
          <a:p>
            <a:r>
              <a:rPr lang="en-US" dirty="0"/>
              <a:t>Each transition is labeled with the event causing it and may include guard conditions and actions.</a:t>
            </a:r>
          </a:p>
          <a:p>
            <a:r>
              <a:rPr lang="en-US" dirty="0"/>
              <a:t>This figure is an example of a state machine diagram showing the states of a car stereo.</a:t>
            </a:r>
          </a:p>
        </p:txBody>
      </p:sp>
      <p:sp>
        <p:nvSpPr>
          <p:cNvPr id="5" name="Title 4">
            <a:extLst>
              <a:ext uri="{FF2B5EF4-FFF2-40B4-BE49-F238E27FC236}">
                <a16:creationId xmlns:a16="http://schemas.microsoft.com/office/drawing/2014/main" id="{2BD27EA0-6A22-5C30-B700-CA0878B14163}"/>
              </a:ext>
            </a:extLst>
          </p:cNvPr>
          <p:cNvSpPr>
            <a:spLocks noGrp="1"/>
          </p:cNvSpPr>
          <p:nvPr>
            <p:ph type="title"/>
          </p:nvPr>
        </p:nvSpPr>
        <p:spPr/>
        <p:txBody>
          <a:bodyPr/>
          <a:lstStyle/>
          <a:p>
            <a:r>
              <a:rPr lang="en-US" dirty="0"/>
              <a:t>Comprehensive Behavior Notation</a:t>
            </a:r>
          </a:p>
        </p:txBody>
      </p:sp>
      <p:sp>
        <p:nvSpPr>
          <p:cNvPr id="6" name="Slide Number Placeholder 5">
            <a:extLst>
              <a:ext uri="{FF2B5EF4-FFF2-40B4-BE49-F238E27FC236}">
                <a16:creationId xmlns:a16="http://schemas.microsoft.com/office/drawing/2014/main" id="{E7147F6D-82D8-2726-708A-49F75087886B}"/>
              </a:ext>
            </a:extLst>
          </p:cNvPr>
          <p:cNvSpPr>
            <a:spLocks noGrp="1"/>
          </p:cNvSpPr>
          <p:nvPr>
            <p:ph type="sldNum" sz="quarter" idx="13"/>
          </p:nvPr>
        </p:nvSpPr>
        <p:spPr/>
        <p:txBody>
          <a:bodyPr/>
          <a:lstStyle/>
          <a:p>
            <a:fld id="{AE311D09-C3D9-45E8-99CE-78E12234EEAD}" type="slidenum">
              <a:rPr lang="en-US" smtClean="0"/>
              <a:pPr/>
              <a:t>33</a:t>
            </a:fld>
            <a:endParaRPr lang="en-US" dirty="0"/>
          </a:p>
        </p:txBody>
      </p:sp>
    </p:spTree>
    <p:extLst>
      <p:ext uri="{BB962C8B-B14F-4D97-AF65-F5344CB8AC3E}">
        <p14:creationId xmlns:p14="http://schemas.microsoft.com/office/powerpoint/2010/main" val="40784516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3B008E-70BD-F279-DAA1-A2283D01B898}"/>
              </a:ext>
            </a:extLst>
          </p:cNvPr>
          <p:cNvSpPr>
            <a:spLocks noGrp="1"/>
          </p:cNvSpPr>
          <p:nvPr>
            <p:ph sz="half" idx="2"/>
          </p:nvPr>
        </p:nvSpPr>
        <p:spPr/>
        <p:txBody>
          <a:bodyPr/>
          <a:lstStyle/>
          <a:p>
            <a:r>
              <a:rPr lang="en-US" dirty="0"/>
              <a:t>Writing architectural documentation is much like other types of writing. The golden rule is: Know your reader.</a:t>
            </a:r>
          </a:p>
          <a:p>
            <a:pPr lvl="1"/>
            <a:r>
              <a:rPr lang="en-US" dirty="0"/>
              <a:t>You must understand the uses to which the writing will be put and the audience for the writing.</a:t>
            </a:r>
          </a:p>
          <a:p>
            <a:r>
              <a:rPr lang="en-US" dirty="0"/>
              <a:t>Architectural documentation serves as a means for communication among various stakeholders.</a:t>
            </a:r>
          </a:p>
          <a:p>
            <a:r>
              <a:rPr lang="en-US" dirty="0"/>
              <a:t>An architecture is a complicated artifact, best expressed by focusing on particular perspectives, called views, which depend on the message to be communicated.</a:t>
            </a:r>
          </a:p>
          <a:p>
            <a:r>
              <a:rPr lang="en-US" dirty="0"/>
              <a:t>You must choose the views to document and choose the notation to document these views. This may involve combining various views that have a large overlap. </a:t>
            </a:r>
          </a:p>
          <a:p>
            <a:r>
              <a:rPr lang="en-US" dirty="0"/>
              <a:t>You must not only document the structure of the architecture but also the behavior.</a:t>
            </a:r>
          </a:p>
        </p:txBody>
      </p:sp>
      <p:sp>
        <p:nvSpPr>
          <p:cNvPr id="3" name="Title 2">
            <a:extLst>
              <a:ext uri="{FF2B5EF4-FFF2-40B4-BE49-F238E27FC236}">
                <a16:creationId xmlns:a16="http://schemas.microsoft.com/office/drawing/2014/main" id="{58147E83-3429-3165-235D-6C1D12399F2B}"/>
              </a:ext>
            </a:extLst>
          </p:cNvPr>
          <p:cNvSpPr>
            <a:spLocks noGrp="1"/>
          </p:cNvSpPr>
          <p:nvPr>
            <p:ph type="title"/>
          </p:nvPr>
        </p:nvSpPr>
        <p:spPr/>
        <p:txBody>
          <a:bodyPr/>
          <a:lstStyle/>
          <a:p>
            <a:r>
              <a:rPr lang="en-US" dirty="0"/>
              <a:t>Summary</a:t>
            </a:r>
          </a:p>
        </p:txBody>
      </p:sp>
      <p:sp>
        <p:nvSpPr>
          <p:cNvPr id="4" name="Slide Number Placeholder 3">
            <a:extLst>
              <a:ext uri="{FF2B5EF4-FFF2-40B4-BE49-F238E27FC236}">
                <a16:creationId xmlns:a16="http://schemas.microsoft.com/office/drawing/2014/main" id="{4B5F9C30-F8B3-DD37-2796-A55A0FF5C0C6}"/>
              </a:ext>
            </a:extLst>
          </p:cNvPr>
          <p:cNvSpPr>
            <a:spLocks noGrp="1"/>
          </p:cNvSpPr>
          <p:nvPr>
            <p:ph type="sldNum" sz="quarter" idx="10"/>
          </p:nvPr>
        </p:nvSpPr>
        <p:spPr/>
        <p:txBody>
          <a:bodyPr/>
          <a:lstStyle/>
          <a:p>
            <a:fld id="{AE311D09-C3D9-45E8-99CE-78E12234EEAD}" type="slidenum">
              <a:rPr lang="en-US" smtClean="0"/>
              <a:pPr/>
              <a:t>34</a:t>
            </a:fld>
            <a:endParaRPr lang="en-US" dirty="0"/>
          </a:p>
        </p:txBody>
      </p:sp>
    </p:spTree>
    <p:extLst>
      <p:ext uri="{BB962C8B-B14F-4D97-AF65-F5344CB8AC3E}">
        <p14:creationId xmlns:p14="http://schemas.microsoft.com/office/powerpoint/2010/main" val="9547255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3326</TotalTime>
  <Words>2390</Words>
  <Application>Microsoft Office PowerPoint</Application>
  <PresentationFormat>Widescreen</PresentationFormat>
  <Paragraphs>203</Paragraphs>
  <Slides>34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Times New Roman</vt:lpstr>
      <vt:lpstr>Wingdings</vt:lpstr>
      <vt:lpstr>Office Theme</vt:lpstr>
      <vt:lpstr>PowerPoint Presentation</vt:lpstr>
      <vt:lpstr>PowerPoint Presentation</vt:lpstr>
      <vt:lpstr>PowerPoint Presentation</vt:lpstr>
      <vt:lpstr>Chapter Outline</vt:lpstr>
      <vt:lpstr>Introduction</vt:lpstr>
      <vt:lpstr>Introduction</vt:lpstr>
      <vt:lpstr>Audiences for Architecture Documentation</vt:lpstr>
      <vt:lpstr>Audiences for Architecture Documentation</vt:lpstr>
      <vt:lpstr>Notations</vt:lpstr>
      <vt:lpstr>Notations</vt:lpstr>
      <vt:lpstr>Views</vt:lpstr>
      <vt:lpstr>Views</vt:lpstr>
      <vt:lpstr>PowerPoint Presentation</vt:lpstr>
      <vt:lpstr>Module Views</vt:lpstr>
      <vt:lpstr>Module Views</vt:lpstr>
      <vt:lpstr>PowerPoint Presentation</vt:lpstr>
      <vt:lpstr>C&amp;C Views</vt:lpstr>
      <vt:lpstr>C&amp;C Views</vt:lpstr>
      <vt:lpstr>PowerPoint Presentation</vt:lpstr>
      <vt:lpstr>Allocation Views</vt:lpstr>
      <vt:lpstr>Allocation Views</vt:lpstr>
      <vt:lpstr>PowerPoint Presentation</vt:lpstr>
      <vt:lpstr>Quality Views</vt:lpstr>
      <vt:lpstr>Quality Views: Examples</vt:lpstr>
      <vt:lpstr>Combining Views</vt:lpstr>
      <vt:lpstr>Combining Views</vt:lpstr>
      <vt:lpstr>Documenting Behavior</vt:lpstr>
      <vt:lpstr>Trace-Oriented Notation</vt:lpstr>
      <vt:lpstr>Trace-Oriented Notation</vt:lpstr>
      <vt:lpstr>PowerPoint Presentation</vt:lpstr>
      <vt:lpstr>PowerPoint Presentation</vt:lpstr>
      <vt:lpstr>Comprehensive Behavior Notation</vt:lpstr>
      <vt:lpstr>Comprehensive Behavior Notation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60</cp:revision>
  <dcterms:created xsi:type="dcterms:W3CDTF">2025-05-02T12:16:21Z</dcterms:created>
  <dcterms:modified xsi:type="dcterms:W3CDTF">2025-07-26T02:30:12Z</dcterms:modified>
</cp:coreProperties>
</file>