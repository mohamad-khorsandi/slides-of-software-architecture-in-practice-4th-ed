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9" r:id="rId2"/>
    <p:sldId id="264" r:id="rId3"/>
    <p:sldId id="268" r:id="rId4"/>
    <p:sldId id="266" r:id="rId5"/>
    <p:sldId id="289" r:id="rId6"/>
    <p:sldId id="290" r:id="rId7"/>
    <p:sldId id="291" r:id="rId8"/>
    <p:sldId id="292" r:id="rId9"/>
    <p:sldId id="293" r:id="rId10"/>
    <p:sldId id="295" r:id="rId11"/>
    <p:sldId id="297" r:id="rId12"/>
    <p:sldId id="298" r:id="rId13"/>
    <p:sldId id="302" r:id="rId14"/>
    <p:sldId id="300" r:id="rId15"/>
    <p:sldId id="301" r:id="rId16"/>
    <p:sldId id="28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644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32" autoAdjust="0"/>
    <p:restoredTop sz="94677" autoAdjust="0"/>
  </p:normalViewPr>
  <p:slideViewPr>
    <p:cSldViewPr snapToGrid="0">
      <p:cViewPr varScale="1">
        <p:scale>
          <a:sx n="81" d="100"/>
          <a:sy n="81" d="100"/>
        </p:scale>
        <p:origin x="1085" y="53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3154" y="43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87429BB-B4AE-1FD4-40CA-11DEC06DF3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36E014-1DD4-A911-0818-2801CAFD99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928E3B-7122-43E6-B3BB-09448C56C96C}" type="datetimeFigureOut">
              <a:rPr lang="en-US" smtClean="0"/>
              <a:t>25/07/25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507225-126A-9CD2-B38B-89A64803DAA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9A47BA-80EE-701F-EBD0-8E5B9C8D04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F22B76-F21B-401A-98B3-B52E9FD889B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815208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8C9CAF-43DF-44BF-8016-DC193E4E594B}" type="datetimeFigureOut">
              <a:rPr lang="en-US" smtClean="0"/>
              <a:t>25/07/25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C232D7-2694-4BD6-985B-15C23CEC77D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9440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C232D7-2694-4BD6-985B-15C23CEC77DD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90001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اصل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1D6440A-0326-4286-686D-DD69C6C2D0A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509" y="886414"/>
            <a:ext cx="3884007" cy="5085173"/>
          </a:xfrm>
          <a:prstGeom prst="rect">
            <a:avLst/>
          </a:prstGeom>
        </p:spPr>
      </p:pic>
      <p:sp>
        <p:nvSpPr>
          <p:cNvPr id="3" name="TextBox 3">
            <a:extLst>
              <a:ext uri="{FF2B5EF4-FFF2-40B4-BE49-F238E27FC236}">
                <a16:creationId xmlns:a16="http://schemas.microsoft.com/office/drawing/2014/main" id="{CA2AF927-30AA-7708-FA45-DC09B6C7A633}"/>
              </a:ext>
            </a:extLst>
          </p:cNvPr>
          <p:cNvSpPr txBox="1"/>
          <p:nvPr userDrawn="1"/>
        </p:nvSpPr>
        <p:spPr>
          <a:xfrm>
            <a:off x="4889288" y="1701625"/>
            <a:ext cx="664920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4400" dirty="0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0A107B7A-E65E-6134-1507-F92CE52BA14D}"/>
              </a:ext>
            </a:extLst>
          </p:cNvPr>
          <p:cNvSpPr txBox="1"/>
          <p:nvPr userDrawn="1"/>
        </p:nvSpPr>
        <p:spPr>
          <a:xfrm>
            <a:off x="5241066" y="886414"/>
            <a:ext cx="59456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University Of Isfahan</a:t>
            </a:r>
          </a:p>
          <a:p>
            <a:pPr algn="ctr"/>
            <a:endParaRPr lang="en-US" sz="2800" dirty="0"/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81D675CA-92B6-F987-200D-6735AB7A67AE}"/>
              </a:ext>
            </a:extLst>
          </p:cNvPr>
          <p:cNvSpPr txBox="1"/>
          <p:nvPr userDrawn="1"/>
        </p:nvSpPr>
        <p:spPr>
          <a:xfrm>
            <a:off x="5174480" y="5432903"/>
            <a:ext cx="60788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Dr. </a:t>
            </a:r>
            <a:r>
              <a:rPr lang="en-US" sz="20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Mohammadreza</a:t>
            </a:r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Sharbaf</a:t>
            </a:r>
          </a:p>
        </p:txBody>
      </p:sp>
    </p:spTree>
    <p:extLst>
      <p:ext uri="{BB962C8B-B14F-4D97-AF65-F5344CB8AC3E}">
        <p14:creationId xmlns:p14="http://schemas.microsoft.com/office/powerpoint/2010/main" val="1758266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معرفی کتاب مرج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96C45E3-84FC-009E-B990-CC3128943DCF}"/>
              </a:ext>
            </a:extLst>
          </p:cNvPr>
          <p:cNvSpPr txBox="1"/>
          <p:nvPr userDrawn="1"/>
        </p:nvSpPr>
        <p:spPr>
          <a:xfrm>
            <a:off x="2790613" y="2167116"/>
            <a:ext cx="66107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Architecture in Practice</a:t>
            </a:r>
          </a:p>
          <a:p>
            <a:pPr algn="ctr"/>
            <a:endParaRPr lang="en-US" sz="3200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EE8E89-6157-D30C-AE9A-DE90DF72A3D5}"/>
              </a:ext>
            </a:extLst>
          </p:cNvPr>
          <p:cNvSpPr txBox="1"/>
          <p:nvPr userDrawn="1"/>
        </p:nvSpPr>
        <p:spPr>
          <a:xfrm>
            <a:off x="4996883" y="3059668"/>
            <a:ext cx="2293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b="1" i="0" dirty="0">
                <a:solidFill>
                  <a:schemeClr val="bg2">
                    <a:lumMod val="50000"/>
                  </a:schemeClr>
                </a:solidFill>
                <a:latin typeface="+mj-lt"/>
              </a:rPr>
              <a:t>4th edition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F1C09B0-F458-52CF-2E89-C839C21696FD}"/>
              </a:ext>
            </a:extLst>
          </p:cNvPr>
          <p:cNvSpPr txBox="1"/>
          <p:nvPr userDrawn="1"/>
        </p:nvSpPr>
        <p:spPr>
          <a:xfrm>
            <a:off x="3929577" y="5154362"/>
            <a:ext cx="4427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i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Len Bass, Paul Clements, Rick Kazman</a:t>
            </a:r>
          </a:p>
          <a:p>
            <a:pPr marL="0" indent="0" algn="l">
              <a:buFont typeface="Arial" panose="020B0604020202020204" pitchFamily="34" charset="0"/>
              <a:buNone/>
            </a:pP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9466936-600E-E015-B971-BE7279402C11}"/>
              </a:ext>
            </a:extLst>
          </p:cNvPr>
          <p:cNvSpPr txBox="1"/>
          <p:nvPr userDrawn="1"/>
        </p:nvSpPr>
        <p:spPr>
          <a:xfrm>
            <a:off x="2714412" y="1782292"/>
            <a:ext cx="6858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1800" i="1" dirty="0">
                <a:solidFill>
                  <a:schemeClr val="bg2">
                    <a:lumMod val="75000"/>
                  </a:schemeClr>
                </a:solidFill>
                <a:latin typeface="+mj-lt"/>
              </a:rPr>
              <a:t>Text Book:</a:t>
            </a:r>
          </a:p>
        </p:txBody>
      </p:sp>
    </p:spTree>
    <p:extLst>
      <p:ext uri="{BB962C8B-B14F-4D97-AF65-F5344CB8AC3E}">
        <p14:creationId xmlns:p14="http://schemas.microsoft.com/office/powerpoint/2010/main" val="3263865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D763EB-F58C-2FDA-883E-D34AC3F89BD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BD9CD7-C12F-5578-3913-F6206D50C27B}"/>
              </a:ext>
            </a:extLst>
          </p:cNvPr>
          <p:cNvSpPr txBox="1"/>
          <p:nvPr userDrawn="1"/>
        </p:nvSpPr>
        <p:spPr>
          <a:xfrm>
            <a:off x="1859302" y="1303253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C21CC-5ED0-E64B-EAB7-020E97E35EDD}"/>
              </a:ext>
            </a:extLst>
          </p:cNvPr>
          <p:cNvSpPr txBox="1"/>
          <p:nvPr userDrawn="1"/>
        </p:nvSpPr>
        <p:spPr>
          <a:xfrm>
            <a:off x="9205913" y="3698406"/>
            <a:ext cx="1168061" cy="1107996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indent="0" algn="ctr">
              <a:buFont typeface="Arial" panose="020B0604020202020204" pitchFamily="34" charset="0"/>
              <a:buNone/>
            </a:pPr>
            <a:r>
              <a:rPr lang="en-US" sz="6600" b="1" dirty="0">
                <a:latin typeface="+mj-lt"/>
              </a:rPr>
              <a:t>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C271C3-2751-4DDA-C95D-61E65E2C407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27363" y="1627188"/>
            <a:ext cx="6178550" cy="262521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1" i="1">
                <a:solidFill>
                  <a:schemeClr val="bg2">
                    <a:lumMod val="25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F6E1FB4-261B-CA90-BDD6-924DC256638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027364" y="5229225"/>
            <a:ext cx="6178550" cy="711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60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354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45AABA7-8654-6E03-E01A-130CB74BE741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88977" y="1015164"/>
            <a:ext cx="11058526" cy="5676247"/>
          </a:xfrm>
          <a:prstGeom prst="rect">
            <a:avLst/>
          </a:prstGeom>
        </p:spPr>
        <p:txBody>
          <a:bodyPr/>
          <a:lstStyle>
            <a:lvl1pPr marL="114300" indent="-3429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buFont typeface="Arial" panose="020B0604020202020204" pitchFamily="34" charset="0"/>
              <a:buChar char="•"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 marL="2286000" indent="0">
              <a:buNone/>
              <a:defRPr/>
            </a:lvl6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r>
              <a:rPr lang="en-US" dirty="0" err="1"/>
              <a:t>Asdfasdfasdfasdff</a:t>
            </a:r>
            <a:endParaRPr lang="en-US" dirty="0"/>
          </a:p>
          <a:p>
            <a:pPr marL="411480" marR="0" lvl="1" indent="22860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US" dirty="0"/>
              <a:t>Second level</a:t>
            </a:r>
          </a:p>
          <a:p>
            <a:pPr marL="1005840" marR="0" lvl="2" indent="-2286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Times New Roman" panose="02020603050405020304" pitchFamily="18" charset="0"/>
              <a:buChar char="‣"/>
              <a:tabLst/>
              <a:defRPr/>
            </a:pPr>
            <a:r>
              <a:rPr lang="en-US" dirty="0"/>
              <a:t>Third level</a:t>
            </a:r>
          </a:p>
          <a:p>
            <a:pPr marL="1645920" marR="0" lvl="4" indent="-228600" algn="l" defTabSz="914400" rtl="0" eaLnBrk="1" fontAlgn="auto" latinLnBrk="0" hangingPunct="1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Tx/>
              <a:buSzPct val="100000"/>
              <a:buFont typeface="Times New Roman" panose="02020603050405020304" pitchFamily="18" charset="0"/>
              <a:buChar char="‣"/>
              <a:tabLst/>
              <a:defRPr/>
            </a:pPr>
            <a:endParaRPr lang="en-US" dirty="0"/>
          </a:p>
          <a:p>
            <a:pPr lvl="4"/>
            <a:endParaRPr lang="en-US" dirty="0"/>
          </a:p>
          <a:p>
            <a:pPr lvl="0"/>
            <a:endParaRPr lang="en-US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6EA75A14-EC44-C947-19E0-5B86DE32A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29150B68-8BC2-8C77-3FFC-2A2ADED55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7153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نوان بخش‌ه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D3C09-A831-571A-01CB-A6534B0A75D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630968"/>
            <a:ext cx="10515600" cy="257452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spc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Name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AB62D3E-5146-2D84-53F5-BB186CCBF35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2492375"/>
            <a:ext cx="10515600" cy="93662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000">
                <a:latin typeface="+mj-lt"/>
              </a:defRPr>
            </a:lvl1pPr>
          </a:lstStyle>
          <a:p>
            <a:pPr lvl="0"/>
            <a:r>
              <a:rPr lang="en-US" dirty="0"/>
              <a:t>SECTION #</a:t>
            </a:r>
          </a:p>
        </p:txBody>
      </p:sp>
    </p:spTree>
    <p:extLst>
      <p:ext uri="{BB962C8B-B14F-4D97-AF65-F5344CB8AC3E}">
        <p14:creationId xmlns:p14="http://schemas.microsoft.com/office/powerpoint/2010/main" val="825917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 و توضیحا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8581ADF6-1F4F-CE66-F068-D1A26D9E8A6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5809426" y="1031785"/>
            <a:ext cx="5826425" cy="3152748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4D2E4CAB-BEBB-3707-3FA1-D084FAEA841F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6149" y="1031785"/>
            <a:ext cx="5081171" cy="3159650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Clr>
                <a:schemeClr val="tx1"/>
              </a:buClr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buClr>
                <a:schemeClr val="tx1"/>
              </a:buClr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to edit Master text styles Click to edit Master text styles 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D33701F9-BC79-B1F2-F33F-566DE40E9585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56148" y="4349324"/>
            <a:ext cx="11079703" cy="2355005"/>
          </a:xfrm>
          <a:prstGeom prst="rect">
            <a:avLst/>
          </a:prstGeom>
        </p:spPr>
        <p:txBody>
          <a:bodyPr/>
          <a:lstStyle>
            <a:lvl1pPr marL="0" indent="228600">
              <a:lnSpc>
                <a:spcPct val="100000"/>
              </a:lnSpc>
              <a:spcBef>
                <a:spcPts val="2000"/>
              </a:spcBef>
              <a:buClr>
                <a:schemeClr val="tx1"/>
              </a:buCl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11480" indent="228600">
              <a:lnSpc>
                <a:spcPct val="100000"/>
              </a:lnSpc>
              <a:spcBef>
                <a:spcPts val="1000"/>
              </a:spcBef>
              <a:buClr>
                <a:schemeClr val="tx1"/>
              </a:buClr>
              <a:buFont typeface="Wingdings" panose="05000000000000000000" pitchFamily="2" charset="2"/>
              <a:buChar char="§"/>
              <a:defRPr sz="200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005840" indent="-228600">
              <a:spcBef>
                <a:spcPts val="600"/>
              </a:spcBef>
              <a:buClr>
                <a:schemeClr val="tx1"/>
              </a:buClr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 marL="1371600" indent="-228600">
              <a:spcBef>
                <a:spcPts val="200"/>
              </a:spcBef>
              <a:buSzPct val="100000"/>
              <a:buFont typeface="Times New Roman" panose="02020603050405020304" pitchFamily="18" charset="0"/>
              <a:buChar char="‣"/>
              <a:defRPr sz="200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 marL="1645920">
              <a:spcBef>
                <a:spcPts val="200"/>
              </a:spcBef>
              <a:defRPr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0"/>
            <a:endParaRPr lang="en-US" dirty="0"/>
          </a:p>
        </p:txBody>
      </p:sp>
      <p:sp>
        <p:nvSpPr>
          <p:cNvPr id="25" name="Title 24">
            <a:extLst>
              <a:ext uri="{FF2B5EF4-FFF2-40B4-BE49-F238E27FC236}">
                <a16:creationId xmlns:a16="http://schemas.microsoft.com/office/drawing/2014/main" id="{A1248D6A-2F31-7DAE-E178-90148578B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6" name="Slide Number Placeholder 25">
            <a:extLst>
              <a:ext uri="{FF2B5EF4-FFF2-40B4-BE49-F238E27FC236}">
                <a16:creationId xmlns:a16="http://schemas.microsoft.com/office/drawing/2014/main" id="{C84E279C-06EF-FA3D-FB33-057EDCA7E79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6741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عک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CB4413EB-9324-9312-01D4-01212668D4CA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650709" y="518312"/>
            <a:ext cx="8890581" cy="5000952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DC52E4-EE13-112F-7A75-20D1103E8E3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55625" y="5683250"/>
            <a:ext cx="11036300" cy="87891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caption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AA41ADF-5ADB-4478-F3AE-A908B05F64E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6445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0350306-1A92-387D-FEA6-25A51B678C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6149" y="153671"/>
            <a:ext cx="670079" cy="6412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311D09-C3D9-45E8-99CE-78E12234EEA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itle Placeholder 11">
            <a:extLst>
              <a:ext uri="{FF2B5EF4-FFF2-40B4-BE49-F238E27FC236}">
                <a16:creationId xmlns:a16="http://schemas.microsoft.com/office/drawing/2014/main" id="{A8C8BAA5-76D7-C8B1-7A71-D70A776A65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8889" y="153671"/>
            <a:ext cx="10436810" cy="6412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1.1 Definition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9A18509-0EE4-08D3-489F-C7109F42C063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95546" y="166588"/>
            <a:ext cx="640305" cy="64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82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0" r:id="rId4"/>
    <p:sldLayoutId id="2147483651" r:id="rId5"/>
    <p:sldLayoutId id="2147483652" r:id="rId6"/>
    <p:sldLayoutId id="2147483653" r:id="rId7"/>
  </p:sldLayoutIdLst>
  <p:hf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b="0" kern="1200">
          <a:solidFill>
            <a:schemeClr val="tx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444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FC77B4-BC48-76BC-D426-F894A03FA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Role of Architects in Projects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8A69401E-3D2B-47A5-6D3F-CCE137706A3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CHAPTER 24</a:t>
            </a:r>
          </a:p>
        </p:txBody>
      </p:sp>
    </p:spTree>
    <p:extLst>
      <p:ext uri="{BB962C8B-B14F-4D97-AF65-F5344CB8AC3E}">
        <p14:creationId xmlns:p14="http://schemas.microsoft.com/office/powerpoint/2010/main" val="702636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508ED7A-E858-9048-A2EE-70B0CAEFB2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09505E-138C-BEFA-F1DA-E22DF7575B8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3600" b="0" dirty="0"/>
              <a:t>I don’t know why people hire architects and then tell them what to do.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B87A4A-CF6B-713C-5025-563FAA77732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—Frank Gehry</a:t>
            </a:r>
          </a:p>
        </p:txBody>
      </p:sp>
    </p:spTree>
    <p:extLst>
      <p:ext uri="{BB962C8B-B14F-4D97-AF65-F5344CB8AC3E}">
        <p14:creationId xmlns:p14="http://schemas.microsoft.com/office/powerpoint/2010/main" val="156211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2482658-2BE8-68DC-2E49-3E16AB1B08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The Architect and the Project Manager</a:t>
            </a:r>
          </a:p>
          <a:p>
            <a:r>
              <a:rPr lang="en-US" dirty="0"/>
              <a:t>Incremental Architecture and Stakeholders</a:t>
            </a:r>
          </a:p>
          <a:p>
            <a:r>
              <a:rPr lang="en-US" dirty="0"/>
              <a:t>Architecture and Agile Development</a:t>
            </a:r>
          </a:p>
          <a:p>
            <a:r>
              <a:rPr lang="en-US" dirty="0"/>
              <a:t>Architecture and Distributed Development</a:t>
            </a:r>
          </a:p>
          <a:p>
            <a:r>
              <a:rPr lang="en-US" dirty="0"/>
              <a:t>Summary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A50FF4-3542-AD6D-6F54-5EF273AB4B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Chapter Outline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B9C1B-F8C3-F07B-728F-B0949F0314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8266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60C3F5B-1B15-2840-68D9-82839209D5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this chapter, we deal with the aspects of architecture and the architect’s responsibilities that derive from the realities of development projects.</a:t>
            </a:r>
          </a:p>
          <a:p>
            <a:r>
              <a:rPr lang="en-US" dirty="0"/>
              <a:t>We begin by discussing a key project role with whom you as an architect are likely to have a close working relationship: the project manager.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AC7FC3-E9A4-929C-3A89-F12C3755C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7B540-67C1-E0FE-2B84-5FF8F694C0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3234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337FFB5-2E1E-9045-920C-0714BECB1C1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The project manager is responsible for the overall performance of the project, typically for keeping it on budget, on schedule, and staffed with the right people doing the right jobs.</a:t>
            </a:r>
          </a:p>
          <a:p>
            <a:r>
              <a:rPr lang="en-US" dirty="0"/>
              <a:t>The project manager handles the external-facing aspects of a project, while the architect focuses on the internal technical work.</a:t>
            </a:r>
          </a:p>
          <a:p>
            <a:r>
              <a:rPr lang="en-US" dirty="0"/>
              <a:t>The external view needs to accurately reflect the internal situation, and the internal activities need to accurately reflect the expectations of the external stakeholders.</a:t>
            </a:r>
          </a:p>
          <a:p>
            <a:r>
              <a:rPr lang="en-US" dirty="0"/>
              <a:t>Successful projects require tight coordination between the external-facing work of the project manager and the internal work of the architect.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42E98B2-59CC-F301-9011-A5DB5291FC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Architect and the Project Manager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F912D1-2FE7-AB04-70EB-8AB9DCD93B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495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AFFA655-507D-30E1-034D-69C2600542C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Agile methodologies are based on incremental development, with each increment delivering value to the customer or user.</a:t>
            </a:r>
          </a:p>
          <a:p>
            <a:r>
              <a:rPr lang="en-US" dirty="0"/>
              <a:t>Even if your project is not an Agile one, you should still expect to develop and release your architecture in increments following a tempo that supports the project’s own test and release schedule.</a:t>
            </a:r>
          </a:p>
          <a:p>
            <a:r>
              <a:rPr lang="en-US" dirty="0">
                <a:solidFill>
                  <a:schemeClr val="accent1"/>
                </a:solidFill>
              </a:rPr>
              <a:t>Incremental architecture</a:t>
            </a:r>
            <a:r>
              <a:rPr lang="en-US" dirty="0"/>
              <a:t>, then, is about releasing the architecture in increments. Specifically, this means releasing architecture documentation in increments. So, architect should decide which views to release and at which depth.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2156F2-A206-64AA-B09E-8D82B62DDD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Architecture and Stakeholders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2840D-B4E5-B6A1-CEE0-4EA0E4EA4D6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405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84B0274-1DB4-85AB-FB1F-3847F434DE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consider these as candidates for your first increment: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 Module decomposition structure: </a:t>
            </a:r>
            <a:r>
              <a:rPr lang="en-US" dirty="0"/>
              <a:t>Helps organize the team and project by showing how the system is divided into parts. It guides team setup and budgeting.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</a:t>
            </a: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Module "uses" structure: </a:t>
            </a:r>
            <a:r>
              <a:rPr lang="en-US" dirty="0"/>
              <a:t>Shows how different parts of the system depend on each other. This helps plan the order of development and supports releasing the system in stages.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 C&amp;C structure:</a:t>
            </a:r>
            <a:r>
              <a:rPr lang="en-US" dirty="0"/>
              <a:t> Shows the main parts of the system and how they work together. It gives a clear view of the overall solution.</a:t>
            </a:r>
          </a:p>
          <a:p>
            <a:pPr lvl="1"/>
            <a:r>
              <a:rPr lang="en-US" dirty="0">
                <a:solidFill>
                  <a:schemeClr val="accent4">
                    <a:lumMod val="50000"/>
                  </a:schemeClr>
                </a:solidFill>
              </a:rPr>
              <a:t>A Deployment structure: </a:t>
            </a:r>
            <a:r>
              <a:rPr lang="en-US" dirty="0"/>
              <a:t>Shows where the system will run, like on mobile phones or in the cloud.</a:t>
            </a:r>
          </a:p>
          <a:p>
            <a:r>
              <a:rPr lang="en-US" dirty="0"/>
              <a:t>After that, use the needs of the architecture’s stakeholders as a guide when crafting the contents of subsequent releases.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A88B1AF-483C-3D51-9800-0D4A17238F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Incremental Architecture and Stakeholders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B6BC17-BA1C-EC99-8723-F6158F6A0A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73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305BDE-CF62-1E36-058B-E5B30E4AD7C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Agile development began as a rebellion against development approaches that were focused on up-front planning and design.</a:t>
            </a:r>
          </a:p>
          <a:p>
            <a:r>
              <a:rPr lang="en-US" dirty="0"/>
              <a:t>Agile prefers to use time and resources for building what the customer actually needs, instead of spending too much on documentation, and they start doing this early in the project.</a:t>
            </a:r>
          </a:p>
          <a:p>
            <a:r>
              <a:rPr lang="en-US" dirty="0"/>
              <a:t>Early Agile thinking often viewed up-front architecture as a distraction from delivering working software.</a:t>
            </a:r>
          </a:p>
          <a:p>
            <a:r>
              <a:rPr lang="en-US" dirty="0"/>
              <a:t>The key question is this: How much up-front work, in terms of requirements analysis, risk mitigation, and architecture design, should a project undertake?</a:t>
            </a:r>
          </a:p>
          <a:p>
            <a:r>
              <a:rPr lang="en-US" dirty="0"/>
              <a:t>There is no universal answer, but a project's size, complexity, quality requirements, volatility, and team distribution help determine the right amount.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41ED037-10F1-39C9-A3C5-458DF0FEE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and Agile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1CA869-070D-08A8-8420-B8D51B6845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732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53E3B648-D111-3ECF-B620-A5BF4DA677E8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258" r="-27258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AD321-84BC-EDAC-D74B-E18D09A0B7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You can opt for waterfall-style </a:t>
            </a:r>
            <a:r>
              <a:rPr lang="en-US" dirty="0">
                <a:solidFill>
                  <a:schemeClr val="accent1"/>
                </a:solidFill>
              </a:rPr>
              <a:t>Big Design Up Front</a:t>
            </a:r>
            <a:r>
              <a:rPr lang="en-US" dirty="0"/>
              <a:t> (BDUF) or trust in the </a:t>
            </a:r>
            <a:r>
              <a:rPr lang="en-US" dirty="0">
                <a:solidFill>
                  <a:schemeClr val="accent1"/>
                </a:solidFill>
              </a:rPr>
              <a:t>emergent</a:t>
            </a:r>
            <a:r>
              <a:rPr lang="en-US" dirty="0"/>
              <a:t> approach.</a:t>
            </a:r>
          </a:p>
          <a:p>
            <a:r>
              <a:rPr lang="en-US" dirty="0"/>
              <a:t>Between the extremes of BDUF and emergent architecture lies the recommended </a:t>
            </a:r>
            <a:r>
              <a:rPr lang="en-US" dirty="0">
                <a:solidFill>
                  <a:schemeClr val="accent1"/>
                </a:solidFill>
              </a:rPr>
              <a:t>Iteration 0 approach</a:t>
            </a:r>
            <a:r>
              <a:rPr lang="en-US" dirty="0"/>
              <a:t>, which balances planning and agility.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878F87-8A58-F0D3-7DC3-63344F66820A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D30B296-8EF9-819A-5C32-13496B292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and Agile Development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BB2982-265A-2D2F-6B75-F0C4D5BC441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54520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B070A02-9006-E25F-9311-5A59BF05689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When requirements change, you should follow an Agile practice called a "</a:t>
            </a:r>
            <a:r>
              <a:rPr lang="en-US" dirty="0">
                <a:solidFill>
                  <a:schemeClr val="accent1"/>
                </a:solidFill>
              </a:rPr>
              <a:t>spike</a:t>
            </a:r>
            <a:r>
              <a:rPr lang="en-US" dirty="0"/>
              <a:t>." </a:t>
            </a:r>
          </a:p>
          <a:p>
            <a:r>
              <a:rPr lang="en-US" dirty="0"/>
              <a:t>A </a:t>
            </a:r>
            <a:r>
              <a:rPr lang="en-US" dirty="0">
                <a:solidFill>
                  <a:schemeClr val="accent1"/>
                </a:solidFill>
              </a:rPr>
              <a:t>spike</a:t>
            </a:r>
            <a:r>
              <a:rPr lang="en-US" dirty="0"/>
              <a:t> is a time-boxed task to answer a technical question or gather information; it is not intended to lead to a finished product.</a:t>
            </a:r>
          </a:p>
          <a:p>
            <a:r>
              <a:rPr lang="en-US" dirty="0"/>
              <a:t>The Agile Manifesto of 2001, the Prime Directive of the Agile movement, implies that architecture is emergent and does not need to be planned or designed up-front.</a:t>
            </a:r>
          </a:p>
          <a:p>
            <a:r>
              <a:rPr lang="en-US" dirty="0"/>
              <a:t>For medium to large systems, this view has inevitably collapsed under the harsh weight of experience.</a:t>
            </a:r>
          </a:p>
          <a:p>
            <a:r>
              <a:rPr lang="en-US" dirty="0"/>
              <a:t>Solutions for security, high performance, safety, and many more concerns must be designed into the system’s architecture from the beginning.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61399E-FFC5-12F8-07A2-64854F7B6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and Agile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33D86-9AF9-4A57-C673-05C4FD94B8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59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D62808-4535-A81B-D19B-4FD3DE18067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One example of an approach to apply Agile at enterprise scale is the </a:t>
            </a:r>
            <a:r>
              <a:rPr lang="en-US" dirty="0">
                <a:solidFill>
                  <a:schemeClr val="accent1"/>
                </a:solidFill>
              </a:rPr>
              <a:t>Scaled Agile Framework </a:t>
            </a:r>
            <a:r>
              <a:rPr lang="en-US" dirty="0"/>
              <a:t>(SAFe).</a:t>
            </a:r>
          </a:p>
          <a:p>
            <a:r>
              <a:rPr lang="en-US" dirty="0">
                <a:solidFill>
                  <a:schemeClr val="accent1"/>
                </a:solidFill>
              </a:rPr>
              <a:t>SAFe</a:t>
            </a:r>
            <a:r>
              <a:rPr lang="en-US" dirty="0"/>
              <a:t> provides a reference model of workflows, roles, and processes to successfully produce a large-scale system.</a:t>
            </a:r>
          </a:p>
          <a:p>
            <a:r>
              <a:rPr lang="en-US" dirty="0"/>
              <a:t>SAFe acknowledges the role of architecture. It suggests </a:t>
            </a:r>
            <a:r>
              <a:rPr lang="en-US" dirty="0">
                <a:solidFill>
                  <a:schemeClr val="accent1"/>
                </a:solidFill>
              </a:rPr>
              <a:t>intentional architecture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1"/>
                </a:solidFill>
              </a:rPr>
              <a:t>Intentional architecture </a:t>
            </a:r>
            <a:r>
              <a:rPr lang="en-US" dirty="0"/>
              <a:t>defines a set of purposeful, planned architectural strategies and initiatives.</a:t>
            </a:r>
          </a:p>
          <a:p>
            <a:r>
              <a:rPr lang="en-US" dirty="0"/>
              <a:t>SAFe also counsels a counterbalancing force called </a:t>
            </a:r>
            <a:r>
              <a:rPr lang="en-US" dirty="0">
                <a:solidFill>
                  <a:schemeClr val="accent1"/>
                </a:solidFill>
              </a:rPr>
              <a:t>emergent design</a:t>
            </a:r>
            <a:r>
              <a:rPr lang="en-US" dirty="0"/>
              <a:t>. But it views emergent design as complementing, not replacing intentional architecture.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03BC22E-9D61-EDDD-9AD2-9130CB582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and Agile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D054D7-AA16-CAAA-EB55-2DD87F8535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496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7F5B6B3B-D67B-BEF2-3828-90F8DD89EAF5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034" r="-2034"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268E3-139E-6B60-EF1A-45F8AACF8C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Most big projects today are developed by </a:t>
            </a:r>
            <a:r>
              <a:rPr lang="en-US" dirty="0">
                <a:solidFill>
                  <a:schemeClr val="accent1"/>
                </a:solidFill>
              </a:rPr>
              <a:t>distributed teams</a:t>
            </a:r>
            <a:r>
              <a:rPr lang="en-US" dirty="0"/>
              <a:t>. Distributed teams may be spread across buildings, cities, time zones, or even organizations.</a:t>
            </a:r>
          </a:p>
          <a:p>
            <a:r>
              <a:rPr lang="en-US" dirty="0"/>
              <a:t>Distributed development comes with both benefits and challenges.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AA2827-BAF1-F5D3-F616-53107D061860}"/>
              </a:ext>
            </a:extLst>
          </p:cNvPr>
          <p:cNvSpPr>
            <a:spLocks noGrp="1"/>
          </p:cNvSpPr>
          <p:nvPr>
            <p:ph sz="half" idx="12"/>
          </p:nvPr>
        </p:nvSpPr>
        <p:spPr/>
        <p:txBody>
          <a:bodyPr/>
          <a:lstStyle/>
          <a:p>
            <a:r>
              <a:rPr lang="en-US" dirty="0"/>
              <a:t>Wages are different in different places, and many believe that sending part of the work to countries with lower labor costs will automatically make the whole project cheaper.</a:t>
            </a:r>
          </a:p>
          <a:p>
            <a:r>
              <a:rPr lang="en-US" dirty="0"/>
              <a:t>Benefits include potential cost savings, access to broader skill sets, and better local market knowledge; however, these come with coordination and communication challenges.</a:t>
            </a: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6B14D2-D07A-72E6-3BEB-26FC8F5136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and Distributed Development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D6C6D-6B74-B543-69C4-49EFA0CA763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7076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8C2C4EB-9940-3C34-50A1-688D0B1C8EE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Assume Module A uses an interface from Module B. So, the team responsible for Module B must coordinate with the team responsible for Module A.</a:t>
            </a:r>
          </a:p>
          <a:p>
            <a:r>
              <a:rPr lang="en-US" dirty="0"/>
              <a:t>It’s easy to coordinate when team members are in the same place and can quickly talk in person, like while getting a snack. But it’s much harder when teams are far apart and have to plan online meetings, especially if it’s nighttime for some of them.</a:t>
            </a:r>
          </a:p>
          <a:p>
            <a:r>
              <a:rPr lang="en-US" dirty="0"/>
              <a:t>Allocation of responsibilities to teams is more important in distributed development than in co-located development.</a:t>
            </a:r>
          </a:p>
          <a:p>
            <a:r>
              <a:rPr lang="en-US" dirty="0"/>
              <a:t>Attention to module dependencies takes on added importance. Dependencies among modules owned by globally distributed teams are more likely to be problematic.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CCCE95-92E7-7E97-EA01-B54772067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and Distributed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56C8B-9F15-EC7D-CF48-A744BE4C357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6059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B290ED3-B434-8348-43BB-4A697459F81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Documentation is especially important in distributed development.</a:t>
            </a:r>
          </a:p>
          <a:p>
            <a:r>
              <a:rPr lang="en-US" dirty="0"/>
              <a:t>Remote teams must rely on more formal mechanisms such as documentation, and team members must take the initiative to talk to each other when doubts arise.</a:t>
            </a:r>
          </a:p>
          <a:p>
            <a:r>
              <a:rPr lang="en-US" dirty="0"/>
              <a:t>It seems likely to lead to distributed development becoming the norm. The shift to remote work has accelerated adoption of distributed development and may spark new architectural trends.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907B3D9-E399-6AF1-F995-1CEFC058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and Distributed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8CD5E0-91F9-618C-FA77-7A6A7E61B9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164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43395B-83AC-1F94-18DA-0B61100CDB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In this chapter, we discussed the architect’s responsibilities, deriving from the realities of development projects.</a:t>
            </a:r>
          </a:p>
          <a:p>
            <a:r>
              <a:rPr lang="en-US" dirty="0"/>
              <a:t>The project manager and the software architect have different but complementary roles. The manager runs the project from an administrative perspective, and the architect runs the project from a technical solution perspective.</a:t>
            </a:r>
          </a:p>
          <a:p>
            <a:r>
              <a:rPr lang="en-US" dirty="0"/>
              <a:t>In real projects, software architectures aren’t created all at once or instantly. Instead, they are developed and shared step by step, in parts that are useful to the people </a:t>
            </a:r>
            <a:r>
              <a:rPr lang="en-US"/>
              <a:t>involved.</a:t>
            </a:r>
          </a:p>
          <a:p>
            <a:r>
              <a:rPr lang="en-US"/>
              <a:t>Agile </a:t>
            </a:r>
            <a:r>
              <a:rPr lang="en-US" dirty="0"/>
              <a:t>methodologies focus on incremental development. Over time, architecture and Agile (although they got off to a rough start together) have become indispensable partners.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AC99B89-B1A7-A64A-ECF6-7E4E4B336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C1BE7-237B-998D-7AFF-DC9089796C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311D09-C3D9-45E8-99CE-78E12234EEAD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1717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imes New Roman-Arial">
      <a:majorFont>
        <a:latin typeface="Times New Roman" panose="02020603050405020304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marL="285750" indent="-285750" algn="l">
          <a:buFont typeface="Arial" panose="020B0604020202020204" pitchFamily="34" charset="0"/>
          <a:buChar char="•"/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2903</TotalTime>
  <Words>1249</Words>
  <Application>Microsoft Office PowerPoint</Application>
  <PresentationFormat>Widescreen</PresentationFormat>
  <Paragraphs>85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Chapter Outline</vt:lpstr>
      <vt:lpstr>Introduction</vt:lpstr>
      <vt:lpstr>The Architect and the Project Manager</vt:lpstr>
      <vt:lpstr>Incremental Architecture and Stakeholders</vt:lpstr>
      <vt:lpstr>Incremental Architecture and Stakeholders</vt:lpstr>
      <vt:lpstr>Architecture and Agile Development</vt:lpstr>
      <vt:lpstr>Architecture and Agile Development</vt:lpstr>
      <vt:lpstr>Architecture and Agile Development</vt:lpstr>
      <vt:lpstr>Architecture and Agile Development</vt:lpstr>
      <vt:lpstr>Architecture and Distributed Development</vt:lpstr>
      <vt:lpstr>Architecture and Distributed Development</vt:lpstr>
      <vt:lpstr>Architecture and Distributed Development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mohamad khorsandi</dc:creator>
  <cp:lastModifiedBy>mohamad khorsandi</cp:lastModifiedBy>
  <cp:revision>58</cp:revision>
  <dcterms:created xsi:type="dcterms:W3CDTF">2025-05-02T12:16:21Z</dcterms:created>
  <dcterms:modified xsi:type="dcterms:W3CDTF">2025-07-25T15:50:59Z</dcterms:modified>
</cp:coreProperties>
</file>