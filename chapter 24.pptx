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9" r:id="rId2"/>
    <p:sldId id="264" r:id="rId3"/>
    <p:sldId id="268" r:id="rId4"/>
    <p:sldId id="266" r:id="rId5"/>
    <p:sldId id="289" r:id="rId6"/>
    <p:sldId id="290" r:id="rId7"/>
    <p:sldId id="291" r:id="rId8"/>
    <p:sldId id="292" r:id="rId9"/>
    <p:sldId id="293" r:id="rId10"/>
    <p:sldId id="295" r:id="rId11"/>
    <p:sldId id="297" r:id="rId12"/>
    <p:sldId id="298" r:id="rId13"/>
    <p:sldId id="299" r:id="rId14"/>
    <p:sldId id="300" r:id="rId15"/>
    <p:sldId id="301" r:id="rId16"/>
    <p:sldId id="28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732" autoAdjust="0"/>
    <p:restoredTop sz="94677" autoAdjust="0"/>
  </p:normalViewPr>
  <p:slideViewPr>
    <p:cSldViewPr snapToGrid="0">
      <p:cViewPr varScale="1">
        <p:scale>
          <a:sx n="51" d="100"/>
          <a:sy n="51" d="100"/>
        </p:scale>
        <p:origin x="67" y="79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25/07/16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1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Role of Architects in Projects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24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600" b="0" dirty="0"/>
              <a:t>I don’t know why people hire architects and then tell them what to do.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—Frank Gehry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0C3F5B-1B15-2840-68D9-82839209D57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this chapter, we deal with the aspects of architecture and the architect’s responsibilities that derive from the realities of development projects.</a:t>
            </a:r>
          </a:p>
          <a:p>
            <a:r>
              <a:rPr lang="en-US" dirty="0"/>
              <a:t>We begin by discussing a key project role with whom you as an architect are likely to have a close working relationship: the project manager.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AC7FC3-E9A4-929C-3A89-F12C3755C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97B540-67C1-E0FE-2B84-5FF8F694C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234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37FFB5-2E1E-9045-920C-0714BECB1C1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project manager is responsible for the overall performance of the project—typically for keeping it on budget, on schedule, and staffed with the right people doing the right jobs.</a:t>
            </a:r>
          </a:p>
          <a:p>
            <a:r>
              <a:rPr lang="en-US" dirty="0"/>
              <a:t>The project manager handles the external-facing aspects of a project, while the architect focuses on the internal technical work.</a:t>
            </a:r>
          </a:p>
          <a:p>
            <a:r>
              <a:rPr lang="en-US" dirty="0"/>
              <a:t>The external view needs to accurately reflect the internal situation, and the internal activities need to accurately reflect the expectations of the external stakeholders.</a:t>
            </a:r>
          </a:p>
          <a:p>
            <a:r>
              <a:rPr lang="en-US" dirty="0"/>
              <a:t>Successful projects require tight coordination between the external-facing work of the project manager and the internal work of the architect.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42E98B2-59CC-F301-9011-A5DB5291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Architect and the Project Manager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912D1-2FE7-AB04-70EB-8AB9DCD93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957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FFA655-507D-30E1-034D-69C2600542C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Agile methodologies are built on the pillar of incremental development, with each increment delivering value to the customer or user.</a:t>
            </a:r>
          </a:p>
          <a:p>
            <a:r>
              <a:rPr lang="en-US" dirty="0"/>
              <a:t>Even if your project is not an Agile one, you should still expect to develop and release your architecture in increments following a tempo that supports the project’s own test and release schedule.</a:t>
            </a:r>
          </a:p>
          <a:p>
            <a:r>
              <a:rPr lang="en-US" dirty="0">
                <a:solidFill>
                  <a:schemeClr val="accent1"/>
                </a:solidFill>
              </a:rPr>
              <a:t>Incremental architecture </a:t>
            </a:r>
            <a:r>
              <a:rPr lang="en-US" dirty="0"/>
              <a:t>aligns with the project’s test and release rhythm, regardless of whether Agile is used.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2156F2-A206-64AA-B09E-8D82B62DD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Incremental Architecture and Stakeholders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2840D-B4E5-B6A1-CEE0-4EA0E4EA4D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140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4B0274-1DB4-85AB-FB1F-3847F434DE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Incremental architecture, then, is about releasing the architecture in increments.</a:t>
            </a:r>
          </a:p>
          <a:p>
            <a:r>
              <a:rPr lang="en-US" dirty="0"/>
              <a:t>Incremental architecture involves releasing architectural documentation incrementally, including selected views at appropriate depths.</a:t>
            </a:r>
          </a:p>
          <a:p>
            <a:r>
              <a:rPr lang="en-US" dirty="0"/>
              <a:t>Stakeholder concerns and priorities should drive what architectural content is released in each increment.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88B1AF-483C-3D51-9800-0D4A17238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Incremental Architecture and Stakeholders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6BC17-BA1C-EC99-8723-F6158F6A0A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73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305BDE-CF62-1E36-058B-E5B30E4AD7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Agile development began as a rebellion against development approaches that were focused on up-front planning and design.</a:t>
            </a:r>
          </a:p>
          <a:p>
            <a:r>
              <a:rPr lang="en-US" dirty="0" err="1"/>
              <a:t>Agilistas</a:t>
            </a:r>
            <a:r>
              <a:rPr lang="en-US" dirty="0"/>
              <a:t> advocate allocating resources that might otherwise be spent on documentation, to what the customer really wants, starting very early on.</a:t>
            </a:r>
          </a:p>
          <a:p>
            <a:r>
              <a:rPr lang="en-US" dirty="0"/>
              <a:t>Early Agile thinking often viewed up-front architecture as a distraction from delivering working software.</a:t>
            </a:r>
          </a:p>
          <a:p>
            <a:r>
              <a:rPr lang="en-US" dirty="0"/>
              <a:t>The key question is this: How much up-front work, in terms of requirements analysis, risk mitigation, and architecture design, should a project undertake?</a:t>
            </a:r>
          </a:p>
          <a:p>
            <a:r>
              <a:rPr lang="en-US" dirty="0"/>
              <a:t>There is no universal answer, but a project's size, complexity, quality requirements, volatility, and team distribution help determine the right amount.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1ED037-10F1-39C9-A3C5-458DF0FEE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Agile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CA869-070D-08A8-8420-B8D51B6845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732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53E3B648-D111-3ECF-B620-A5BF4DA677E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258" r="-27258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AD321-84BC-EDAC-D74B-E18D09A0B7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can opt for waterfall-style </a:t>
            </a:r>
            <a:r>
              <a:rPr lang="en-US" dirty="0">
                <a:solidFill>
                  <a:schemeClr val="accent1"/>
                </a:solidFill>
              </a:rPr>
              <a:t>Big Design Up Front</a:t>
            </a:r>
            <a:r>
              <a:rPr lang="en-US" dirty="0"/>
              <a:t> (BDUF) or trust in the </a:t>
            </a:r>
            <a:r>
              <a:rPr lang="en-US" dirty="0">
                <a:solidFill>
                  <a:schemeClr val="accent1"/>
                </a:solidFill>
              </a:rPr>
              <a:t>emergent</a:t>
            </a:r>
            <a:r>
              <a:rPr lang="en-US" dirty="0"/>
              <a:t> approach.</a:t>
            </a:r>
          </a:p>
          <a:p>
            <a:r>
              <a:rPr lang="en-US" dirty="0"/>
              <a:t>Between the extremes of BDUF and emergent architecture lies the recommended </a:t>
            </a:r>
            <a:r>
              <a:rPr lang="en-US" dirty="0">
                <a:solidFill>
                  <a:schemeClr val="accent1"/>
                </a:solidFill>
              </a:rPr>
              <a:t>Iteration 0 approach</a:t>
            </a:r>
            <a:r>
              <a:rPr lang="en-US" dirty="0"/>
              <a:t>, which balances planning and agility.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878F87-8A58-F0D3-7DC3-63344F66820A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30B296-8EF9-819A-5C32-13496B292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Agile Development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B2982-265A-2D2F-6B75-F0C4D5BC441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452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070A02-9006-E25F-9311-5A59BF0568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and when requirements change, adopt a practice of Agile, where </a:t>
            </a:r>
            <a:r>
              <a:rPr lang="en-US" dirty="0">
                <a:solidFill>
                  <a:schemeClr val="accent1"/>
                </a:solidFill>
              </a:rPr>
              <a:t>spikes</a:t>
            </a:r>
            <a:r>
              <a:rPr lang="en-US" dirty="0"/>
              <a:t> are used to address new requirements.</a:t>
            </a:r>
          </a:p>
          <a:p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spike</a:t>
            </a:r>
            <a:r>
              <a:rPr lang="en-US" dirty="0"/>
              <a:t> is a time-boxed task to answer a technical question or gather information; it is not intended to lead to a finished product.</a:t>
            </a:r>
          </a:p>
          <a:p>
            <a:r>
              <a:rPr lang="en-US" dirty="0"/>
              <a:t>The Agile Manifesto of 2001, the “Prime Directive” of the Agile movement, implies that architecture is emergent and does not need to be planned or designed up-front.</a:t>
            </a:r>
          </a:p>
          <a:p>
            <a:r>
              <a:rPr lang="en-US" dirty="0"/>
              <a:t>For medium to large systems, this view has inevitably collapsed under the harsh weight of experience.</a:t>
            </a:r>
          </a:p>
          <a:p>
            <a:r>
              <a:rPr lang="en-US" dirty="0"/>
              <a:t>Solutions for security, high performance, safety, and many more concerns must be designed into the system’s architecture from the beginning.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61399E-FFC5-12F8-07A2-64854F7B6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Agile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33D86-9AF9-4A57-C673-05C4FD94B8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92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D62808-4535-A81B-D19B-4FD3DE18067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One example of an approach to apply Agile at enterprise scale is the </a:t>
            </a:r>
            <a:r>
              <a:rPr lang="en-US" dirty="0">
                <a:solidFill>
                  <a:schemeClr val="accent1"/>
                </a:solidFill>
              </a:rPr>
              <a:t>Scaled Agile Framework </a:t>
            </a:r>
            <a:r>
              <a:rPr lang="en-US" dirty="0"/>
              <a:t>(</a:t>
            </a:r>
            <a:r>
              <a:rPr lang="en-US" dirty="0" err="1"/>
              <a:t>SAFe</a:t>
            </a:r>
            <a:r>
              <a:rPr lang="en-US" dirty="0"/>
              <a:t>).</a:t>
            </a:r>
          </a:p>
          <a:p>
            <a:r>
              <a:rPr lang="en-US" dirty="0" err="1"/>
              <a:t>SAFe</a:t>
            </a:r>
            <a:r>
              <a:rPr lang="en-US" dirty="0"/>
              <a:t> provides a reference model of workflows, roles, and processes to successfully produce a large-scale system.</a:t>
            </a:r>
          </a:p>
          <a:p>
            <a:r>
              <a:rPr lang="en-US" dirty="0" err="1"/>
              <a:t>SAFe</a:t>
            </a:r>
            <a:r>
              <a:rPr lang="en-US" dirty="0"/>
              <a:t> acknowledges the role of architecture. It suggests </a:t>
            </a:r>
            <a:r>
              <a:rPr lang="en-US" dirty="0">
                <a:solidFill>
                  <a:schemeClr val="accent1"/>
                </a:solidFill>
              </a:rPr>
              <a:t>intentional architecture</a:t>
            </a:r>
            <a:r>
              <a:rPr lang="en-US" dirty="0"/>
              <a:t>.</a:t>
            </a:r>
          </a:p>
          <a:p>
            <a:r>
              <a:rPr lang="en-US" dirty="0">
                <a:solidFill>
                  <a:schemeClr val="accent1"/>
                </a:solidFill>
              </a:rPr>
              <a:t>Intentional architecture </a:t>
            </a:r>
            <a:r>
              <a:rPr lang="en-US" dirty="0"/>
              <a:t>defines a set of purposeful, planned architectural strategies and initiatives.</a:t>
            </a:r>
          </a:p>
          <a:p>
            <a:r>
              <a:rPr lang="en-US" dirty="0" err="1"/>
              <a:t>SAFe</a:t>
            </a:r>
            <a:r>
              <a:rPr lang="en-US" dirty="0"/>
              <a:t> also counsels a counterbalancing force called </a:t>
            </a:r>
            <a:r>
              <a:rPr lang="en-US" dirty="0">
                <a:solidFill>
                  <a:schemeClr val="accent1"/>
                </a:solidFill>
              </a:rPr>
              <a:t>emergent design</a:t>
            </a:r>
            <a:r>
              <a:rPr lang="en-US" dirty="0"/>
              <a:t>. But it views emergent design as complementing, not replacing intentional architecture.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3BC22E-9D61-EDDD-9AD2-9130CB58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Agile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D054D7-AA16-CAAA-EB55-2DD87F8535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4966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A46A5BF-3021-B4DC-D34A-65FF301D90B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Most substantial projects today are developed by </a:t>
            </a:r>
            <a:r>
              <a:rPr lang="en-US" dirty="0">
                <a:solidFill>
                  <a:schemeClr val="accent1"/>
                </a:solidFill>
              </a:rPr>
              <a:t>distributed teams</a:t>
            </a:r>
            <a:r>
              <a:rPr lang="en-US" dirty="0"/>
              <a:t>. Distributed teams may be spread across buildings, cities, time zones, or even organizations.</a:t>
            </a:r>
          </a:p>
          <a:p>
            <a:r>
              <a:rPr lang="en-US" dirty="0"/>
              <a:t>Distributed development comes with both benefits and challenges.</a:t>
            </a:r>
          </a:p>
          <a:p>
            <a:r>
              <a:rPr lang="en-US" dirty="0"/>
              <a:t>Labor costs vary depending on location, and there is a perception that moving some development to a low-cost venue will inevitably decrease the overall cost of the project.</a:t>
            </a:r>
          </a:p>
          <a:p>
            <a:r>
              <a:rPr lang="en-US" dirty="0"/>
              <a:t>Benefits include potential cost savings, access to broader skill sets, and better local market knowledge; however, these come with coordination and communication challenges.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C0E49C-A1EA-CF68-386F-77AF38758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Distributed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B6150-2726-FB45-111B-E30E90B63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270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C2C4EB-9940-3C34-50A1-688D0B1C8E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Assume Module A uses an interface from Module B. So the team responsible for Module B must coordinate with the team responsible for Module A.</a:t>
            </a:r>
          </a:p>
          <a:p>
            <a:r>
              <a:rPr lang="en-US" dirty="0"/>
              <a:t>Coordination is easy if it involves a short conversation at the shared vending machines, but it’s not so easy if it involves a preplanned web conference at a time when it is the middle of the night for one of the teams.</a:t>
            </a:r>
          </a:p>
          <a:p>
            <a:r>
              <a:rPr lang="en-US" dirty="0"/>
              <a:t>Allocation of responsibilities to teams is more important in distributed development than in co-located development.</a:t>
            </a:r>
          </a:p>
          <a:p>
            <a:r>
              <a:rPr lang="en-US" dirty="0"/>
              <a:t>Attention to module dependencies takes on added importance. Dependencies among modules owned by globally distributed teams are more likely to be problematic.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CCCE95-92E7-7E97-EA01-B54772067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Distributed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56C8B-9F15-EC7D-CF48-A744BE4C35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0592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290ED3-B434-8348-43BB-4A697459F8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Documentation is especially important in distributed development.</a:t>
            </a:r>
          </a:p>
          <a:p>
            <a:r>
              <a:rPr lang="en-US" dirty="0"/>
              <a:t>Remote teams must rely on more formal mechanisms such as documentation, and team members must take the initiative to talk to each other when doubts arise.</a:t>
            </a:r>
          </a:p>
          <a:p>
            <a:r>
              <a:rPr lang="en-US" dirty="0"/>
              <a:t>It seems likely to lead to distributed development becoming the norm. The shift to remote work has accelerated adoption of distributed development and may spark new architectural trends.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07B3D9-E399-6AF1-F995-1CEFC058A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Distributed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8CD5E0-91F9-618C-FA77-7A6A7E61B9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1645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3395B-83AC-1F94-18DA-0B61100CDB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C99B89-B1A7-A64A-ECF6-7E4E4B336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1BE7-237B-998D-7AFF-DC9089796C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717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2827</TotalTime>
  <Words>989</Words>
  <Application>Microsoft Office PowerPoint</Application>
  <PresentationFormat>Widescreen</PresentationFormat>
  <Paragraphs>71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The Architect and the Project Manager</vt:lpstr>
      <vt:lpstr>Incremental Architecture and Stakeholders</vt:lpstr>
      <vt:lpstr>Incremental Architecture and Stakeholders</vt:lpstr>
      <vt:lpstr>Architecture and Agile Development</vt:lpstr>
      <vt:lpstr>Architecture and Agile Development</vt:lpstr>
      <vt:lpstr>Architecture and Agile Development</vt:lpstr>
      <vt:lpstr>Architecture and Agile Development</vt:lpstr>
      <vt:lpstr>Architecture and Distributed Development</vt:lpstr>
      <vt:lpstr>Architecture and Distributed Development</vt:lpstr>
      <vt:lpstr>Architecture and Distributed Development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52</cp:revision>
  <dcterms:created xsi:type="dcterms:W3CDTF">2025-05-02T12:16:21Z</dcterms:created>
  <dcterms:modified xsi:type="dcterms:W3CDTF">2025-07-16T05:01:17Z</dcterms:modified>
</cp:coreProperties>
</file>