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9" r:id="rId2"/>
    <p:sldId id="264" r:id="rId3"/>
    <p:sldId id="268" r:id="rId4"/>
    <p:sldId id="266" r:id="rId5"/>
    <p:sldId id="290" r:id="rId6"/>
    <p:sldId id="291" r:id="rId7"/>
    <p:sldId id="308" r:id="rId8"/>
    <p:sldId id="292" r:id="rId9"/>
    <p:sldId id="293" r:id="rId10"/>
    <p:sldId id="294" r:id="rId11"/>
    <p:sldId id="295" r:id="rId12"/>
    <p:sldId id="296" r:id="rId13"/>
    <p:sldId id="298" r:id="rId14"/>
    <p:sldId id="300" r:id="rId15"/>
    <p:sldId id="302" r:id="rId16"/>
    <p:sldId id="303" r:id="rId17"/>
    <p:sldId id="304" r:id="rId18"/>
    <p:sldId id="305" r:id="rId19"/>
    <p:sldId id="306" r:id="rId20"/>
    <p:sldId id="28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1" d="100"/>
          <a:sy n="51" d="100"/>
        </p:scale>
        <p:origin x="67" y="79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Competence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25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4000" b="0" dirty="0"/>
              <a:t>The </a:t>
            </a:r>
            <a:r>
              <a:rPr lang="en-US" sz="4000" b="0" dirty="0" err="1"/>
              <a:t>lyf</a:t>
            </a:r>
            <a:r>
              <a:rPr lang="en-US" sz="4000" b="0" dirty="0"/>
              <a:t> so short, the craft so long to </a:t>
            </a:r>
            <a:r>
              <a:rPr lang="en-US" sz="4000" b="0" dirty="0" err="1"/>
              <a:t>lerne</a:t>
            </a:r>
            <a:r>
              <a:rPr lang="en-US" sz="4000" b="0" dirty="0"/>
              <a:t>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—Geoffrey Chaucer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Architecture Competence</a:t>
            </a:r>
          </a:p>
          <a:p>
            <a:pPr lvl="1"/>
            <a:r>
              <a:rPr lang="en-US" dirty="0"/>
              <a:t>Duties</a:t>
            </a:r>
          </a:p>
          <a:p>
            <a:pPr lvl="1"/>
            <a:r>
              <a:rPr lang="en-US" dirty="0"/>
              <a:t>Skills</a:t>
            </a:r>
          </a:p>
          <a:p>
            <a:pPr lvl="1"/>
            <a:r>
              <a:rPr lang="en-US" dirty="0"/>
              <a:t>Knowledge</a:t>
            </a:r>
          </a:p>
          <a:p>
            <a:r>
              <a:rPr lang="en-US" dirty="0"/>
              <a:t>Organizational Architectural Competence</a:t>
            </a:r>
          </a:p>
          <a:p>
            <a:r>
              <a:rPr lang="en-US" dirty="0"/>
              <a:t>Summary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016ED2-DEB9-A6AD-D4B7-583CCCD4FF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Despite its technical nature, architecture also requires strong human and organizational understanding.</a:t>
            </a:r>
          </a:p>
          <a:p>
            <a:r>
              <a:rPr lang="en-US" dirty="0"/>
              <a:t>Most of the literature about architecture concentrates on the technical aspects. But architecture is created by humans in real-world organizations; an inherently nontechnical environment. </a:t>
            </a:r>
          </a:p>
          <a:p>
            <a:r>
              <a:rPr lang="en-US" dirty="0"/>
              <a:t>This chapter is about the </a:t>
            </a:r>
            <a:r>
              <a:rPr lang="en-US" dirty="0">
                <a:solidFill>
                  <a:schemeClr val="accent1"/>
                </a:solidFill>
              </a:rPr>
              <a:t>competence</a:t>
            </a:r>
            <a:r>
              <a:rPr lang="en-US" dirty="0"/>
              <a:t> of both </a:t>
            </a:r>
            <a:r>
              <a:rPr lang="en-US" dirty="0">
                <a:solidFill>
                  <a:schemeClr val="accent1"/>
                </a:solidFill>
              </a:rPr>
              <a:t>architects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organizations</a:t>
            </a:r>
            <a:r>
              <a:rPr lang="en-US" dirty="0"/>
              <a:t>.</a:t>
            </a:r>
          </a:p>
          <a:p>
            <a:r>
              <a:rPr lang="en-US" dirty="0"/>
              <a:t>We will first discuss architecture competence and then competence of a software architecture organization.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9C6614-43E0-BAEF-3A94-4BB73C4AB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3D71F-FDCB-7720-775E-9293CAEA6F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713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11E531-4D69-3069-3F79-896F83EB9C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Architects perform many activities beyond directly producing an architecture.</a:t>
            </a:r>
          </a:p>
          <a:p>
            <a:r>
              <a:rPr lang="en-US" dirty="0"/>
              <a:t>Duties, skills, and knowledge form a triad upon which architecture competence for individuals, rests.</a:t>
            </a:r>
          </a:p>
          <a:p>
            <a:r>
              <a:rPr lang="en-US" dirty="0"/>
              <a:t>Knowing the duties, skills, and knowledge of architects can help establish measurement and improvement strategies for individual architects.</a:t>
            </a:r>
          </a:p>
          <a:p>
            <a:r>
              <a:rPr lang="en-US" dirty="0"/>
              <a:t>Steps to Improve Architectural Competence: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Gain experience carrying out the </a:t>
            </a:r>
            <a:r>
              <a:rPr lang="en-US" dirty="0">
                <a:solidFill>
                  <a:schemeClr val="accent1"/>
                </a:solidFill>
              </a:rPr>
              <a:t>duties</a:t>
            </a:r>
            <a:r>
              <a:rPr lang="en-US" dirty="0"/>
              <a:t>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Improve your nontechnical </a:t>
            </a:r>
            <a:r>
              <a:rPr lang="en-US" dirty="0">
                <a:solidFill>
                  <a:schemeClr val="accent1"/>
                </a:solidFill>
              </a:rPr>
              <a:t>skills</a:t>
            </a:r>
            <a:r>
              <a:rPr lang="en-US" dirty="0"/>
              <a:t>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Master the body of </a:t>
            </a:r>
            <a:r>
              <a:rPr lang="en-US" dirty="0">
                <a:solidFill>
                  <a:schemeClr val="accent1"/>
                </a:solidFill>
              </a:rPr>
              <a:t>knowledge</a:t>
            </a:r>
            <a:r>
              <a:rPr lang="en-US" dirty="0"/>
              <a:t> and remain up-to-date on it.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08E1D4-C21D-0F44-7AAB-EAA42F33C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932B-9988-BECD-3E91-083D64F92A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415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56E10454-1086-9DDB-EC16-D93BDD4542B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629" b="-13629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8799C-0CE6-BB52-7E9A-F4957DC626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relationship among Duties, skills, and knowledge is shown in this figure.</a:t>
            </a:r>
          </a:p>
          <a:p>
            <a:r>
              <a:rPr lang="en-US" dirty="0"/>
              <a:t>Skills and knowledge support the ability to perform the required duties.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D1E41B-3586-91A6-8AAC-A43E1ABE9218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Infinitely talented architects are of no use if they cannot (for whatever reason) perform the duties required of the position; we would not say they were competent.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F914B0-2215-818E-9EA2-FB1934C69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Competence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47CF5-B13E-ADF2-12BF-400D68B54E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319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F98C9C-D507-63AA-504D-953566C041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divide these duties into technical duties and nontechnical duties. Which are shown on separate tables on next slides</a:t>
            </a:r>
          </a:p>
          <a:p>
            <a:r>
              <a:rPr lang="en-US" dirty="0"/>
              <a:t>The number of nontechnical duties highlights the need to develop beyond technical expertise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A4B4A1-1B27-1662-324E-5BC611381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549D7-A31C-64C3-ABDA-D47E4C48A0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23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EE92988-E30C-0FA5-7F3F-F18B7F8E115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218" r="-24218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01F8DD-518A-53BC-304D-498B001E70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Technical Duties of a Software Architect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FEE4A-0D86-CAA2-B434-2C4E5B38227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689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ED46119-72B4-1864-1C8E-C37A22608F9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129" b="-7129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11454B-464A-AE8B-6C68-DA913A4665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Technical Duties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6A2AE4-43C3-6E92-E8EC-579186B112C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777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945466A-B743-55E4-3E5A-A33E0859162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11" r="-11111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3A956-5C41-7B3C-E2F5-26CA6B92F2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Nontechnical Duties of a Software Architect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52512-23A2-1DDC-98FC-40C1C690CE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7655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669661C-27B0-AE8F-7DE5-971CA231A7A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2986" b="-32986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F9962-CF53-C9B3-1B9F-3A0E868D9C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Nontechnical Duties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A8BDE-E193-6C1B-4DEB-11A7853DBFD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062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CE71B00-8575-80F4-6212-0FDFA698EFAA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0756" b="-10756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DBB7C-FBE0-5F15-11F6-9F7496F961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Given the wide range of duties enumerated, which skills does an architect need to possess?</a:t>
            </a:r>
          </a:p>
          <a:p>
            <a:r>
              <a:rPr lang="en-US" dirty="0"/>
              <a:t>Much has been written about the architect’s special role of leadership in a project.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958A0-F2DF-5610-32FF-6F403842294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Also some certification programs emphasize nontechnical skills.</a:t>
            </a:r>
          </a:p>
          <a:p>
            <a:r>
              <a:rPr lang="en-US" dirty="0"/>
              <a:t>This Table enumerates the set of skills most useful to an architect.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EDBFAC3-84DA-ACF9-768C-EAEB8829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48FD7-76BF-F284-4A99-24A230F6994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138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714796F-2B1A-A2F0-E93A-00EB3DE5C3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64" r="-9664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7ADDB-4B23-0FB0-BEFF-6577924F71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Skills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F071A-8C07-A8C1-44F2-B5F4BC52664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892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419C4134-C2A7-FFF0-F580-BAAF4E52173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8899" b="-28899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DF46-574A-7834-6985-1F588D9B51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competent architect has an intimate familiarity with an architectural body of knowledge. </a:t>
            </a:r>
          </a:p>
          <a:p>
            <a:r>
              <a:rPr lang="en-US" dirty="0"/>
              <a:t>This Table gives a set of knowledge areas for an architect.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AF015F-A85A-47E1-BCF1-9FE9B08A4AEF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13127E7-C917-C6EB-DA4B-344A64CAE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ECB02-D9A8-EC88-0329-4B40E3E9CB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12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C058F9-617B-A4ED-6BC4-11C4C5F0273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085" r="-21085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2CF68-A22C-4BDE-2A4B-D9C75D4DA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Knowledge Areas of a Software Architect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7BDDF-254C-73A4-5465-D7E1E44BAAB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28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634F7F-00DF-16D7-1B39-B0AB0EB42F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Organizations can either support or hinder software architects based on their internal practices and structure.</a:t>
            </a:r>
          </a:p>
          <a:p>
            <a:r>
              <a:rPr lang="en-US" dirty="0"/>
              <a:t>It makes sense, therefore, to ask whether a particular organization is architecturally competent and to develop instruments whose goal is measuring the architectural competence of an organization.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architectural competence of an organization </a:t>
            </a:r>
            <a:r>
              <a:rPr lang="en-US" dirty="0"/>
              <a:t>is the ability of that organization to grow, use, and sustain the skills and knowledge necessary to effectively carry out architecture-centric practices at the individual, team, and organizational levels to produce architectures with acceptable cost that lead to systems aligned with the organization’s business goals.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ACD5FD-C9EB-D1AE-128B-2DF54571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29949-D67B-5A48-6504-1481F708E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865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DD3ED8-294C-222D-9E93-A57B0D81B3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Organizations have duties, skills, and knowledge for architecture, just like individual architects.</a:t>
            </a:r>
          </a:p>
          <a:p>
            <a:r>
              <a:rPr lang="en-US" dirty="0"/>
              <a:t>These are organizational duties because they are outside the control of individual architects. </a:t>
            </a:r>
          </a:p>
          <a:p>
            <a:pPr lvl="1"/>
            <a:r>
              <a:rPr lang="en-US" dirty="0"/>
              <a:t>Adequately funding the architecture effort is an organizational duty.</a:t>
            </a:r>
          </a:p>
          <a:p>
            <a:pPr lvl="1"/>
            <a:r>
              <a:rPr lang="en-US" dirty="0"/>
              <a:t>Effective knowledge management or human resource management as applied to architects are examples of organizational skills.</a:t>
            </a:r>
          </a:p>
          <a:p>
            <a:pPr lvl="1"/>
            <a:r>
              <a:rPr lang="en-US" dirty="0"/>
              <a:t>An example of organizational knowledge is the composition of an architecture-based life-cycle model.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0EAA47-C60C-C318-781E-55239B14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2E51-F1BC-1EB2-BD06-A5C2882A7F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340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BB064-0575-A0D8-3A83-33D2F762D1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organization can enhance architectural competence through thoughtful </a:t>
            </a:r>
            <a:r>
              <a:rPr lang="en-US" dirty="0">
                <a:solidFill>
                  <a:schemeClr val="accent1"/>
                </a:solidFill>
              </a:rPr>
              <a:t>personnel policies</a:t>
            </a:r>
            <a:r>
              <a:rPr lang="en-US" dirty="0"/>
              <a:t>. For example:</a:t>
            </a:r>
          </a:p>
          <a:p>
            <a:pPr lvl="1"/>
            <a:r>
              <a:rPr lang="en-US" dirty="0"/>
              <a:t>Hire talented architects.</a:t>
            </a:r>
          </a:p>
          <a:p>
            <a:pPr lvl="1"/>
            <a:r>
              <a:rPr lang="en-US" dirty="0"/>
              <a:t>Create mentoring, training, and certification programs.</a:t>
            </a:r>
          </a:p>
          <a:p>
            <a:r>
              <a:rPr lang="en-US" dirty="0"/>
              <a:t>Establishing strong </a:t>
            </a:r>
            <a:r>
              <a:rPr lang="en-US" dirty="0">
                <a:solidFill>
                  <a:schemeClr val="accent1"/>
                </a:solidFill>
              </a:rPr>
              <a:t>architecture processes </a:t>
            </a:r>
            <a:r>
              <a:rPr lang="en-US" dirty="0"/>
              <a:t>supports organizational competence. For example:</a:t>
            </a:r>
          </a:p>
          <a:p>
            <a:pPr lvl="1"/>
            <a:r>
              <a:rPr lang="en-US" dirty="0"/>
              <a:t>Set clear responsibilities and authority for architects. </a:t>
            </a:r>
          </a:p>
          <a:p>
            <a:pPr lvl="1"/>
            <a:r>
              <a:rPr lang="en-US" dirty="0"/>
              <a:t>Create forums and review boards for architects.</a:t>
            </a:r>
          </a:p>
          <a:p>
            <a:r>
              <a:rPr lang="en-US" dirty="0">
                <a:solidFill>
                  <a:schemeClr val="accent1"/>
                </a:solidFill>
              </a:rPr>
              <a:t>Technical infrastructure </a:t>
            </a:r>
            <a:r>
              <a:rPr lang="en-US" dirty="0"/>
              <a:t>can reinforce architecture-centered practices. For example:</a:t>
            </a:r>
          </a:p>
          <a:p>
            <a:pPr lvl="1"/>
            <a:r>
              <a:rPr lang="en-US" dirty="0"/>
              <a:t>Maintain repositories for reusable architectures and design concepts.</a:t>
            </a:r>
          </a:p>
          <a:p>
            <a:pPr lvl="1"/>
            <a:r>
              <a:rPr lang="en-US" dirty="0"/>
              <a:t>Provide centralized support for architecture tools and analysis.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2A5CDE-417A-C0A8-3C99-C3ED5BA33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Organizational Architectural Competence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EB62F-AE07-48FC-3C87-1B2DA7427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619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the same way that an architecture is much more than a technical “blueprint” for a system, an architect is much more than a designer of an architecture.</a:t>
            </a:r>
          </a:p>
          <a:p>
            <a:r>
              <a:rPr lang="en-US" dirty="0"/>
              <a:t>This has led us to try to understand what an architect and an architecture-centric organization must do to succeed.</a:t>
            </a:r>
          </a:p>
          <a:p>
            <a:r>
              <a:rPr lang="en-US" dirty="0"/>
              <a:t> An architect must carry out the duties, hone the skills, and continuously acquire the knowledge necessary to be successful. The key to becoming a good and then a better architect is continuous learning, mentoring, and being mentored.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2829</TotalTime>
  <Words>773</Words>
  <Application>Microsoft Office PowerPoint</Application>
  <PresentationFormat>Widescreen</PresentationFormat>
  <Paragraphs>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Architecture Competence</vt:lpstr>
      <vt:lpstr>Architecture Competence</vt:lpstr>
      <vt:lpstr>Duties</vt:lpstr>
      <vt:lpstr>PowerPoint Presentation</vt:lpstr>
      <vt:lpstr>PowerPoint Presentation</vt:lpstr>
      <vt:lpstr>PowerPoint Presentation</vt:lpstr>
      <vt:lpstr>PowerPoint Presentation</vt:lpstr>
      <vt:lpstr>Skills</vt:lpstr>
      <vt:lpstr>PowerPoint Presentation</vt:lpstr>
      <vt:lpstr>Knowledge</vt:lpstr>
      <vt:lpstr>PowerPoint Presentation</vt:lpstr>
      <vt:lpstr>Organizational Architectural Competence</vt:lpstr>
      <vt:lpstr>Organizational Architectural Competence</vt:lpstr>
      <vt:lpstr>Organizational Architectural Competence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56</cp:revision>
  <dcterms:created xsi:type="dcterms:W3CDTF">2025-05-02T12:16:21Z</dcterms:created>
  <dcterms:modified xsi:type="dcterms:W3CDTF">2025-07-25T08:32:43Z</dcterms:modified>
</cp:coreProperties>
</file>