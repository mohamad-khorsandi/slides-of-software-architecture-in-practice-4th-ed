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9" r:id="rId2"/>
    <p:sldId id="264" r:id="rId3"/>
    <p:sldId id="268" r:id="rId4"/>
    <p:sldId id="266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8" r:id="rId13"/>
    <p:sldId id="300" r:id="rId14"/>
    <p:sldId id="302" r:id="rId15"/>
    <p:sldId id="303" r:id="rId16"/>
    <p:sldId id="304" r:id="rId17"/>
    <p:sldId id="305" r:id="rId18"/>
    <p:sldId id="306" r:id="rId19"/>
    <p:sldId id="28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44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32" autoAdjust="0"/>
    <p:restoredTop sz="94677" autoAdjust="0"/>
  </p:normalViewPr>
  <p:slideViewPr>
    <p:cSldViewPr snapToGrid="0">
      <p:cViewPr varScale="1">
        <p:scale>
          <a:sx n="51" d="100"/>
          <a:sy n="51" d="100"/>
        </p:scale>
        <p:origin x="67" y="79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7429BB-B4AE-1FD4-40CA-11DEC06DF3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6E014-1DD4-A911-0818-2801CAFD9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28E3B-7122-43E6-B3BB-09448C56C96C}" type="datetimeFigureOut">
              <a:rPr lang="en-US" smtClean="0"/>
              <a:t>25/07/24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07225-126A-9CD2-B38B-89A64803DA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A47BA-80EE-701F-EBD0-8E5B9C8D04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22B76-F21B-401A-98B3-B52E9FD889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1520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C9CAF-43DF-44BF-8016-DC193E4E594B}" type="datetimeFigureOut">
              <a:rPr lang="en-US" smtClean="0"/>
              <a:t>25/07/24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232D7-2694-4BD6-985B-15C23CEC7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9440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نوان اصل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D6440A-0326-4286-686D-DD69C6C2D0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09" y="886414"/>
            <a:ext cx="3884007" cy="5085173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CA2AF927-30AA-7708-FA45-DC09B6C7A633}"/>
              </a:ext>
            </a:extLst>
          </p:cNvPr>
          <p:cNvSpPr txBox="1"/>
          <p:nvPr userDrawn="1"/>
        </p:nvSpPr>
        <p:spPr>
          <a:xfrm>
            <a:off x="4889288" y="1701625"/>
            <a:ext cx="66492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 in Practice</a:t>
            </a:r>
          </a:p>
          <a:p>
            <a:pPr algn="ctr"/>
            <a:endParaRPr lang="en-US" sz="4400" dirty="0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A107B7A-E65E-6134-1507-F92CE52BA14D}"/>
              </a:ext>
            </a:extLst>
          </p:cNvPr>
          <p:cNvSpPr txBox="1"/>
          <p:nvPr userDrawn="1"/>
        </p:nvSpPr>
        <p:spPr>
          <a:xfrm>
            <a:off x="5241066" y="886414"/>
            <a:ext cx="59456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University Of Isfahan</a:t>
            </a:r>
          </a:p>
          <a:p>
            <a:pPr algn="ctr"/>
            <a:endParaRPr lang="en-US" sz="2800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81D675CA-92B6-F987-200D-6735AB7A67AE}"/>
              </a:ext>
            </a:extLst>
          </p:cNvPr>
          <p:cNvSpPr txBox="1"/>
          <p:nvPr userDrawn="1"/>
        </p:nvSpPr>
        <p:spPr>
          <a:xfrm>
            <a:off x="5174480" y="5432903"/>
            <a:ext cx="6078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Dr.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Mohammadreza</a:t>
            </a: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Sharbaf</a:t>
            </a:r>
          </a:p>
        </p:txBody>
      </p:sp>
    </p:spTree>
    <p:extLst>
      <p:ext uri="{BB962C8B-B14F-4D97-AF65-F5344CB8AC3E}">
        <p14:creationId xmlns:p14="http://schemas.microsoft.com/office/powerpoint/2010/main" val="1758266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معرفی کتاب مرج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96C45E3-84FC-009E-B990-CC3128943DCF}"/>
              </a:ext>
            </a:extLst>
          </p:cNvPr>
          <p:cNvSpPr txBox="1"/>
          <p:nvPr userDrawn="1"/>
        </p:nvSpPr>
        <p:spPr>
          <a:xfrm>
            <a:off x="2790613" y="2167116"/>
            <a:ext cx="66107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 in Practice</a:t>
            </a:r>
          </a:p>
          <a:p>
            <a:pPr algn="ctr"/>
            <a:endParaRPr lang="en-US" sz="3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EE8E89-6157-D30C-AE9A-DE90DF72A3D5}"/>
              </a:ext>
            </a:extLst>
          </p:cNvPr>
          <p:cNvSpPr txBox="1"/>
          <p:nvPr userDrawn="1"/>
        </p:nvSpPr>
        <p:spPr>
          <a:xfrm>
            <a:off x="4996883" y="3059668"/>
            <a:ext cx="2293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i="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4th edition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1C09B0-F458-52CF-2E89-C839C21696FD}"/>
              </a:ext>
            </a:extLst>
          </p:cNvPr>
          <p:cNvSpPr txBox="1"/>
          <p:nvPr userDrawn="1"/>
        </p:nvSpPr>
        <p:spPr>
          <a:xfrm>
            <a:off x="3929577" y="5154362"/>
            <a:ext cx="4427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Len Bass, Paul Clements, Rick Kazman</a:t>
            </a:r>
          </a:p>
          <a:p>
            <a:pPr marL="0" indent="0"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466936-600E-E015-B971-BE7279402C11}"/>
              </a:ext>
            </a:extLst>
          </p:cNvPr>
          <p:cNvSpPr txBox="1"/>
          <p:nvPr userDrawn="1"/>
        </p:nvSpPr>
        <p:spPr>
          <a:xfrm>
            <a:off x="2714412" y="1782292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Text Book:</a:t>
            </a:r>
          </a:p>
        </p:txBody>
      </p:sp>
    </p:spTree>
    <p:extLst>
      <p:ext uri="{BB962C8B-B14F-4D97-AF65-F5344CB8AC3E}">
        <p14:creationId xmlns:p14="http://schemas.microsoft.com/office/powerpoint/2010/main" val="326386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763EB-F58C-2FDA-883E-D34AC3F89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D9CD7-C12F-5578-3913-F6206D50C27B}"/>
              </a:ext>
            </a:extLst>
          </p:cNvPr>
          <p:cNvSpPr txBox="1"/>
          <p:nvPr userDrawn="1"/>
        </p:nvSpPr>
        <p:spPr>
          <a:xfrm>
            <a:off x="1859302" y="1303253"/>
            <a:ext cx="1168061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6600" b="1" dirty="0">
                <a:latin typeface="+mj-lt"/>
              </a:rPr>
              <a:t>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2C21CC-5ED0-E64B-EAB7-020E97E35EDD}"/>
              </a:ext>
            </a:extLst>
          </p:cNvPr>
          <p:cNvSpPr txBox="1"/>
          <p:nvPr userDrawn="1"/>
        </p:nvSpPr>
        <p:spPr>
          <a:xfrm>
            <a:off x="9205913" y="3698406"/>
            <a:ext cx="1168061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6600" b="1" dirty="0">
                <a:latin typeface="+mj-lt"/>
              </a:rPr>
              <a:t>”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C271C3-2751-4DDA-C95D-61E65E2C40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7363" y="1627188"/>
            <a:ext cx="6178550" cy="262521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 i="1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F6E1FB4-261B-CA90-BDD6-924DC25663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27364" y="5229225"/>
            <a:ext cx="6178550" cy="711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35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توضیحا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45AABA7-8654-6E03-E01A-130CB74BE7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88977" y="1015164"/>
            <a:ext cx="11058526" cy="5676247"/>
          </a:xfrm>
          <a:prstGeom prst="rect">
            <a:avLst/>
          </a:prstGeom>
        </p:spPr>
        <p:txBody>
          <a:bodyPr/>
          <a:lstStyle>
            <a:lvl1pPr marL="114300" indent="-3429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286000" indent="0">
              <a:buNone/>
              <a:defRPr/>
            </a:lvl6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 Click to edit Master text styles 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r>
              <a:rPr lang="en-US" dirty="0" err="1"/>
              <a:t>Asdfasdfasdfasdff</a:t>
            </a:r>
            <a:endParaRPr lang="en-US" dirty="0"/>
          </a:p>
          <a:p>
            <a:pPr marL="411480" marR="0" lvl="1" indent="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Second level</a:t>
            </a:r>
          </a:p>
          <a:p>
            <a:pPr marL="1005840" marR="0" lvl="2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Times New Roman" panose="02020603050405020304" pitchFamily="18" charset="0"/>
              <a:buChar char="‣"/>
              <a:tabLst/>
              <a:defRPr/>
            </a:pPr>
            <a:r>
              <a:rPr lang="en-US" dirty="0"/>
              <a:t>Third level</a:t>
            </a:r>
          </a:p>
          <a:p>
            <a:pPr marL="1645920" marR="0" lvl="4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Pct val="100000"/>
              <a:buFont typeface="Times New Roman" panose="02020603050405020304" pitchFamily="18" charset="0"/>
              <a:buChar char="‣"/>
              <a:tabLst/>
              <a:defRPr/>
            </a:pPr>
            <a:endParaRPr lang="en-US" dirty="0"/>
          </a:p>
          <a:p>
            <a:pPr lvl="4"/>
            <a:endParaRPr lang="en-US" dirty="0"/>
          </a:p>
          <a:p>
            <a:pPr lvl="0"/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EA75A14-EC44-C947-19E0-5B86DE32A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9150B68-8BC2-8C77-3FFC-2A2ADED55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715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نوان بخش‌ه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D3C09-A831-571A-01CB-A6534B0A75D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630968"/>
            <a:ext cx="10515600" cy="257452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spc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B62D3E-5146-2D84-53F5-BB186CCBF3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2492375"/>
            <a:ext cx="10515600" cy="9366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SECTION #</a:t>
            </a:r>
          </a:p>
        </p:txBody>
      </p:sp>
    </p:spTree>
    <p:extLst>
      <p:ext uri="{BB962C8B-B14F-4D97-AF65-F5344CB8AC3E}">
        <p14:creationId xmlns:p14="http://schemas.microsoft.com/office/powerpoint/2010/main" val="82591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کس و توضیحا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81ADF6-1F4F-CE66-F068-D1A26D9E8A64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5809426" y="1031785"/>
            <a:ext cx="5826425" cy="315274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D2E4CAB-BEBB-3707-3FA1-D084FAEA841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6149" y="1031785"/>
            <a:ext cx="5081171" cy="3159650"/>
          </a:xfrm>
          <a:prstGeom prst="rect">
            <a:avLst/>
          </a:prstGeom>
        </p:spPr>
        <p:txBody>
          <a:bodyPr/>
          <a:lstStyle>
            <a:lvl1pPr marL="0" indent="2286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Clr>
                <a:schemeClr val="tx1"/>
              </a:buClr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buClr>
                <a:schemeClr val="tx1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 Click to edit Master text styles 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33701F9-BC79-B1F2-F33F-566DE40E958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56148" y="4349324"/>
            <a:ext cx="11079703" cy="2355005"/>
          </a:xfrm>
          <a:prstGeom prst="rect">
            <a:avLst/>
          </a:prstGeom>
        </p:spPr>
        <p:txBody>
          <a:bodyPr/>
          <a:lstStyle>
            <a:lvl1pPr marL="0" indent="2286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A1248D6A-2F31-7DAE-E178-90148578B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C84E279C-06EF-FA3D-FB33-057EDCA7E7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741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ک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B4413EB-9324-9312-01D4-01212668D4CA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650709" y="518312"/>
            <a:ext cx="8890581" cy="500095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DC52E4-EE13-112F-7A75-20D1103E8E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5625" y="5683250"/>
            <a:ext cx="11036300" cy="8789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AA41ADF-5ADB-4478-F3AE-A908B05F64E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44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350306-1A92-387D-FEA6-25A51B678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149" y="153671"/>
            <a:ext cx="670079" cy="641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A8C8BAA5-76D7-C8B1-7A71-D70A776A6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89" y="153671"/>
            <a:ext cx="10436810" cy="641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1.1 Definition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A18509-0EE4-08D3-489F-C7109F42C06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546" y="166588"/>
            <a:ext cx="640305" cy="64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2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0" r:id="rId4"/>
    <p:sldLayoutId id="2147483651" r:id="rId5"/>
    <p:sldLayoutId id="2147483652" r:id="rId6"/>
    <p:sldLayoutId id="2147483653" r:id="rId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449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FC77B4-BC48-76BC-D426-F894A03FA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Competence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69401E-3D2B-47A5-6D3F-CCE137706A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CHAPTER 25</a:t>
            </a:r>
          </a:p>
        </p:txBody>
      </p:sp>
    </p:spTree>
    <p:extLst>
      <p:ext uri="{BB962C8B-B14F-4D97-AF65-F5344CB8AC3E}">
        <p14:creationId xmlns:p14="http://schemas.microsoft.com/office/powerpoint/2010/main" val="702636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08ED7A-E858-9048-A2EE-70B0CAEFB2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9505E-138C-BEFA-F1DA-E22DF7575B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4000" b="0" dirty="0"/>
              <a:t>The </a:t>
            </a:r>
            <a:r>
              <a:rPr lang="en-US" sz="4000" b="0" dirty="0" err="1"/>
              <a:t>lyf</a:t>
            </a:r>
            <a:r>
              <a:rPr lang="en-US" sz="4000" b="0" dirty="0"/>
              <a:t> so short, the craft so long to </a:t>
            </a:r>
            <a:r>
              <a:rPr lang="en-US" sz="4000" b="0" dirty="0" err="1"/>
              <a:t>lerne</a:t>
            </a:r>
            <a:r>
              <a:rPr lang="en-US" sz="4000" b="0" dirty="0"/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87A4A-CF6B-713C-5025-563FAA7773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—Geoffrey Chaucer</a:t>
            </a:r>
          </a:p>
        </p:txBody>
      </p:sp>
    </p:spTree>
    <p:extLst>
      <p:ext uri="{BB962C8B-B14F-4D97-AF65-F5344CB8AC3E}">
        <p14:creationId xmlns:p14="http://schemas.microsoft.com/office/powerpoint/2010/main" val="156211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482658-2BE8-68DC-2E49-3E16AB1B08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Architecture Competence</a:t>
            </a:r>
          </a:p>
          <a:p>
            <a:pPr lvl="1"/>
            <a:r>
              <a:rPr lang="en-US" dirty="0"/>
              <a:t>Duties</a:t>
            </a:r>
          </a:p>
          <a:p>
            <a:pPr lvl="1"/>
            <a:r>
              <a:rPr lang="en-US" dirty="0"/>
              <a:t>Skills</a:t>
            </a:r>
          </a:p>
          <a:p>
            <a:pPr lvl="1"/>
            <a:r>
              <a:rPr lang="en-US" dirty="0"/>
              <a:t>Knowledge</a:t>
            </a:r>
          </a:p>
          <a:p>
            <a:r>
              <a:rPr lang="en-US" dirty="0"/>
              <a:t>Organizational Architectural Competence</a:t>
            </a:r>
          </a:p>
          <a:p>
            <a:r>
              <a:rPr lang="en-US" dirty="0"/>
              <a:t>Summary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A50FF4-3542-AD6D-6F54-5EF273AB4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B9C1B-F8C3-F07B-728F-B0949F0314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826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016ED2-DEB9-A6AD-D4B7-583CCCD4FF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Despite its technical nature, architecture also requires strong human and organizational understanding.</a:t>
            </a:r>
          </a:p>
          <a:p>
            <a:r>
              <a:rPr lang="en-US" dirty="0"/>
              <a:t>Most of the literature about architecture concentrates on the technical aspects. But architecture is created by humans in real-world organizations—an inherently nontechnical environment. </a:t>
            </a:r>
          </a:p>
          <a:p>
            <a:r>
              <a:rPr lang="en-US" dirty="0"/>
              <a:t>This chapter is about the competence of both architects and organizations.</a:t>
            </a:r>
          </a:p>
          <a:p>
            <a:r>
              <a:rPr lang="en-US" dirty="0"/>
              <a:t>We will first discuss architecture competence and then competence of a software architecture organization.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9C6614-43E0-BAEF-3A94-4BB73C4AB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3D71F-FDCB-7720-775E-9293CAEA6F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713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11E531-4D69-3069-3F79-896F83EB9C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Architects perform many activities beyond directly producing an architecture.</a:t>
            </a:r>
          </a:p>
          <a:p>
            <a:r>
              <a:rPr lang="en-US" dirty="0"/>
              <a:t>Duties, skills, and knowledge form a triad upon which architecture competence for individuals, rests.</a:t>
            </a:r>
          </a:p>
          <a:p>
            <a:r>
              <a:rPr lang="en-US" dirty="0"/>
              <a:t>Knowing the duties, skills, and knowledge of architects can help establish measurement and improvement strategies for individual architects.</a:t>
            </a:r>
          </a:p>
          <a:p>
            <a:r>
              <a:rPr lang="en-US" dirty="0"/>
              <a:t>Steps to Improve Architectural Competence: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US" dirty="0"/>
              <a:t>Gain experience carrying out the duties.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US" dirty="0"/>
              <a:t>Improve your nontechnical skills.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US" dirty="0"/>
              <a:t>Master the body of knowledge and remain up-to-date on it.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08E1D4-C21D-0F44-7AAB-EAA42F33C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Competence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F932B-9988-BECD-3E91-083D64F92A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415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F98C9C-D507-63AA-504D-953566C041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 divide these duties into technical duties and nontechnical duties. Which are shown on separate tables on next slides</a:t>
            </a:r>
          </a:p>
          <a:p>
            <a:r>
              <a:rPr lang="en-US" dirty="0"/>
              <a:t>The number of nontechnical duties highlights the need to develop beyond technical expertise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A4B4A1-1B27-1662-324E-5BC611381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549D7-A31C-64C3-ABDA-D47E4C48A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238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EE92988-E30C-0FA5-7F3F-F18B7F8E115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218" r="-24218"/>
          <a:stretch>
            <a:fillRect/>
          </a:stretch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1F8DD-518A-53BC-304D-498B001E70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Technical Duties of a Software Architect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FEE4A-0D86-CAA2-B434-2C4E5B38227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89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ED46119-72B4-1864-1C8E-C37A22608F9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129" b="-7129"/>
          <a:stretch>
            <a:fillRect/>
          </a:stretch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1454B-464A-AE8B-6C68-DA913A4665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Technical Duties of a Software Architect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A2AE4-43C3-6E92-E8EC-579186B112C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777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945466A-B743-55E4-3E5A-A33E0859162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111" r="-11111"/>
          <a:stretch>
            <a:fillRect/>
          </a:stretch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3A956-5C41-7B3C-E2F5-26CA6B92F2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Nontechnical Duties of a Software Architect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52512-23A2-1DDC-98FC-40C1C690CE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655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669661C-27B0-AE8F-7DE5-971CA231A7A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2986" b="-32986"/>
          <a:stretch>
            <a:fillRect/>
          </a:stretch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F9962-CF53-C9B3-1B9F-3A0E868D9C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Nontechnical Duties of a Software Architect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A8BDE-E193-6C1B-4DEB-11A7853DBFD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062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ECE71B00-8575-80F4-6212-0FDFA698EFA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756" b="-10756"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DBB7C-FBE0-5F15-11F6-9F7496F961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Given the wide range of duties enumerated, which skills does an architect need to possess?</a:t>
            </a:r>
          </a:p>
          <a:p>
            <a:r>
              <a:rPr lang="en-US" dirty="0"/>
              <a:t>Much has been written about the architect’s special role of leadership in a project.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958A0-F2DF-5610-32FF-6F403842294B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US" dirty="0"/>
              <a:t>Also some certification programs emphasize nontechnical skills.</a:t>
            </a:r>
          </a:p>
          <a:p>
            <a:r>
              <a:rPr lang="en-US" dirty="0"/>
              <a:t>This Table enumerates the set of skills most useful to an architect.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EDBFAC3-84DA-ACF9-768C-EAEB88295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48FD7-76BF-F284-4A99-24A230F6994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138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714796F-2B1A-A2F0-E93A-00EB3DE5C32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664" r="-9664"/>
          <a:stretch>
            <a:fillRect/>
          </a:stretch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7ADDB-4B23-0FB0-BEFF-6577924F71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Skills of a Software Architect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F071A-8C07-A8C1-44F2-B5F4BC52664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892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419C4134-C2A7-FFF0-F580-BAAF4E52173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8899" b="-28899"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8DF46-574A-7834-6985-1F588D9B51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 competent architect has an intimate familiarity with an architectural body of knowledge. </a:t>
            </a:r>
          </a:p>
          <a:p>
            <a:r>
              <a:rPr lang="en-US" dirty="0"/>
              <a:t>This Table gives a set of knowledge areas for an architect.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AF015F-A85A-47E1-BCF1-9FE9B08A4AEF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3127E7-C917-C6EB-DA4B-344A64CA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ECB02-D9A8-EC88-0329-4B40E3E9CBB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12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3C058F9-617B-A4ED-6BC4-11C4C5F0273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085" r="-21085"/>
          <a:stretch>
            <a:fillRect/>
          </a:stretch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2CF68-A22C-4BDE-2A4B-D9C75D4DA9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Knowledge Areas of a Software Architect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7BDDF-254C-73A4-5465-D7E1E44BAAB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28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634F7F-00DF-16D7-1B39-B0AB0EB42F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Organizations can either support or hinder software architects based on their internal practices and structure.</a:t>
            </a:r>
          </a:p>
          <a:p>
            <a:r>
              <a:rPr lang="en-US" dirty="0"/>
              <a:t>It makes sense, therefore, to ask whether a particular organization is architecturally competent and to develop instruments whose goal is measuring the architectural competence of an organization.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1"/>
                </a:solidFill>
              </a:rPr>
              <a:t>architectural competence of an organization </a:t>
            </a:r>
            <a:r>
              <a:rPr lang="en-US" dirty="0"/>
              <a:t>is the ability of that organization to grow, use, and sustain the skills and knowledge necessary to effectively carry out architecture-centric practices at the individual, team, and organizational levels to produce architectures with acceptable cost that lead to systems aligned with the organization’s business goals.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ACD5FD-C9EB-D1AE-128B-2DF54571E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Architectural Competence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29949-D67B-5A48-6504-1481F708E9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865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DD3ED8-294C-222D-9E93-A57B0D81B3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Organizations have duties, skills, and knowledge for architecture, just like individual architects.</a:t>
            </a:r>
          </a:p>
          <a:p>
            <a:r>
              <a:rPr lang="en-US" dirty="0"/>
              <a:t>These are organizational duties because they are outside the control of individual architects. </a:t>
            </a:r>
          </a:p>
          <a:p>
            <a:pPr lvl="1"/>
            <a:r>
              <a:rPr lang="en-US" dirty="0"/>
              <a:t>Adequately funding the architecture effort is an organizational duty.</a:t>
            </a:r>
          </a:p>
          <a:p>
            <a:pPr lvl="1"/>
            <a:r>
              <a:rPr lang="en-US" dirty="0"/>
              <a:t>Effective knowledge management or human resource management as applied to architects are examples of organizational skills.</a:t>
            </a:r>
          </a:p>
          <a:p>
            <a:pPr lvl="1"/>
            <a:r>
              <a:rPr lang="en-US" dirty="0"/>
              <a:t>An example of organizational knowledge is the composition of an architecture-based life-cycle model.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0EAA47-C60C-C318-781E-55239B143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Architectural Competence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D2E51-F1BC-1EB2-BD06-A5C2882A7F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340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7BB064-0575-A0D8-3A83-33D2F762D1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An organization can enhance architectural competence through thoughtful </a:t>
            </a:r>
            <a:r>
              <a:rPr lang="en-US" dirty="0">
                <a:solidFill>
                  <a:schemeClr val="accent1"/>
                </a:solidFill>
              </a:rPr>
              <a:t>personnel policies</a:t>
            </a:r>
            <a:r>
              <a:rPr lang="en-US" dirty="0"/>
              <a:t>. For example:</a:t>
            </a:r>
          </a:p>
          <a:p>
            <a:pPr lvl="1"/>
            <a:r>
              <a:rPr lang="en-US" dirty="0"/>
              <a:t>Hire talented architects.</a:t>
            </a:r>
          </a:p>
          <a:p>
            <a:pPr lvl="1"/>
            <a:r>
              <a:rPr lang="en-US" dirty="0"/>
              <a:t>Create mentoring, training, and certification programs.</a:t>
            </a:r>
          </a:p>
          <a:p>
            <a:r>
              <a:rPr lang="en-US" dirty="0"/>
              <a:t>Establishing strong </a:t>
            </a:r>
            <a:r>
              <a:rPr lang="en-US" dirty="0">
                <a:solidFill>
                  <a:schemeClr val="accent1"/>
                </a:solidFill>
              </a:rPr>
              <a:t>architecture processes </a:t>
            </a:r>
            <a:r>
              <a:rPr lang="en-US" dirty="0"/>
              <a:t>supports organizational competence. For example:</a:t>
            </a:r>
          </a:p>
          <a:p>
            <a:pPr lvl="1"/>
            <a:r>
              <a:rPr lang="en-US" dirty="0"/>
              <a:t>Set clear responsibilities and authority for architects. </a:t>
            </a:r>
          </a:p>
          <a:p>
            <a:pPr lvl="1"/>
            <a:r>
              <a:rPr lang="en-US" dirty="0"/>
              <a:t>Create forums and review boards for architects.</a:t>
            </a:r>
          </a:p>
          <a:p>
            <a:r>
              <a:rPr lang="en-US" dirty="0">
                <a:solidFill>
                  <a:schemeClr val="accent1"/>
                </a:solidFill>
              </a:rPr>
              <a:t>Technical infrastructure </a:t>
            </a:r>
            <a:r>
              <a:rPr lang="en-US" dirty="0"/>
              <a:t>can reinforce architecture-centered practices. For example:</a:t>
            </a:r>
          </a:p>
          <a:p>
            <a:pPr lvl="1"/>
            <a:r>
              <a:rPr lang="en-US" dirty="0"/>
              <a:t>Maintain repositories for reusable architectures and design concepts.</a:t>
            </a:r>
          </a:p>
          <a:p>
            <a:pPr lvl="1"/>
            <a:r>
              <a:rPr lang="en-US" dirty="0"/>
              <a:t>Provide centralized support for architecture tools and analysis.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2A5CDE-417A-C0A8-3C99-C3ED5BA33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Organizational Architectural Competence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B62F-AE07-48FC-3C87-1B2DA7427A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619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43395B-83AC-1F94-18DA-0B61100CDB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 the same way that an architecture is much more than a technical “blueprint” for a system, an architect is much more than a designer of an architecture.</a:t>
            </a:r>
          </a:p>
          <a:p>
            <a:r>
              <a:rPr lang="en-US" dirty="0"/>
              <a:t>This has led us to try to understand what an architect and an architecture-centric organization must do to succeed.</a:t>
            </a:r>
          </a:p>
          <a:p>
            <a:r>
              <a:rPr lang="en-US" dirty="0"/>
              <a:t> An architect must carry out the duties, hone the skills, and continuously acquire the knowledge necessary to be successful. The key to becoming a good and then a better architect is continuous learning, mentoring, and being mentored.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C99B89-B1A7-A64A-ECF6-7E4E4B336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C1BE7-237B-998D-7AFF-DC9089796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717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 algn="l">
          <a:buFont typeface="Arial" panose="020B0604020202020204" pitchFamily="34" charset="0"/>
          <a:buChar char="•"/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2821</TotalTime>
  <Words>712</Words>
  <Application>Microsoft Office PowerPoint</Application>
  <PresentationFormat>Widescreen</PresentationFormat>
  <Paragraphs>85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Chapter Outline</vt:lpstr>
      <vt:lpstr>Introduction</vt:lpstr>
      <vt:lpstr>Architecture Competence</vt:lpstr>
      <vt:lpstr>Duties</vt:lpstr>
      <vt:lpstr>PowerPoint Presentation</vt:lpstr>
      <vt:lpstr>PowerPoint Presentation</vt:lpstr>
      <vt:lpstr>PowerPoint Presentation</vt:lpstr>
      <vt:lpstr>PowerPoint Presentation</vt:lpstr>
      <vt:lpstr>Skills</vt:lpstr>
      <vt:lpstr>PowerPoint Presentation</vt:lpstr>
      <vt:lpstr>Knowledge</vt:lpstr>
      <vt:lpstr>PowerPoint Presentation</vt:lpstr>
      <vt:lpstr>Organizational Architectural Competence</vt:lpstr>
      <vt:lpstr>Organizational Architectural Competence</vt:lpstr>
      <vt:lpstr>Organizational Architectural Competence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mohamad khorsandi</dc:creator>
  <cp:lastModifiedBy>mohamad khorsandi</cp:lastModifiedBy>
  <cp:revision>55</cp:revision>
  <dcterms:created xsi:type="dcterms:W3CDTF">2025-05-02T12:16:21Z</dcterms:created>
  <dcterms:modified xsi:type="dcterms:W3CDTF">2025-07-24T19:53:25Z</dcterms:modified>
</cp:coreProperties>
</file>